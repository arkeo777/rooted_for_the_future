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6" name="Shape 4"/>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7"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5" name="Shape 3"/>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7" name="Shape 5"/>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17443" y="3799332"/>
            <a:ext cx="100584" cy="100584"/>
          </a:xfrm>
          <a:prstGeom prst="ellipse">
            <a:avLst/>
          </a:prstGeom>
          <a:solidFill>
            <a:srgbClr val="B0842F"/>
          </a:solidFill>
          <a:ln/>
        </p:spPr>
      </p:sp>
      <p:sp>
        <p:nvSpPr>
          <p:cNvPr id="9" name="Text 7"/>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Text 16"/>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19" name="Shape 17"/>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0" name="Shape 18"/>
          <p:cNvSpPr/>
          <p:nvPr/>
        </p:nvSpPr>
        <p:spPr>
          <a:xfrm>
            <a:off x="7479792" y="3493008"/>
            <a:ext cx="3602736" cy="438912"/>
          </a:xfrm>
          <a:prstGeom prst="roundRect">
            <a:avLst>
              <a:gd name="adj" fmla="val 12500"/>
            </a:avLst>
          </a:prstGeom>
          <a:solidFill>
            <a:srgbClr val="1D1A15"/>
          </a:solidFill>
          <a:ln/>
        </p:spPr>
      </p:sp>
      <p:sp>
        <p:nvSpPr>
          <p:cNvPr id="21" name="Text 19"/>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2" name="Shape 20"/>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3" name="Text 21"/>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5" name="Shape 3"/>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7" name="Shape 5"/>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642616" y="3799332"/>
            <a:ext cx="100584" cy="100584"/>
          </a:xfrm>
          <a:prstGeom prst="ellipse">
            <a:avLst/>
          </a:prstGeom>
          <a:solidFill>
            <a:srgbClr val="7A7266"/>
          </a:solidFill>
          <a:ln/>
        </p:spPr>
      </p:sp>
      <p:sp>
        <p:nvSpPr>
          <p:cNvPr id="9" name="Text 7"/>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0" name="Shape 8"/>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never restyled per department.</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6" name="Shape 4"/>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8" name="Shape 6"/>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6" name="Shape 4"/>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8" name="Shape 6"/>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242462" y="5097780"/>
            <a:ext cx="100584" cy="100584"/>
          </a:xfrm>
          <a:prstGeom prst="ellipse">
            <a:avLst/>
          </a:prstGeom>
          <a:solidFill>
            <a:srgbClr val="B0842F"/>
          </a:solidFill>
          <a:ln/>
        </p:spPr>
      </p:sp>
      <p:sp>
        <p:nvSpPr>
          <p:cNvPr id="10" name="Text 8"/>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0" name="Text 18"/>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1" name="Text 19"/>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2" name="Shape 20"/>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3" name="Text 21"/>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4" name="Text 22"/>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5" name="Shape 23"/>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6" name="Text 24"/>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7" name="Text 25"/>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28" name="Shape 26"/>
          <p:cNvSpPr/>
          <p:nvPr/>
        </p:nvSpPr>
        <p:spPr>
          <a:xfrm>
            <a:off x="7296912" y="3017520"/>
            <a:ext cx="292608" cy="256032"/>
          </a:xfrm>
          <a:prstGeom prst="roundRect">
            <a:avLst>
              <a:gd name="adj" fmla="val 21429"/>
            </a:avLst>
          </a:prstGeom>
          <a:solidFill>
            <a:srgbClr val="E1306C"/>
          </a:solidFill>
          <a:ln/>
        </p:spPr>
      </p:sp>
      <p:sp>
        <p:nvSpPr>
          <p:cNvPr id="29" name="Text 27"/>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0" name="Shape 28"/>
          <p:cNvSpPr/>
          <p:nvPr/>
        </p:nvSpPr>
        <p:spPr>
          <a:xfrm>
            <a:off x="7671816" y="3017520"/>
            <a:ext cx="292608" cy="256032"/>
          </a:xfrm>
          <a:prstGeom prst="roundRect">
            <a:avLst>
              <a:gd name="adj" fmla="val 21429"/>
            </a:avLst>
          </a:prstGeom>
          <a:solidFill>
            <a:srgbClr val="1877F2"/>
          </a:solidFill>
          <a:ln/>
        </p:spPr>
      </p:sp>
      <p:sp>
        <p:nvSpPr>
          <p:cNvPr id="31" name="Text 29"/>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2" name="Shape 30"/>
          <p:cNvSpPr/>
          <p:nvPr/>
        </p:nvSpPr>
        <p:spPr>
          <a:xfrm>
            <a:off x="8046720" y="3017520"/>
            <a:ext cx="292608" cy="256032"/>
          </a:xfrm>
          <a:prstGeom prst="roundRect">
            <a:avLst>
              <a:gd name="adj" fmla="val 21429"/>
            </a:avLst>
          </a:prstGeom>
          <a:solidFill>
            <a:srgbClr val="111111"/>
          </a:solidFill>
          <a:ln/>
        </p:spPr>
      </p:sp>
      <p:sp>
        <p:nvSpPr>
          <p:cNvPr id="33" name="Text 31"/>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4" name="Shape 32"/>
          <p:cNvSpPr/>
          <p:nvPr/>
        </p:nvSpPr>
        <p:spPr>
          <a:xfrm>
            <a:off x="8421624" y="3017520"/>
            <a:ext cx="292608" cy="256032"/>
          </a:xfrm>
          <a:prstGeom prst="roundRect">
            <a:avLst>
              <a:gd name="adj" fmla="val 21429"/>
            </a:avLst>
          </a:prstGeom>
          <a:solidFill>
            <a:srgbClr val="FF0000"/>
          </a:solidFill>
          <a:ln/>
        </p:spPr>
      </p:sp>
      <p:sp>
        <p:nvSpPr>
          <p:cNvPr id="35" name="Text 33"/>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6" name="Shape 34"/>
          <p:cNvSpPr/>
          <p:nvPr/>
        </p:nvSpPr>
        <p:spPr>
          <a:xfrm>
            <a:off x="8796528" y="3017520"/>
            <a:ext cx="292608" cy="256032"/>
          </a:xfrm>
          <a:prstGeom prst="roundRect">
            <a:avLst>
              <a:gd name="adj" fmla="val 21429"/>
            </a:avLst>
          </a:prstGeom>
          <a:solidFill>
            <a:srgbClr val="0A66C2"/>
          </a:solidFill>
          <a:ln/>
        </p:spPr>
      </p:sp>
      <p:sp>
        <p:nvSpPr>
          <p:cNvPr id="37" name="Text 35"/>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38" name="Shape 36"/>
          <p:cNvSpPr/>
          <p:nvPr/>
        </p:nvSpPr>
        <p:spPr>
          <a:xfrm>
            <a:off x="9171432" y="3017520"/>
            <a:ext cx="292608" cy="256032"/>
          </a:xfrm>
          <a:prstGeom prst="roundRect">
            <a:avLst>
              <a:gd name="adj" fmla="val 21429"/>
            </a:avLst>
          </a:prstGeom>
          <a:solidFill>
            <a:srgbClr val="111111"/>
          </a:solidFill>
          <a:ln/>
        </p:spPr>
      </p:sp>
      <p:sp>
        <p:nvSpPr>
          <p:cNvPr id="39" name="Text 37"/>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0" name="Shape 38"/>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1" name="Shape 39"/>
          <p:cNvSpPr/>
          <p:nvPr/>
        </p:nvSpPr>
        <p:spPr>
          <a:xfrm>
            <a:off x="7443216" y="3584448"/>
            <a:ext cx="91440" cy="91440"/>
          </a:xfrm>
          <a:prstGeom prst="ellipse">
            <a:avLst/>
          </a:prstGeom>
          <a:solidFill>
            <a:srgbClr val="E1306C"/>
          </a:solidFill>
          <a:ln/>
        </p:spPr>
      </p:sp>
      <p:sp>
        <p:nvSpPr>
          <p:cNvPr id="42" name="Text 40"/>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3" name="Shape 41"/>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4" name="Text 42"/>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5" name="Shape 43"/>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6" name="Shape 44"/>
          <p:cNvSpPr/>
          <p:nvPr/>
        </p:nvSpPr>
        <p:spPr>
          <a:xfrm>
            <a:off x="7443216" y="4114800"/>
            <a:ext cx="91440" cy="91440"/>
          </a:xfrm>
          <a:prstGeom prst="ellipse">
            <a:avLst/>
          </a:prstGeom>
          <a:solidFill>
            <a:srgbClr val="1877F2"/>
          </a:solidFill>
          <a:ln/>
        </p:spPr>
      </p:sp>
      <p:sp>
        <p:nvSpPr>
          <p:cNvPr id="47" name="Text 45"/>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48" name="Shape 46"/>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49" name="Text 47"/>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0" name="Shape 48"/>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1" name="Shape 49"/>
          <p:cNvSpPr/>
          <p:nvPr/>
        </p:nvSpPr>
        <p:spPr>
          <a:xfrm>
            <a:off x="7443216" y="4645152"/>
            <a:ext cx="91440" cy="91440"/>
          </a:xfrm>
          <a:prstGeom prst="ellipse">
            <a:avLst/>
          </a:prstGeom>
          <a:solidFill>
            <a:srgbClr val="FF0000"/>
          </a:solidFill>
          <a:ln/>
        </p:spPr>
      </p:sp>
      <p:sp>
        <p:nvSpPr>
          <p:cNvPr id="52" name="Text 50"/>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3" name="Shape 51"/>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4" name="Text 52"/>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5" name="Shape 3"/>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7" name="Shape 5"/>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242462" y="3799332"/>
            <a:ext cx="100584" cy="100584"/>
          </a:xfrm>
          <a:prstGeom prst="ellipse">
            <a:avLst/>
          </a:prstGeom>
          <a:solidFill>
            <a:srgbClr val="B0842F"/>
          </a:solidFill>
          <a:ln/>
        </p:spPr>
      </p:sp>
      <p:sp>
        <p:nvSpPr>
          <p:cNvPr id="9" name="Text 7"/>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7" name="Shape 5"/>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8"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5" name="Shape 3"/>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7" name="Shape 5"/>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92501" y="3799332"/>
            <a:ext cx="100584" cy="100584"/>
          </a:xfrm>
          <a:prstGeom prst="ellipse">
            <a:avLst/>
          </a:prstGeom>
          <a:solidFill>
            <a:srgbClr val="B0842F"/>
          </a:solidFill>
          <a:ln/>
        </p:spPr>
      </p:sp>
      <p:sp>
        <p:nvSpPr>
          <p:cNvPr id="9" name="Text 7"/>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7" name="Shape 5"/>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0" name="Shape 8"/>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5" name="Shape 3"/>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7" name="Shape 5"/>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942539" y="3799332"/>
            <a:ext cx="100584" cy="100584"/>
          </a:xfrm>
          <a:prstGeom prst="ellipse">
            <a:avLst/>
          </a:prstGeom>
          <a:solidFill>
            <a:srgbClr val="B0842F"/>
          </a:solidFill>
          <a:ln/>
        </p:spPr>
      </p:sp>
      <p:sp>
        <p:nvSpPr>
          <p:cNvPr id="9" name="Text 7"/>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B0842F"/>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5B7C46"/>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KNOWLEDGE BASE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The Rooted Knowledge Base Wiki</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place to capture the company’s tribal knowledge: the how-tos, answers, and hard-won lessons that usually live in people’s heads. Any employee can add an article, search everything, and find the answer fast.</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Anyone can add or edit an article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Search across every how-to and answer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Turns tribal knowledge into a shared, searchable library</a:t>
            </a:r>
            <a:endParaRPr lang="en-US" sz="1350" dirty="0"/>
          </a:p>
        </p:txBody>
      </p:sp>
      <p:sp>
        <p:nvSpPr>
          <p:cNvPr id="6" name="Shape 4"/>
          <p:cNvSpPr/>
          <p:nvPr/>
        </p:nvSpPr>
        <p:spPr>
          <a:xfrm>
            <a:off x="822960" y="4956048"/>
            <a:ext cx="1883664"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Everyone contributes</a:t>
            </a:r>
            <a:endParaRPr lang="en-US" sz="1050" dirty="0"/>
          </a:p>
        </p:txBody>
      </p:sp>
      <p:sp>
        <p:nvSpPr>
          <p:cNvPr id="8" name="Shape 6"/>
          <p:cNvSpPr/>
          <p:nvPr/>
        </p:nvSpPr>
        <p:spPr>
          <a:xfrm>
            <a:off x="2871216"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017520" y="5097780"/>
            <a:ext cx="100584" cy="100584"/>
          </a:xfrm>
          <a:prstGeom prst="ellipse">
            <a:avLst/>
          </a:prstGeom>
          <a:solidFill>
            <a:srgbClr val="B0842F"/>
          </a:solidFill>
          <a:ln/>
        </p:spPr>
      </p:sp>
      <p:sp>
        <p:nvSpPr>
          <p:cNvPr id="10" name="Text 8"/>
          <p:cNvSpPr txBox="1"/>
          <p:nvPr/>
        </p:nvSpPr>
        <p:spPr>
          <a:xfrm>
            <a:off x="3182112"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Rooted Knowledge Base</a:t>
            </a: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968496" cy="365760"/>
          </a:xfrm>
          <a:prstGeom prst="roundRect">
            <a:avLst>
              <a:gd name="adj" fmla="val 50000"/>
            </a:avLst>
          </a:prstGeom>
          <a:solidFill>
            <a:srgbClr val="FBFAF6"/>
          </a:solidFill>
          <a:ln w="12700">
            <a:solidFill>
              <a:srgbClr val="E4DCC9"/>
            </a:solidFill>
            <a:prstDash val="solid"/>
          </a:ln>
        </p:spPr>
      </p:sp>
      <p:sp>
        <p:nvSpPr>
          <p:cNvPr id="20" name="Text 18"/>
          <p:cNvSpPr txBox="1"/>
          <p:nvPr/>
        </p:nvSpPr>
        <p:spPr>
          <a:xfrm>
            <a:off x="7461504" y="2212848"/>
            <a:ext cx="3639312"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  Search the knowledge base…</a:t>
            </a:r>
            <a:endParaRPr lang="en-US" sz="850" dirty="0"/>
          </a:p>
        </p:txBody>
      </p:sp>
      <p:sp>
        <p:nvSpPr>
          <p:cNvPr id="21" name="Shape 19"/>
          <p:cNvSpPr/>
          <p:nvPr/>
        </p:nvSpPr>
        <p:spPr>
          <a:xfrm>
            <a:off x="7296912" y="2688336"/>
            <a:ext cx="877824" cy="256032"/>
          </a:xfrm>
          <a:prstGeom prst="roundRect">
            <a:avLst>
              <a:gd name="adj" fmla="val 50000"/>
            </a:avLst>
          </a:prstGeom>
          <a:solidFill>
            <a:srgbClr val="FFFFFF"/>
          </a:solidFill>
          <a:ln w="12700">
            <a:solidFill>
              <a:srgbClr val="E4DCC9"/>
            </a:solidFill>
            <a:prstDash val="solid"/>
          </a:ln>
        </p:spPr>
      </p:sp>
      <p:sp>
        <p:nvSpPr>
          <p:cNvPr id="22" name="Text 20"/>
          <p:cNvSpPr txBox="1"/>
          <p:nvPr/>
        </p:nvSpPr>
        <p:spPr>
          <a:xfrm>
            <a:off x="7296912"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Onboarding</a:t>
            </a:r>
            <a:endParaRPr lang="en-US" sz="750" dirty="0"/>
          </a:p>
        </p:txBody>
      </p:sp>
      <p:sp>
        <p:nvSpPr>
          <p:cNvPr id="23" name="Shape 21"/>
          <p:cNvSpPr/>
          <p:nvPr/>
        </p:nvSpPr>
        <p:spPr>
          <a:xfrm>
            <a:off x="8266176" y="2688336"/>
            <a:ext cx="594360" cy="256032"/>
          </a:xfrm>
          <a:prstGeom prst="roundRect">
            <a:avLst>
              <a:gd name="adj" fmla="val 50000"/>
            </a:avLst>
          </a:prstGeom>
          <a:solidFill>
            <a:srgbClr val="FFFFFF"/>
          </a:solidFill>
          <a:ln w="12700">
            <a:solidFill>
              <a:srgbClr val="E4DCC9"/>
            </a:solidFill>
            <a:prstDash val="solid"/>
          </a:ln>
        </p:spPr>
      </p:sp>
      <p:sp>
        <p:nvSpPr>
          <p:cNvPr id="24" name="Text 22"/>
          <p:cNvSpPr txBox="1"/>
          <p:nvPr/>
        </p:nvSpPr>
        <p:spPr>
          <a:xfrm>
            <a:off x="8266176" y="2679192"/>
            <a:ext cx="594360"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a:t>
            </a:r>
            <a:endParaRPr lang="en-US" sz="750" dirty="0"/>
          </a:p>
        </p:txBody>
      </p:sp>
      <p:sp>
        <p:nvSpPr>
          <p:cNvPr id="25" name="Shape 23"/>
          <p:cNvSpPr/>
          <p:nvPr/>
        </p:nvSpPr>
        <p:spPr>
          <a:xfrm>
            <a:off x="8951976" y="2688336"/>
            <a:ext cx="537667" cy="256032"/>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8951976" y="2679192"/>
            <a:ext cx="537667"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Tech</a:t>
            </a:r>
            <a:endParaRPr lang="en-US" sz="750" dirty="0"/>
          </a:p>
        </p:txBody>
      </p:sp>
      <p:sp>
        <p:nvSpPr>
          <p:cNvPr id="27" name="Shape 25"/>
          <p:cNvSpPr/>
          <p:nvPr/>
        </p:nvSpPr>
        <p:spPr>
          <a:xfrm>
            <a:off x="9581083" y="2688336"/>
            <a:ext cx="877824" cy="256032"/>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9581083"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Curriculum</a:t>
            </a:r>
            <a:endParaRPr lang="en-US" sz="750" dirty="0"/>
          </a:p>
        </p:txBody>
      </p:sp>
      <p:sp>
        <p:nvSpPr>
          <p:cNvPr id="29" name="Shape 27"/>
          <p:cNvSpPr/>
          <p:nvPr/>
        </p:nvSpPr>
        <p:spPr>
          <a:xfrm>
            <a:off x="7296912" y="3108960"/>
            <a:ext cx="3968496" cy="402336"/>
          </a:xfrm>
          <a:prstGeom prst="roundRect">
            <a:avLst>
              <a:gd name="adj" fmla="val 11364"/>
            </a:avLst>
          </a:prstGeom>
          <a:solidFill>
            <a:srgbClr val="FBFAF6"/>
          </a:solidFill>
          <a:ln w="12700">
            <a:solidFill>
              <a:srgbClr val="E4DCC9"/>
            </a:solidFill>
            <a:prstDash val="solid"/>
          </a:ln>
        </p:spPr>
      </p:sp>
      <p:sp>
        <p:nvSpPr>
          <p:cNvPr id="30" name="Shape 28"/>
          <p:cNvSpPr/>
          <p:nvPr/>
        </p:nvSpPr>
        <p:spPr>
          <a:xfrm>
            <a:off x="7443216" y="3264408"/>
            <a:ext cx="91440" cy="91440"/>
          </a:xfrm>
          <a:prstGeom prst="ellipse">
            <a:avLst/>
          </a:prstGeom>
          <a:solidFill>
            <a:srgbClr val="9C7C2E"/>
          </a:solidFill>
          <a:ln/>
        </p:spPr>
      </p:sp>
      <p:sp>
        <p:nvSpPr>
          <p:cNvPr id="31" name="Text 29"/>
          <p:cNvSpPr txBox="1"/>
          <p:nvPr/>
        </p:nvSpPr>
        <p:spPr>
          <a:xfrm>
            <a:off x="7662672" y="3108960"/>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Reset a student login</a:t>
            </a:r>
            <a:endParaRPr lang="en-US" sz="850" dirty="0"/>
          </a:p>
        </p:txBody>
      </p:sp>
      <p:sp>
        <p:nvSpPr>
          <p:cNvPr id="32" name="Shape 30"/>
          <p:cNvSpPr/>
          <p:nvPr/>
        </p:nvSpPr>
        <p:spPr>
          <a:xfrm>
            <a:off x="10356494" y="3191256"/>
            <a:ext cx="780898" cy="237744"/>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10356494" y="3182112"/>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Support</a:t>
            </a:r>
            <a:endParaRPr lang="en-US" sz="700" dirty="0"/>
          </a:p>
        </p:txBody>
      </p:sp>
      <p:sp>
        <p:nvSpPr>
          <p:cNvPr id="34" name="Shape 32"/>
          <p:cNvSpPr/>
          <p:nvPr/>
        </p:nvSpPr>
        <p:spPr>
          <a:xfrm>
            <a:off x="7296912" y="3602736"/>
            <a:ext cx="3968496" cy="402336"/>
          </a:xfrm>
          <a:prstGeom prst="roundRect">
            <a:avLst>
              <a:gd name="adj" fmla="val 11364"/>
            </a:avLst>
          </a:prstGeom>
          <a:solidFill>
            <a:srgbClr val="FBFAF6"/>
          </a:solidFill>
          <a:ln w="12700">
            <a:solidFill>
              <a:srgbClr val="E4DCC9"/>
            </a:solidFill>
            <a:prstDash val="solid"/>
          </a:ln>
        </p:spPr>
      </p:sp>
      <p:sp>
        <p:nvSpPr>
          <p:cNvPr id="35" name="Shape 33"/>
          <p:cNvSpPr/>
          <p:nvPr/>
        </p:nvSpPr>
        <p:spPr>
          <a:xfrm>
            <a:off x="7443216" y="3758184"/>
            <a:ext cx="91440" cy="91440"/>
          </a:xfrm>
          <a:prstGeom prst="ellipse">
            <a:avLst/>
          </a:prstGeom>
          <a:solidFill>
            <a:srgbClr val="9C7C2E"/>
          </a:solidFill>
          <a:ln/>
        </p:spPr>
      </p:sp>
      <p:sp>
        <p:nvSpPr>
          <p:cNvPr id="36" name="Text 34"/>
          <p:cNvSpPr txBox="1"/>
          <p:nvPr/>
        </p:nvSpPr>
        <p:spPr>
          <a:xfrm>
            <a:off x="7662672" y="3602736"/>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New-school setup checklist</a:t>
            </a:r>
            <a:endParaRPr lang="en-US" sz="850" dirty="0"/>
          </a:p>
        </p:txBody>
      </p:sp>
      <p:sp>
        <p:nvSpPr>
          <p:cNvPr id="37" name="Shape 35"/>
          <p:cNvSpPr/>
          <p:nvPr/>
        </p:nvSpPr>
        <p:spPr>
          <a:xfrm>
            <a:off x="10356494" y="3685032"/>
            <a:ext cx="780898" cy="237744"/>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356494" y="3675888"/>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Success</a:t>
            </a:r>
            <a:endParaRPr lang="en-US" sz="700" dirty="0"/>
          </a:p>
        </p:txBody>
      </p:sp>
      <p:sp>
        <p:nvSpPr>
          <p:cNvPr id="39" name="Shape 37"/>
          <p:cNvSpPr/>
          <p:nvPr/>
        </p:nvSpPr>
        <p:spPr>
          <a:xfrm>
            <a:off x="7296912" y="4096512"/>
            <a:ext cx="3968496" cy="402336"/>
          </a:xfrm>
          <a:prstGeom prst="roundRect">
            <a:avLst>
              <a:gd name="adj" fmla="val 11364"/>
            </a:avLst>
          </a:prstGeom>
          <a:solidFill>
            <a:srgbClr val="FBFAF6"/>
          </a:solidFill>
          <a:ln w="12700">
            <a:solidFill>
              <a:srgbClr val="E4DCC9"/>
            </a:solidFill>
            <a:prstDash val="solid"/>
          </a:ln>
        </p:spPr>
      </p:sp>
      <p:sp>
        <p:nvSpPr>
          <p:cNvPr id="40" name="Shape 38"/>
          <p:cNvSpPr/>
          <p:nvPr/>
        </p:nvSpPr>
        <p:spPr>
          <a:xfrm>
            <a:off x="7443216" y="4251960"/>
            <a:ext cx="91440" cy="91440"/>
          </a:xfrm>
          <a:prstGeom prst="ellipse">
            <a:avLst/>
          </a:prstGeom>
          <a:solidFill>
            <a:srgbClr val="9C7C2E"/>
          </a:solidFill>
          <a:ln/>
        </p:spPr>
      </p:sp>
      <p:sp>
        <p:nvSpPr>
          <p:cNvPr id="41" name="Text 39"/>
          <p:cNvSpPr txBox="1"/>
          <p:nvPr/>
        </p:nvSpPr>
        <p:spPr>
          <a:xfrm>
            <a:off x="7662672" y="4096512"/>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Refund &amp; billing policy</a:t>
            </a:r>
            <a:endParaRPr lang="en-US" sz="850" dirty="0"/>
          </a:p>
        </p:txBody>
      </p:sp>
      <p:sp>
        <p:nvSpPr>
          <p:cNvPr id="42" name="Shape 40"/>
          <p:cNvSpPr/>
          <p:nvPr/>
        </p:nvSpPr>
        <p:spPr>
          <a:xfrm>
            <a:off x="10356494" y="4178808"/>
            <a:ext cx="780898" cy="237744"/>
          </a:xfrm>
          <a:prstGeom prst="roundRect">
            <a:avLst>
              <a:gd name="adj" fmla="val 50000"/>
            </a:avLst>
          </a:prstGeom>
          <a:solidFill>
            <a:srgbClr val="FFFFFF"/>
          </a:solidFill>
          <a:ln w="12700">
            <a:solidFill>
              <a:srgbClr val="E4DCC9"/>
            </a:solidFill>
            <a:prstDash val="solid"/>
          </a:ln>
        </p:spPr>
      </p:sp>
      <p:sp>
        <p:nvSpPr>
          <p:cNvPr id="43" name="Text 41"/>
          <p:cNvSpPr txBox="1"/>
          <p:nvPr/>
        </p:nvSpPr>
        <p:spPr>
          <a:xfrm>
            <a:off x="10356494" y="4169664"/>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Finance</a:t>
            </a:r>
            <a:endParaRPr lang="en-US" sz="700" dirty="0"/>
          </a:p>
        </p:txBody>
      </p:sp>
      <p:sp>
        <p:nvSpPr>
          <p:cNvPr id="44" name="Shape 42"/>
          <p:cNvSpPr/>
          <p:nvPr/>
        </p:nvSpPr>
        <p:spPr>
          <a:xfrm>
            <a:off x="7296912" y="4590288"/>
            <a:ext cx="1417320" cy="347472"/>
          </a:xfrm>
          <a:prstGeom prst="roundRect">
            <a:avLst>
              <a:gd name="adj" fmla="val 50000"/>
            </a:avLst>
          </a:prstGeom>
          <a:solidFill>
            <a:srgbClr val="9C7C2E"/>
          </a:solidFill>
          <a:ln/>
        </p:spPr>
      </p:sp>
      <p:sp>
        <p:nvSpPr>
          <p:cNvPr id="45" name="Text 43"/>
          <p:cNvSpPr txBox="1"/>
          <p:nvPr/>
        </p:nvSpPr>
        <p:spPr>
          <a:xfrm>
            <a:off x="7296912" y="4581144"/>
            <a:ext cx="1417320" cy="3566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Add article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5" name="Shape 13"/>
          <p:cNvSpPr/>
          <p:nvPr/>
        </p:nvSpPr>
        <p:spPr>
          <a:xfrm>
            <a:off x="7443216" y="2446020"/>
            <a:ext cx="100584" cy="100584"/>
          </a:xfrm>
          <a:prstGeom prst="ellipse">
            <a:avLst/>
          </a:prstGeom>
          <a:solidFill>
            <a:srgbClr val="5B7C46"/>
          </a:solidFill>
          <a:ln/>
        </p:spPr>
      </p:sp>
      <p:sp>
        <p:nvSpPr>
          <p:cNvPr id="16" name="Shape 14"/>
          <p:cNvSpPr/>
          <p:nvPr/>
        </p:nvSpPr>
        <p:spPr>
          <a:xfrm>
            <a:off x="7680960" y="2455164"/>
            <a:ext cx="1825508" cy="82296"/>
          </a:xfrm>
          <a:prstGeom prst="roundRect">
            <a:avLst>
              <a:gd name="adj" fmla="val 50000"/>
            </a:avLst>
          </a:prstGeom>
          <a:solidFill>
            <a:srgbClr val="E4DCC9"/>
          </a:solidFill>
          <a:ln/>
        </p:spPr>
      </p:sp>
      <p:sp>
        <p:nvSpPr>
          <p:cNvPr id="17" name="Shape 15"/>
          <p:cNvSpPr/>
          <p:nvPr/>
        </p:nvSpPr>
        <p:spPr>
          <a:xfrm>
            <a:off x="7680960" y="2455164"/>
            <a:ext cx="1314366" cy="82296"/>
          </a:xfrm>
          <a:prstGeom prst="roundRect">
            <a:avLst>
              <a:gd name="adj" fmla="val 50000"/>
            </a:avLst>
          </a:prstGeom>
          <a:solidFill>
            <a:srgbClr val="9C7C2E"/>
          </a:solidFill>
          <a:ln/>
        </p:spPr>
      </p:sp>
      <p:sp>
        <p:nvSpPr>
          <p:cNvPr id="18" name="Shape 16"/>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19" name="Text 17"/>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0" name="Shape 18"/>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3140964"/>
            <a:ext cx="100584" cy="100584"/>
          </a:xfrm>
          <a:prstGeom prst="ellipse">
            <a:avLst/>
          </a:prstGeom>
          <a:solidFill>
            <a:srgbClr val="B0842F"/>
          </a:solidFill>
          <a:ln/>
        </p:spPr>
      </p:sp>
      <p:sp>
        <p:nvSpPr>
          <p:cNvPr id="22" name="Shape 20"/>
          <p:cNvSpPr/>
          <p:nvPr/>
        </p:nvSpPr>
        <p:spPr>
          <a:xfrm>
            <a:off x="7680960" y="3150108"/>
            <a:ext cx="1825508" cy="82296"/>
          </a:xfrm>
          <a:prstGeom prst="roundRect">
            <a:avLst>
              <a:gd name="adj" fmla="val 50000"/>
            </a:avLst>
          </a:prstGeom>
          <a:solidFill>
            <a:srgbClr val="E4DCC9"/>
          </a:solidFill>
          <a:ln/>
        </p:spPr>
      </p:sp>
      <p:sp>
        <p:nvSpPr>
          <p:cNvPr id="23" name="Shape 21"/>
          <p:cNvSpPr/>
          <p:nvPr/>
        </p:nvSpPr>
        <p:spPr>
          <a:xfrm>
            <a:off x="7680960" y="3150108"/>
            <a:ext cx="839734" cy="82296"/>
          </a:xfrm>
          <a:prstGeom prst="roundRect">
            <a:avLst>
              <a:gd name="adj" fmla="val 50000"/>
            </a:avLst>
          </a:prstGeom>
          <a:solidFill>
            <a:srgbClr val="9C7C2E"/>
          </a:solidFill>
          <a:ln/>
        </p:spPr>
      </p:sp>
      <p:sp>
        <p:nvSpPr>
          <p:cNvPr id="24" name="Shape 22"/>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6" name="Shape 24"/>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835908"/>
            <a:ext cx="100584" cy="100584"/>
          </a:xfrm>
          <a:prstGeom prst="ellipse">
            <a:avLst/>
          </a:prstGeom>
          <a:solidFill>
            <a:srgbClr val="5B7C46"/>
          </a:solidFill>
          <a:ln/>
        </p:spPr>
      </p:sp>
      <p:sp>
        <p:nvSpPr>
          <p:cNvPr id="28" name="Shape 26"/>
          <p:cNvSpPr/>
          <p:nvPr/>
        </p:nvSpPr>
        <p:spPr>
          <a:xfrm>
            <a:off x="7680960" y="3845052"/>
            <a:ext cx="1825508" cy="82296"/>
          </a:xfrm>
          <a:prstGeom prst="roundRect">
            <a:avLst>
              <a:gd name="adj" fmla="val 50000"/>
            </a:avLst>
          </a:prstGeom>
          <a:solidFill>
            <a:srgbClr val="E4DCC9"/>
          </a:solidFill>
          <a:ln/>
        </p:spPr>
      </p:sp>
      <p:sp>
        <p:nvSpPr>
          <p:cNvPr id="29" name="Shape 27"/>
          <p:cNvSpPr/>
          <p:nvPr/>
        </p:nvSpPr>
        <p:spPr>
          <a:xfrm>
            <a:off x="7680960" y="3845052"/>
            <a:ext cx="1606447" cy="82296"/>
          </a:xfrm>
          <a:prstGeom prst="roundRect">
            <a:avLst>
              <a:gd name="adj" fmla="val 50000"/>
            </a:avLst>
          </a:prstGeom>
          <a:solidFill>
            <a:srgbClr val="9C7C2E"/>
          </a:solidFill>
          <a:ln/>
        </p:spPr>
      </p:sp>
      <p:sp>
        <p:nvSpPr>
          <p:cNvPr id="30" name="Shape 28"/>
          <p:cNvSpPr/>
          <p:nvPr/>
        </p:nvSpPr>
        <p:spPr>
          <a:xfrm>
            <a:off x="10268712" y="3739896"/>
            <a:ext cx="86868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268712" y="3730752"/>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 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7" name="Shape 5"/>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9" name="Shape 7"/>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5" name="Shape 3"/>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7" name="Shape 5"/>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767328" y="3799332"/>
            <a:ext cx="100584" cy="100584"/>
          </a:xfrm>
          <a:prstGeom prst="ellipse">
            <a:avLst/>
          </a:prstGeom>
          <a:solidFill>
            <a:srgbClr val="B0842F"/>
          </a:solidFill>
          <a:ln/>
        </p:spPr>
      </p:sp>
      <p:sp>
        <p:nvSpPr>
          <p:cNvPr id="9" name="Text 7"/>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0" name="Shape 8"/>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5" name="Shape 3"/>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7" name="Shape 5"/>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867558" y="3799332"/>
            <a:ext cx="100584" cy="100584"/>
          </a:xfrm>
          <a:prstGeom prst="ellipse">
            <a:avLst/>
          </a:prstGeom>
          <a:solidFill>
            <a:srgbClr val="7A7266"/>
          </a:solidFill>
          <a:ln/>
        </p:spPr>
      </p:sp>
      <p:sp>
        <p:nvSpPr>
          <p:cNvPr id="9" name="Text 7"/>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0" name="Shape 8"/>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5" name="Shape 3"/>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7" name="Shape 5"/>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4142232" y="3799332"/>
            <a:ext cx="100584" cy="100584"/>
          </a:xfrm>
          <a:prstGeom prst="ellipse">
            <a:avLst/>
          </a:prstGeom>
          <a:solidFill>
            <a:srgbClr val="B0842F"/>
          </a:solidFill>
          <a:ln/>
        </p:spPr>
      </p:sp>
      <p:sp>
        <p:nvSpPr>
          <p:cNvPr id="9" name="Text 7"/>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516368" y="2615184"/>
            <a:ext cx="3529584" cy="0"/>
          </a:xfrm>
          <a:prstGeom prst="line">
            <a:avLst/>
          </a:prstGeom>
          <a:noFill/>
          <a:ln w="25400">
            <a:solidFill>
              <a:srgbClr val="E4DCC9"/>
            </a:solidFill>
            <a:prstDash val="solid"/>
          </a:ln>
        </p:spPr>
      </p:sp>
      <p:sp>
        <p:nvSpPr>
          <p:cNvPr id="19" name="Shape 17"/>
          <p:cNvSpPr/>
          <p:nvPr/>
        </p:nvSpPr>
        <p:spPr>
          <a:xfrm>
            <a:off x="7296912" y="2395728"/>
            <a:ext cx="438912" cy="438912"/>
          </a:xfrm>
          <a:prstGeom prst="ellipse">
            <a:avLst/>
          </a:prstGeom>
          <a:solidFill>
            <a:srgbClr val="9C7C2E"/>
          </a:solidFill>
          <a:ln w="25400">
            <a:solidFill>
              <a:srgbClr val="9C7C2E"/>
            </a:solidFill>
            <a:prstDash val="solid"/>
          </a:ln>
        </p:spPr>
      </p:sp>
      <p:sp>
        <p:nvSpPr>
          <p:cNvPr id="20" name="Text 18"/>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8473440"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9649968" y="2395728"/>
            <a:ext cx="438912" cy="438912"/>
          </a:xfrm>
          <a:prstGeom prst="ellipse">
            <a:avLst/>
          </a:prstGeom>
          <a:solidFill>
            <a:srgbClr val="FFFFFF"/>
          </a:solidFill>
          <a:ln w="25400">
            <a:solidFill>
              <a:srgbClr val="9C7C2E"/>
            </a:solidFill>
            <a:prstDash val="solid"/>
          </a:ln>
        </p:spPr>
      </p:sp>
      <p:sp>
        <p:nvSpPr>
          <p:cNvPr id="24" name="Text 22"/>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5" name="Shape 23"/>
          <p:cNvSpPr/>
          <p:nvPr/>
        </p:nvSpPr>
        <p:spPr>
          <a:xfrm>
            <a:off x="10826496"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7" name="Shape 25"/>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3387852"/>
            <a:ext cx="100584" cy="100584"/>
          </a:xfrm>
          <a:prstGeom prst="ellipse">
            <a:avLst/>
          </a:prstGeom>
          <a:solidFill>
            <a:srgbClr val="5B7C46"/>
          </a:solidFill>
          <a:ln/>
        </p:spPr>
      </p:sp>
      <p:sp>
        <p:nvSpPr>
          <p:cNvPr id="29" name="Shape 27"/>
          <p:cNvSpPr/>
          <p:nvPr/>
        </p:nvSpPr>
        <p:spPr>
          <a:xfrm>
            <a:off x="7680960" y="3396996"/>
            <a:ext cx="1825508" cy="82296"/>
          </a:xfrm>
          <a:prstGeom prst="roundRect">
            <a:avLst>
              <a:gd name="adj" fmla="val 50000"/>
            </a:avLst>
          </a:prstGeom>
          <a:solidFill>
            <a:srgbClr val="E4DCC9"/>
          </a:solidFill>
          <a:ln/>
        </p:spPr>
      </p:sp>
      <p:sp>
        <p:nvSpPr>
          <p:cNvPr id="30" name="Shape 28"/>
          <p:cNvSpPr/>
          <p:nvPr/>
        </p:nvSpPr>
        <p:spPr>
          <a:xfrm>
            <a:off x="7680960" y="3396996"/>
            <a:ext cx="1314366" cy="82296"/>
          </a:xfrm>
          <a:prstGeom prst="roundRect">
            <a:avLst>
              <a:gd name="adj" fmla="val 50000"/>
            </a:avLst>
          </a:prstGeom>
          <a:solidFill>
            <a:srgbClr val="9C7C2E"/>
          </a:solidFill>
          <a:ln/>
        </p:spPr>
      </p:sp>
      <p:sp>
        <p:nvSpPr>
          <p:cNvPr id="31" name="Shape 29"/>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3" name="Shape 31"/>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4" name="Shape 32"/>
          <p:cNvSpPr/>
          <p:nvPr/>
        </p:nvSpPr>
        <p:spPr>
          <a:xfrm>
            <a:off x="7443216" y="4082796"/>
            <a:ext cx="100584" cy="100584"/>
          </a:xfrm>
          <a:prstGeom prst="ellipse">
            <a:avLst/>
          </a:prstGeom>
          <a:solidFill>
            <a:srgbClr val="B0842F"/>
          </a:solidFill>
          <a:ln/>
        </p:spPr>
      </p:sp>
      <p:sp>
        <p:nvSpPr>
          <p:cNvPr id="35" name="Shape 33"/>
          <p:cNvSpPr/>
          <p:nvPr/>
        </p:nvSpPr>
        <p:spPr>
          <a:xfrm>
            <a:off x="7680960" y="4091940"/>
            <a:ext cx="1825508" cy="82296"/>
          </a:xfrm>
          <a:prstGeom prst="roundRect">
            <a:avLst>
              <a:gd name="adj" fmla="val 50000"/>
            </a:avLst>
          </a:prstGeom>
          <a:solidFill>
            <a:srgbClr val="E4DCC9"/>
          </a:solidFill>
          <a:ln/>
        </p:spPr>
      </p:sp>
      <p:sp>
        <p:nvSpPr>
          <p:cNvPr id="36" name="Shape 34"/>
          <p:cNvSpPr/>
          <p:nvPr/>
        </p:nvSpPr>
        <p:spPr>
          <a:xfrm>
            <a:off x="7680960" y="4091940"/>
            <a:ext cx="839734" cy="82296"/>
          </a:xfrm>
          <a:prstGeom prst="roundRect">
            <a:avLst>
              <a:gd name="adj" fmla="val 50000"/>
            </a:avLst>
          </a:prstGeom>
          <a:solidFill>
            <a:srgbClr val="9C7C2E"/>
          </a:solidFill>
          <a:ln/>
        </p:spPr>
      </p:sp>
      <p:sp>
        <p:nvSpPr>
          <p:cNvPr id="37" name="Shape 35"/>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19" name="Text 17"/>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0" name="Shape 18"/>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2" name="Shape 20"/>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4" name="Shape 22"/>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6" name="Shape 24"/>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28" name="Shape 26"/>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0" name="Text 28"/>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1" name="Shape 29"/>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2" name="Text 30"/>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5" name="Text 13"/>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6" name="Text 14"/>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7" name="Shape 15"/>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18" name="Text 16"/>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19" name="Text 17"/>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0" name="Shape 18"/>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1" name="Text 19"/>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2" name="Text 20"/>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3" name="Shape 21"/>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4" name="Text 22"/>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5" name="Text 23"/>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DeepRoots helper that knows who you are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6" name="Shape 4"/>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8" name="Shape 6"/>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2642616" y="5097780"/>
            <a:ext cx="100584" cy="100584"/>
          </a:xfrm>
          <a:prstGeom prst="ellipse">
            <a:avLst/>
          </a:prstGeom>
          <a:solidFill>
            <a:srgbClr val="B0842F"/>
          </a:solidFill>
          <a:ln/>
        </p:spPr>
      </p:sp>
      <p:sp>
        <p:nvSpPr>
          <p:cNvPr id="10" name="Text 8"/>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0" name="Text 18"/>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 what do you need?</a:t>
            </a:r>
            <a:endParaRPr lang="en-US" sz="900" dirty="0"/>
          </a:p>
        </p:txBody>
      </p:sp>
      <p:sp>
        <p:nvSpPr>
          <p:cNvPr id="21" name="Shape 19"/>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2" name="Text 20"/>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3" name="Shape 21"/>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4" name="Text 22"/>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 plus your first-week checklist:</a:t>
            </a:r>
            <a:endParaRPr lang="en-US" sz="900" dirty="0"/>
          </a:p>
        </p:txBody>
      </p:sp>
      <p:sp>
        <p:nvSpPr>
          <p:cNvPr id="25" name="Shape 23"/>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6" name="Text 24"/>
          <p:cNvSpPr txBox="1"/>
          <p:nvPr/>
        </p:nvSpPr>
        <p:spPr>
          <a:xfrm>
            <a:off x="7424928" y="3904488"/>
            <a:ext cx="1783080" cy="292608"/>
          </a:xfrm>
          <a:prstGeom prst="rect">
            <a:avLst/>
          </a:prstGeom>
          <a:noFill/>
          <a:ln/>
        </p:spPr>
        <p:txBody>
          <a:bodyPr wrap="square" lIns="0" tIns="0" rIns="0" bIns="0" rtlCol="0" anchor="ctr"/>
          <a:lstStyle/>
          <a:p>
            <a:pPr algn="ctr" indent="0" marL="0">
              <a:buNone/>
            </a:pPr>
            <a:r>
              <a:rPr lang="en-US" sz="750" b="1" dirty="0">
                <a:solidFill>
                  <a:srgbClr val="9C7C2E"/>
                </a:solidFill>
                <a:latin typeface="Calibri" pitchFamily="34" charset="0"/>
                <a:ea typeface="Calibri" pitchFamily="34" charset="-122"/>
                <a:cs typeface="Calibri" pitchFamily="34" charset="-120"/>
              </a:rPr>
              <a:t>📄 Employee Handbook</a:t>
            </a:r>
            <a:endParaRPr lang="en-US" sz="750" dirty="0"/>
          </a:p>
        </p:txBody>
      </p:sp>
      <p:sp>
        <p:nvSpPr>
          <p:cNvPr id="27" name="Shape 25"/>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29" name="Shape 27"/>
          <p:cNvSpPr/>
          <p:nvPr/>
        </p:nvSpPr>
        <p:spPr>
          <a:xfrm>
            <a:off x="10927080" y="4636008"/>
            <a:ext cx="274320" cy="274320"/>
          </a:xfrm>
          <a:prstGeom prst="ellipse">
            <a:avLst/>
          </a:prstGeom>
          <a:solidFill>
            <a:srgbClr val="9C7C2E"/>
          </a:solidFill>
          <a:ln/>
        </p:spPr>
      </p:sp>
      <p:sp>
        <p:nvSpPr>
          <p:cNvPr id="30" name="Text 28"/>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7" name="Shape 5"/>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19" name="Shape 17"/>
          <p:cNvSpPr/>
          <p:nvPr/>
        </p:nvSpPr>
        <p:spPr>
          <a:xfrm>
            <a:off x="7424928" y="2356104"/>
            <a:ext cx="82296" cy="82296"/>
          </a:xfrm>
          <a:prstGeom prst="ellipse">
            <a:avLst/>
          </a:prstGeom>
          <a:solidFill>
            <a:srgbClr val="9C7C2E"/>
          </a:solidFill>
          <a:ln/>
        </p:spPr>
      </p:sp>
      <p:sp>
        <p:nvSpPr>
          <p:cNvPr id="20" name="Text 18"/>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1" name="Shape 19"/>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2" name="Shape 20"/>
          <p:cNvSpPr/>
          <p:nvPr/>
        </p:nvSpPr>
        <p:spPr>
          <a:xfrm>
            <a:off x="9482328" y="2356104"/>
            <a:ext cx="82296" cy="82296"/>
          </a:xfrm>
          <a:prstGeom prst="ellipse">
            <a:avLst/>
          </a:prstGeom>
          <a:solidFill>
            <a:srgbClr val="9C7C2E"/>
          </a:solidFill>
          <a:ln/>
        </p:spPr>
      </p:sp>
      <p:sp>
        <p:nvSpPr>
          <p:cNvPr id="23" name="Text 21"/>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4" name="Shape 22"/>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5" name="Shape 23"/>
          <p:cNvSpPr/>
          <p:nvPr/>
        </p:nvSpPr>
        <p:spPr>
          <a:xfrm>
            <a:off x="7424928" y="2834640"/>
            <a:ext cx="82296" cy="82296"/>
          </a:xfrm>
          <a:prstGeom prst="ellipse">
            <a:avLst/>
          </a:prstGeom>
          <a:solidFill>
            <a:srgbClr val="9C7C2E"/>
          </a:solidFill>
          <a:ln/>
        </p:spPr>
      </p:sp>
      <p:sp>
        <p:nvSpPr>
          <p:cNvPr id="26" name="Text 24"/>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7" name="Shape 25"/>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28" name="Shape 26"/>
          <p:cNvSpPr/>
          <p:nvPr/>
        </p:nvSpPr>
        <p:spPr>
          <a:xfrm>
            <a:off x="9482328" y="2834640"/>
            <a:ext cx="82296" cy="82296"/>
          </a:xfrm>
          <a:prstGeom prst="ellipse">
            <a:avLst/>
          </a:prstGeom>
          <a:solidFill>
            <a:srgbClr val="9C7C2E"/>
          </a:solidFill>
          <a:ln/>
        </p:spPr>
      </p:sp>
      <p:sp>
        <p:nvSpPr>
          <p:cNvPr id="29" name="Text 27"/>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0" name="Shape 28"/>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1" name="Shape 29"/>
          <p:cNvSpPr/>
          <p:nvPr/>
        </p:nvSpPr>
        <p:spPr>
          <a:xfrm>
            <a:off x="7424928" y="3313176"/>
            <a:ext cx="82296" cy="82296"/>
          </a:xfrm>
          <a:prstGeom prst="ellipse">
            <a:avLst/>
          </a:prstGeom>
          <a:solidFill>
            <a:srgbClr val="9C7C2E"/>
          </a:solidFill>
          <a:ln/>
        </p:spPr>
      </p:sp>
      <p:sp>
        <p:nvSpPr>
          <p:cNvPr id="32" name="Text 30"/>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3" name="Shape 31"/>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4" name="Shape 32"/>
          <p:cNvSpPr/>
          <p:nvPr/>
        </p:nvSpPr>
        <p:spPr>
          <a:xfrm>
            <a:off x="9482328" y="3313176"/>
            <a:ext cx="82296" cy="82296"/>
          </a:xfrm>
          <a:prstGeom prst="ellipse">
            <a:avLst/>
          </a:prstGeom>
          <a:solidFill>
            <a:srgbClr val="9C7C2E"/>
          </a:solidFill>
          <a:ln/>
        </p:spPr>
      </p:sp>
      <p:sp>
        <p:nvSpPr>
          <p:cNvPr id="35" name="Text 33"/>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6" name="Shape 34"/>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7" name="Shape 35"/>
          <p:cNvSpPr/>
          <p:nvPr/>
        </p:nvSpPr>
        <p:spPr>
          <a:xfrm>
            <a:off x="7424928" y="3791712"/>
            <a:ext cx="82296" cy="82296"/>
          </a:xfrm>
          <a:prstGeom prst="ellipse">
            <a:avLst/>
          </a:prstGeom>
          <a:solidFill>
            <a:srgbClr val="9C7C2E"/>
          </a:solidFill>
          <a:ln/>
        </p:spPr>
      </p:sp>
      <p:sp>
        <p:nvSpPr>
          <p:cNvPr id="38" name="Text 36"/>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39" name="Shape 37"/>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0" name="Shape 38"/>
          <p:cNvSpPr/>
          <p:nvPr/>
        </p:nvSpPr>
        <p:spPr>
          <a:xfrm>
            <a:off x="9482328" y="3791712"/>
            <a:ext cx="82296" cy="82296"/>
          </a:xfrm>
          <a:prstGeom prst="ellipse">
            <a:avLst/>
          </a:prstGeom>
          <a:solidFill>
            <a:srgbClr val="9C7C2E"/>
          </a:solidFill>
          <a:ln/>
        </p:spPr>
      </p:sp>
      <p:sp>
        <p:nvSpPr>
          <p:cNvPr id="41" name="Text 39"/>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2" name="Shape 40"/>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3" name="Shape 41"/>
          <p:cNvSpPr/>
          <p:nvPr/>
        </p:nvSpPr>
        <p:spPr>
          <a:xfrm>
            <a:off x="7424928" y="4270248"/>
            <a:ext cx="82296" cy="82296"/>
          </a:xfrm>
          <a:prstGeom prst="ellipse">
            <a:avLst/>
          </a:prstGeom>
          <a:solidFill>
            <a:srgbClr val="9C7C2E"/>
          </a:solidFill>
          <a:ln/>
        </p:spPr>
      </p:sp>
      <p:sp>
        <p:nvSpPr>
          <p:cNvPr id="44" name="Text 42"/>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5" name="Shape 43"/>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6" name="Shape 44"/>
          <p:cNvSpPr/>
          <p:nvPr/>
        </p:nvSpPr>
        <p:spPr>
          <a:xfrm>
            <a:off x="9482328" y="4270248"/>
            <a:ext cx="82296" cy="82296"/>
          </a:xfrm>
          <a:prstGeom prst="ellipse">
            <a:avLst/>
          </a:prstGeom>
          <a:solidFill>
            <a:srgbClr val="9C7C2E"/>
          </a:solidFill>
          <a:ln/>
        </p:spPr>
      </p:sp>
      <p:sp>
        <p:nvSpPr>
          <p:cNvPr id="47" name="Text 45"/>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48" name="Shape 46"/>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49" name="Shape 47"/>
          <p:cNvSpPr/>
          <p:nvPr/>
        </p:nvSpPr>
        <p:spPr>
          <a:xfrm>
            <a:off x="7424928" y="4748784"/>
            <a:ext cx="82296" cy="82296"/>
          </a:xfrm>
          <a:prstGeom prst="ellipse">
            <a:avLst/>
          </a:prstGeom>
          <a:solidFill>
            <a:srgbClr val="9C7C2E"/>
          </a:solidFill>
          <a:ln/>
        </p:spPr>
      </p:sp>
      <p:sp>
        <p:nvSpPr>
          <p:cNvPr id="50" name="Text 48"/>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Started, ~10% complete; only the mockups are live so far.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a ~10-week build to connect the real data sources.</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2026-09-17T16:28:20Z</dcterms:created>
  <dcterms:modified xsi:type="dcterms:W3CDTF">2026-09-17T16:28:20Z</dcterms:modified>
</cp:coreProperties>
</file>