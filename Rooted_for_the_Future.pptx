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DeepRoots Portal &amp; Optimization, tour of everything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everything built for the DeepRoots Portal and the optimization/data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proposed system, three surfaces over one data backbone. This is what we would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1A15"/>
        </a:solidFill>
      </p:bgPr>
    </p:bg>
    <p:spTree>
      <p:nvGrpSpPr>
        <p:cNvPr id="1" name=""/>
        <p:cNvGrpSpPr/>
        <p:nvPr/>
      </p:nvGrpSpPr>
      <p:grpSpPr>
        <a:xfrm>
          <a:off x="0" y="0"/>
          <a:ext cx="0" cy="0"/>
          <a:chOff x="0" y="0"/>
          <a:chExt cx="0" cy="0"/>
        </a:xfrm>
      </p:grpSpPr>
      <p:sp>
        <p:nvSpPr>
          <p:cNvPr id="2" name="Shape 0"/>
          <p:cNvSpPr/>
          <p:nvPr/>
        </p:nvSpPr>
        <p:spPr>
          <a:xfrm>
            <a:off x="8897112" y="-1737360"/>
            <a:ext cx="4572000" cy="4572000"/>
          </a:xfrm>
          <a:prstGeom prst="ellipse">
            <a:avLst/>
          </a:prstGeom>
          <a:ln w="15875">
            <a:solidFill>
              <a:srgbClr val="9C7C2E">
                <a:alpha val="42000"/>
              </a:srgbClr>
            </a:solidFill>
            <a:prstDash val="solid"/>
          </a:ln>
        </p:spPr>
      </p:sp>
      <p:sp>
        <p:nvSpPr>
          <p:cNvPr id="3" name="Shape 1"/>
          <p:cNvSpPr/>
          <p:nvPr/>
        </p:nvSpPr>
        <p:spPr>
          <a:xfrm>
            <a:off x="-1554480" y="4846320"/>
            <a:ext cx="3474720" cy="3474720"/>
          </a:xfrm>
          <a:prstGeom prst="ellipse">
            <a:avLst/>
          </a:prstGeom>
          <a:ln w="12700">
            <a:solidFill>
              <a:srgbClr val="9C7C2E">
                <a:alpha val="28000"/>
              </a:srgbClr>
            </a:solidFill>
            <a:prstDash val="solid"/>
          </a:ln>
        </p:spPr>
      </p:sp>
      <p:pic>
        <p:nvPicPr>
          <p:cNvPr id="4" name="Image 0" descr="/private/tmp/claude-502/-Users-DRBTroy-Documents-Projects-DeepRoots/3b403855-4530-4100-a3e2-ac51fe60ce6e/scratchpad/logo-cream.png">    </p:cNvPr>
          <p:cNvPicPr>
            <a:picLocks noChangeAspect="1"/>
          </p:cNvPicPr>
          <p:nvPr/>
        </p:nvPicPr>
        <p:blipFill>
          <a:blip r:embed="rId1"/>
          <a:stretch>
            <a:fillRect/>
          </a:stretch>
        </p:blipFill>
        <p:spPr>
          <a:xfrm>
            <a:off x="3808476" y="2148840"/>
            <a:ext cx="4572000" cy="1730829"/>
          </a:xfrm>
          <a:prstGeom prst="rect">
            <a:avLst/>
          </a:prstGeom>
        </p:spPr>
      </p:pic>
      <p:sp>
        <p:nvSpPr>
          <p:cNvPr id="5" name="Shape 2"/>
          <p:cNvSpPr/>
          <p:nvPr/>
        </p:nvSpPr>
        <p:spPr>
          <a:xfrm>
            <a:off x="6057900" y="4041648"/>
            <a:ext cx="73152" cy="73152"/>
          </a:xfrm>
          <a:prstGeom prst="ellipse">
            <a:avLst/>
          </a:prstGeom>
          <a:solidFill>
            <a:srgbClr val="9C7C2E"/>
          </a:solidFill>
          <a:ln/>
        </p:spPr>
      </p:sp>
      <p:sp>
        <p:nvSpPr>
          <p:cNvPr id="6" name="Text 3"/>
          <p:cNvSpPr txBox="1"/>
          <p:nvPr/>
        </p:nvSpPr>
        <p:spPr>
          <a:xfrm>
            <a:off x="914400" y="4160520"/>
            <a:ext cx="10360152" cy="731520"/>
          </a:xfrm>
          <a:prstGeom prst="rect">
            <a:avLst/>
          </a:prstGeom>
          <a:noFill/>
          <a:ln/>
        </p:spPr>
        <p:txBody>
          <a:bodyPr wrap="square" lIns="0" tIns="0" rIns="0" bIns="0" rtlCol="0" anchor="ctr"/>
          <a:lstStyle/>
          <a:p>
            <a:pPr algn="ctr" indent="0" marL="0">
              <a:buNone/>
            </a:pPr>
            <a:r>
              <a:rPr lang="en-US" sz="3400" dirty="0">
                <a:solidFill>
                  <a:srgbClr val="F3ECDD"/>
                </a:solidFill>
                <a:latin typeface="Georgia" pitchFamily="34" charset="0"/>
                <a:ea typeface="Georgia" pitchFamily="34" charset="-122"/>
                <a:cs typeface="Georgia" pitchFamily="34" charset="-120"/>
              </a:rPr>
              <a:t>Rooted for the Future</a:t>
            </a:r>
            <a:endParaRPr lang="en-US" sz="3400" dirty="0"/>
          </a:p>
        </p:txBody>
      </p:sp>
      <p:sp>
        <p:nvSpPr>
          <p:cNvPr id="7" name="Text 4"/>
          <p:cNvSpPr txBox="1"/>
          <p:nvPr/>
        </p:nvSpPr>
        <p:spPr>
          <a:xfrm>
            <a:off x="914400" y="5029200"/>
            <a:ext cx="10360152" cy="457200"/>
          </a:xfrm>
          <a:prstGeom prst="rect">
            <a:avLst/>
          </a:prstGeom>
          <a:noFill/>
          <a:ln/>
        </p:spPr>
        <p:txBody>
          <a:bodyPr wrap="square" lIns="0" tIns="0" rIns="0" bIns="0" rtlCol="0" anchor="ctr"/>
          <a:lstStyle/>
          <a:p>
            <a:pPr algn="ctr" indent="0" marL="0">
              <a:buNone/>
            </a:pPr>
            <a:r>
              <a:rPr lang="en-US" sz="1300" spc="100" kern="0" dirty="0">
                <a:solidFill>
                  <a:srgbClr val="B7AE9E"/>
                </a:solidFill>
                <a:latin typeface="Calibri" pitchFamily="34" charset="0"/>
                <a:ea typeface="Calibri" pitchFamily="34" charset="-122"/>
                <a:cs typeface="Calibri" pitchFamily="34" charset="-120"/>
              </a:rPr>
              <a:t>The DeepRoots Portal &amp; Optimization plan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D1A15"/>
        </a:solidFill>
      </p:bgPr>
    </p:bg>
    <p:spTree>
      <p:nvGrpSpPr>
        <p:cNvPr id="1" name=""/>
        <p:cNvGrpSpPr/>
        <p:nvPr/>
      </p:nvGrpSpPr>
      <p:grpSpPr>
        <a:xfrm>
          <a:off x="0" y="0"/>
          <a:ext cx="0" cy="0"/>
          <a:chOff x="0" y="0"/>
          <a:chExt cx="0" cy="0"/>
        </a:xfrm>
      </p:grpSpPr>
      <p:sp>
        <p:nvSpPr>
          <p:cNvPr id="2" name="Shape 0"/>
          <p:cNvSpPr/>
          <p:nvPr/>
        </p:nvSpPr>
        <p:spPr>
          <a:xfrm>
            <a:off x="9079992" y="-1463040"/>
            <a:ext cx="4206240" cy="4206240"/>
          </a:xfrm>
          <a:prstGeom prst="ellipse">
            <a:avLst/>
          </a:prstGeom>
          <a:ln w="15875">
            <a:solidFill>
              <a:srgbClr val="9C7C2E">
                <a:alpha val="45000"/>
              </a:srgbClr>
            </a:solidFill>
            <a:prstDash val="solid"/>
          </a:ln>
        </p:spPr>
      </p:sp>
      <p:sp>
        <p:nvSpPr>
          <p:cNvPr id="3" name="Shape 1"/>
          <p:cNvSpPr/>
          <p:nvPr/>
        </p:nvSpPr>
        <p:spPr>
          <a:xfrm>
            <a:off x="10085832" y="4846320"/>
            <a:ext cx="3108960" cy="3108960"/>
          </a:xfrm>
          <a:prstGeom prst="ellipse">
            <a:avLst/>
          </a:prstGeom>
          <a:ln w="12700">
            <a:solidFill>
              <a:srgbClr val="9C7C2E">
                <a:alpha val="30000"/>
              </a:srgbClr>
            </a:solidFill>
            <a:prstDash val="solid"/>
          </a:ln>
        </p:spPr>
      </p:sp>
      <p:sp>
        <p:nvSpPr>
          <p:cNvPr id="4" name="Text 2"/>
          <p:cNvSpPr txBox="1"/>
          <p:nvPr/>
        </p:nvSpPr>
        <p:spPr>
          <a:xfrm>
            <a:off x="822960" y="1920240"/>
            <a:ext cx="7315200" cy="274320"/>
          </a:xfrm>
          <a:prstGeom prst="rect">
            <a:avLst/>
          </a:prstGeom>
          <a:noFill/>
          <a:ln/>
        </p:spPr>
        <p:txBody>
          <a:bodyPr wrap="square" lIns="0" tIns="0" rIns="0" bIns="0" rtlCol="0" anchor="ctr"/>
          <a:lstStyle/>
          <a:p>
            <a:pPr indent="0" marL="0">
              <a:buNone/>
            </a:pPr>
            <a:r>
              <a:rPr lang="en-US" sz="1100" b="1" spc="300" kern="0" dirty="0">
                <a:solidFill>
                  <a:srgbClr val="C4A24E"/>
                </a:solidFill>
                <a:latin typeface="Calibri" pitchFamily="34" charset="0"/>
                <a:ea typeface="Calibri" pitchFamily="34" charset="-122"/>
                <a:cs typeface="Calibri" pitchFamily="34" charset="-120"/>
              </a:rPr>
              <a:t>DEEPROOTS · PORTAL &amp; OPTIMIZATION</a:t>
            </a:r>
            <a:endParaRPr lang="en-US" sz="1100" dirty="0"/>
          </a:p>
        </p:txBody>
      </p:sp>
      <p:sp>
        <p:nvSpPr>
          <p:cNvPr id="5" name="Text 3"/>
          <p:cNvSpPr txBox="1"/>
          <p:nvPr/>
        </p:nvSpPr>
        <p:spPr>
          <a:xfrm>
            <a:off x="822960" y="2240280"/>
            <a:ext cx="9601200" cy="1828800"/>
          </a:xfrm>
          <a:prstGeom prst="rect">
            <a:avLst/>
          </a:prstGeom>
          <a:noFill/>
          <a:ln/>
        </p:spPr>
        <p:txBody>
          <a:bodyPr wrap="square" lIns="0" tIns="0" rIns="0" bIns="0" rtlCol="0" anchor="ctr"/>
          <a:lstStyle/>
          <a:p>
            <a:pPr indent="0" marL="0">
              <a:lnSpc>
                <a:spcPct val="98000"/>
              </a:lnSpc>
              <a:buNone/>
            </a:pPr>
            <a:r>
              <a:rPr lang="en-US" sz="5200" b="1" dirty="0">
                <a:solidFill>
                  <a:srgbClr val="F3ECDD"/>
                </a:solidFill>
                <a:latin typeface="Georgia" pitchFamily="34" charset="0"/>
                <a:ea typeface="Georgia" pitchFamily="34" charset="-122"/>
                <a:cs typeface="Georgia" pitchFamily="34" charset="-120"/>
              </a:rPr>
              <a:t>What we’d build</a:t>
            </a:r>
            <a:endParaRPr lang="en-US" sz="5200" dirty="0"/>
          </a:p>
        </p:txBody>
      </p:sp>
      <p:sp>
        <p:nvSpPr>
          <p:cNvPr id="6" name="Text 4"/>
          <p:cNvSpPr txBox="1"/>
          <p:nvPr/>
        </p:nvSpPr>
        <p:spPr>
          <a:xfrm>
            <a:off x="822960" y="3977640"/>
            <a:ext cx="8412480" cy="1097280"/>
          </a:xfrm>
          <a:prstGeom prst="rect">
            <a:avLst/>
          </a:prstGeom>
          <a:noFill/>
          <a:ln/>
        </p:spPr>
        <p:txBody>
          <a:bodyPr wrap="square" lIns="0" tIns="0" rIns="0" bIns="0" rtlCol="0" anchor="ctr"/>
          <a:lstStyle/>
          <a:p>
            <a:pPr indent="0" marL="0">
              <a:lnSpc>
                <a:spcPct val="120000"/>
              </a:lnSpc>
              <a:buNone/>
            </a:pPr>
            <a:r>
              <a:rPr lang="en-US" sz="1500" dirty="0">
                <a:solidFill>
                  <a:srgbClr val="B7AE9E"/>
                </a:solidFill>
                <a:latin typeface="Calibri" pitchFamily="34" charset="0"/>
                <a:ea typeface="Calibri" pitchFamily="34" charset="-122"/>
                <a:cs typeface="Calibri" pitchFamily="34" charset="-120"/>
              </a:rPr>
              <a:t>The operating system we’d build for DeepRoots, a public site, an internal staff portal, a School Portal, and the data backbone beneath them.</a:t>
            </a:r>
            <a:endParaRPr lang="en-US" sz="1500" dirty="0"/>
          </a:p>
        </p:txBody>
      </p:sp>
      <p:sp>
        <p:nvSpPr>
          <p:cNvPr id="7" name="Text 5"/>
          <p:cNvSpPr txBox="1"/>
          <p:nvPr/>
        </p:nvSpPr>
        <p:spPr>
          <a:xfrm>
            <a:off x="822960" y="5943600"/>
            <a:ext cx="10058400" cy="365760"/>
          </a:xfrm>
          <a:prstGeom prst="rect">
            <a:avLst/>
          </a:prstGeom>
          <a:noFill/>
          <a:ln/>
        </p:spPr>
        <p:txBody>
          <a:bodyPr wrap="square" lIns="0" tIns="0" rIns="0" bIns="0" rtlCol="0" anchor="ctr"/>
          <a:lstStyle/>
          <a:p>
            <a:pPr indent="0" marL="0">
              <a:buNone/>
            </a:pPr>
            <a:r>
              <a:rPr lang="en-US" sz="1100" dirty="0">
                <a:solidFill>
                  <a:srgbClr val="7A7266"/>
                </a:solidFill>
                <a:latin typeface="Calibri" pitchFamily="34" charset="0"/>
                <a:ea typeface="Calibri" pitchFamily="34" charset="-122"/>
                <a:cs typeface="Calibri" pitchFamily="34" charset="-120"/>
              </a:rPr>
              <a:t>Shown as working mockups, illustrative data throughout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822960" y="777240"/>
            <a:ext cx="7315200" cy="274320"/>
          </a:xfrm>
          <a:prstGeom prst="rect">
            <a:avLst/>
          </a:prstGeom>
          <a:noFill/>
          <a:ln/>
        </p:spPr>
        <p:txBody>
          <a:bodyPr wrap="square" lIns="0" tIns="0" rIns="0" bIns="0" rtlCol="0" anchor="ctr"/>
          <a:lstStyle/>
          <a:p>
            <a:pPr indent="0" marL="0">
              <a:buNone/>
            </a:pPr>
            <a:r>
              <a:rPr lang="en-US" sz="1100" b="1" spc="300" kern="0" dirty="0">
                <a:solidFill>
                  <a:srgbClr val="9C7C2E"/>
                </a:solidFill>
                <a:latin typeface="Calibri" pitchFamily="34" charset="0"/>
                <a:ea typeface="Calibri" pitchFamily="34" charset="-122"/>
                <a:cs typeface="Calibri" pitchFamily="34" charset="-120"/>
              </a:rPr>
              <a:t>THE PICTURE</a:t>
            </a:r>
            <a:endParaRPr lang="en-US" sz="1100" dirty="0"/>
          </a:p>
        </p:txBody>
      </p:sp>
      <p:sp>
        <p:nvSpPr>
          <p:cNvPr id="3" name="Text 1"/>
          <p:cNvSpPr txBox="1"/>
          <p:nvPr/>
        </p:nvSpPr>
        <p:spPr>
          <a:xfrm>
            <a:off x="822960" y="1097280"/>
            <a:ext cx="5760720" cy="1371600"/>
          </a:xfrm>
          <a:prstGeom prst="rect">
            <a:avLst/>
          </a:prstGeom>
          <a:noFill/>
          <a:ln/>
        </p:spPr>
        <p:txBody>
          <a:bodyPr wrap="square" lIns="0" tIns="0" rIns="0" bIns="0" rtlCol="0" anchor="t"/>
          <a:lstStyle/>
          <a:p>
            <a:pPr indent="0" marL="0">
              <a:lnSpc>
                <a:spcPct val="98000"/>
              </a:lnSpc>
              <a:buNone/>
            </a:pPr>
            <a:r>
              <a:rPr lang="en-US" sz="3200" b="1" dirty="0">
                <a:solidFill>
                  <a:srgbClr val="1D1A15"/>
                </a:solidFill>
                <a:latin typeface="Georgia" pitchFamily="34" charset="0"/>
                <a:ea typeface="Georgia" pitchFamily="34" charset="-122"/>
                <a:cs typeface="Georgia" pitchFamily="34" charset="-120"/>
              </a:rPr>
              <a:t>One system, three surfaces</a:t>
            </a:r>
            <a:endParaRPr lang="en-US" sz="3200" dirty="0"/>
          </a:p>
        </p:txBody>
      </p:sp>
      <p:sp>
        <p:nvSpPr>
          <p:cNvPr id="4" name="Text 2"/>
          <p:cNvSpPr txBox="1"/>
          <p:nvPr/>
        </p:nvSpPr>
        <p:spPr>
          <a:xfrm>
            <a:off x="822960" y="2286000"/>
            <a:ext cx="5760720" cy="1371600"/>
          </a:xfrm>
          <a:prstGeom prst="rect">
            <a:avLst/>
          </a:prstGeom>
          <a:noFill/>
          <a:ln/>
        </p:spPr>
        <p:txBody>
          <a:bodyPr wrap="square" lIns="0" tIns="0" rIns="0" bIns="0" rtlCol="0" anchor="t"/>
          <a:lstStyle/>
          <a:p>
            <a:pPr indent="0" marL="0">
              <a:lnSpc>
                <a:spcPct val="115000"/>
              </a:lnSpc>
              <a:buNone/>
            </a:pPr>
            <a:r>
              <a:rPr lang="en-US" sz="1500" dirty="0">
                <a:solidFill>
                  <a:srgbClr val="7A7266"/>
                </a:solidFill>
                <a:latin typeface="Calibri" pitchFamily="34" charset="0"/>
                <a:ea typeface="Calibri" pitchFamily="34" charset="-122"/>
                <a:cs typeface="Calibri" pitchFamily="34" charset="-120"/>
              </a:rPr>
              <a:t>Everything DeepRoots does would live in one operating picture and one design system, no scattered tools, no per-team restyling.</a:t>
            </a:r>
            <a:endParaRPr lang="en-US" sz="1500" dirty="0"/>
          </a:p>
        </p:txBody>
      </p:sp>
      <p:sp>
        <p:nvSpPr>
          <p:cNvPr id="5" name="Text 3"/>
          <p:cNvSpPr txBox="1"/>
          <p:nvPr/>
        </p:nvSpPr>
        <p:spPr>
          <a:xfrm>
            <a:off x="822960" y="3657600"/>
            <a:ext cx="5760720" cy="804672"/>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1D1A15"/>
                </a:solidFill>
                <a:latin typeface="Calibri" pitchFamily="34" charset="0"/>
                <a:ea typeface="Calibri" pitchFamily="34" charset="-122"/>
                <a:cs typeface="Calibri" pitchFamily="34" charset="-120"/>
              </a:rPr>
              <a:t>Shown here as working mockups, illustrative data throughout.</a:t>
            </a:r>
            <a:endParaRPr lang="en-US" sz="1350" dirty="0"/>
          </a:p>
          <a:p>
            <a:pPr marL="177800" indent="-177800">
              <a:spcAft>
                <a:spcPts val="800"/>
              </a:spcAft>
              <a:buSzPct val="100000"/>
              <a:buChar char="•"/>
            </a:pPr>
            <a:r>
              <a:rPr lang="en-US" sz="1350" dirty="0">
                <a:solidFill>
                  <a:srgbClr val="1D1A15"/>
                </a:solidFill>
                <a:latin typeface="Calibri" pitchFamily="34" charset="0"/>
                <a:ea typeface="Calibri" pitchFamily="34" charset="-122"/>
                <a:cs typeface="Calibri" pitchFamily="34" charset="-120"/>
              </a:rPr>
              <a:t>One dashboard as the single operating view.</a:t>
            </a:r>
            <a:endParaRPr lang="en-US" sz="1350" dirty="0"/>
          </a:p>
        </p:txBody>
      </p:sp>
      <p:sp>
        <p:nvSpPr>
          <p:cNvPr id="6" name="Shape 4"/>
          <p:cNvSpPr/>
          <p:nvPr/>
        </p:nvSpPr>
        <p:spPr>
          <a:xfrm>
            <a:off x="7040880" y="1645920"/>
            <a:ext cx="4480560" cy="3566160"/>
          </a:xfrm>
          <a:prstGeom prst="roundRect">
            <a:avLst>
              <a:gd name="adj" fmla="val 3077"/>
            </a:avLst>
          </a:prstGeom>
          <a:solidFill>
            <a:srgbClr val="FFFFFF"/>
          </a:solidFill>
          <a:ln w="12700">
            <a:solidFill>
              <a:srgbClr val="E4DCC9"/>
            </a:solidFill>
            <a:prstDash val="solid"/>
          </a:ln>
          <a:effectLst>
            <a:outerShdw sx="100000" sy="100000" kx="0" ky="0" algn="bl" rotWithShape="0" blurRad="127000" dist="38100" dir="5400000">
              <a:srgbClr val="6B6252">
                <a:alpha val="35000"/>
              </a:srgbClr>
            </a:outerShdw>
          </a:effectLst>
        </p:spPr>
      </p:sp>
      <p:sp>
        <p:nvSpPr>
          <p:cNvPr id="7" name="Shape 5"/>
          <p:cNvSpPr/>
          <p:nvPr/>
        </p:nvSpPr>
        <p:spPr>
          <a:xfrm>
            <a:off x="7040880" y="1645920"/>
            <a:ext cx="4480560" cy="384048"/>
          </a:xfrm>
          <a:prstGeom prst="roundRect">
            <a:avLst>
              <a:gd name="adj" fmla="val 28571"/>
            </a:avLst>
          </a:prstGeom>
          <a:solidFill>
            <a:srgbClr val="FBFAF6"/>
          </a:solidFill>
          <a:ln/>
        </p:spPr>
      </p:sp>
      <p:sp>
        <p:nvSpPr>
          <p:cNvPr id="8" name="Shape 6"/>
          <p:cNvSpPr/>
          <p:nvPr/>
        </p:nvSpPr>
        <p:spPr>
          <a:xfrm>
            <a:off x="7040880" y="1901952"/>
            <a:ext cx="4480560" cy="128016"/>
          </a:xfrm>
          <a:prstGeom prst="rect">
            <a:avLst/>
          </a:prstGeom>
          <a:solidFill>
            <a:srgbClr val="FBFAF6"/>
          </a:solidFill>
          <a:ln/>
        </p:spPr>
      </p:sp>
      <p:sp>
        <p:nvSpPr>
          <p:cNvPr id="9" name="Shape 7"/>
          <p:cNvSpPr/>
          <p:nvPr/>
        </p:nvSpPr>
        <p:spPr>
          <a:xfrm>
            <a:off x="7205472" y="1783080"/>
            <a:ext cx="100584" cy="100584"/>
          </a:xfrm>
          <a:prstGeom prst="ellipse">
            <a:avLst/>
          </a:prstGeom>
          <a:solidFill>
            <a:srgbClr val="C9BFA9"/>
          </a:solidFill>
          <a:ln/>
        </p:spPr>
      </p:sp>
      <p:sp>
        <p:nvSpPr>
          <p:cNvPr id="10" name="Shape 8"/>
          <p:cNvSpPr/>
          <p:nvPr/>
        </p:nvSpPr>
        <p:spPr>
          <a:xfrm>
            <a:off x="7388352" y="1783080"/>
            <a:ext cx="100584" cy="100584"/>
          </a:xfrm>
          <a:prstGeom prst="ellipse">
            <a:avLst/>
          </a:prstGeom>
          <a:solidFill>
            <a:srgbClr val="C9BFA9"/>
          </a:solidFill>
          <a:ln/>
        </p:spPr>
      </p:sp>
      <p:sp>
        <p:nvSpPr>
          <p:cNvPr id="11" name="Shape 9"/>
          <p:cNvSpPr/>
          <p:nvPr/>
        </p:nvSpPr>
        <p:spPr>
          <a:xfrm>
            <a:off x="7571232" y="1783080"/>
            <a:ext cx="100584" cy="100584"/>
          </a:xfrm>
          <a:prstGeom prst="ellipse">
            <a:avLst/>
          </a:prstGeom>
          <a:solidFill>
            <a:srgbClr val="C9BFA9"/>
          </a:solidFill>
          <a:ln/>
        </p:spPr>
      </p:sp>
      <p:sp>
        <p:nvSpPr>
          <p:cNvPr id="12" name="Text 10"/>
          <p:cNvSpPr txBox="1"/>
          <p:nvPr/>
        </p:nvSpPr>
        <p:spPr>
          <a:xfrm>
            <a:off x="7818120" y="1673352"/>
            <a:ext cx="3566160" cy="329184"/>
          </a:xfrm>
          <a:prstGeom prst="rect">
            <a:avLst/>
          </a:prstGeom>
          <a:noFill/>
          <a:ln/>
        </p:spPr>
        <p:txBody>
          <a:bodyPr wrap="square" lIns="0" tIns="0" rIns="0" bIns="0" rtlCol="0" anchor="ctr"/>
          <a:lstStyle/>
          <a:p>
            <a:pPr indent="0" marL="0">
              <a:buNone/>
            </a:pPr>
            <a:r>
              <a:rPr lang="en-US" sz="900" dirty="0">
                <a:solidFill>
                  <a:srgbClr val="7A7266"/>
                </a:solidFill>
                <a:latin typeface="Calibri" pitchFamily="34" charset="0"/>
                <a:ea typeface="Calibri" pitchFamily="34" charset="-122"/>
                <a:cs typeface="Calibri" pitchFamily="34" charset="-120"/>
              </a:rPr>
              <a:t>three surfaces</a:t>
            </a:r>
            <a:endParaRPr lang="en-US" sz="900" dirty="0"/>
          </a:p>
        </p:txBody>
      </p:sp>
      <p:sp>
        <p:nvSpPr>
          <p:cNvPr id="13" name="Shape 11"/>
          <p:cNvSpPr/>
          <p:nvPr/>
        </p:nvSpPr>
        <p:spPr>
          <a:xfrm>
            <a:off x="7040880" y="2029968"/>
            <a:ext cx="4480560" cy="0"/>
          </a:xfrm>
          <a:prstGeom prst="line">
            <a:avLst/>
          </a:prstGeom>
          <a:noFill/>
          <a:ln w="12700">
            <a:solidFill>
              <a:srgbClr val="E4DCC9"/>
            </a:solidFill>
            <a:prstDash val="solid"/>
          </a:ln>
        </p:spPr>
      </p:sp>
      <p:sp>
        <p:nvSpPr>
          <p:cNvPr id="14" name="Shape 12"/>
          <p:cNvSpPr/>
          <p:nvPr/>
        </p:nvSpPr>
        <p:spPr>
          <a:xfrm>
            <a:off x="7296912" y="2212848"/>
            <a:ext cx="1231392" cy="2121408"/>
          </a:xfrm>
          <a:prstGeom prst="roundRect">
            <a:avLst>
              <a:gd name="adj" fmla="val 4455"/>
            </a:avLst>
          </a:prstGeom>
          <a:solidFill>
            <a:srgbClr val="FBFAF6"/>
          </a:solidFill>
          <a:ln w="12700">
            <a:solidFill>
              <a:srgbClr val="E4DCC9"/>
            </a:solidFill>
            <a:prstDash val="solid"/>
          </a:ln>
        </p:spPr>
      </p:sp>
      <p:sp>
        <p:nvSpPr>
          <p:cNvPr id="15" name="Text 13"/>
          <p:cNvSpPr txBox="1"/>
          <p:nvPr/>
        </p:nvSpPr>
        <p:spPr>
          <a:xfrm>
            <a:off x="7370064" y="2441448"/>
            <a:ext cx="1085088" cy="457200"/>
          </a:xfrm>
          <a:prstGeom prst="rect">
            <a:avLst/>
          </a:prstGeom>
          <a:noFill/>
          <a:ln/>
        </p:spPr>
        <p:txBody>
          <a:bodyPr wrap="square" lIns="0" tIns="0" rIns="0" bIns="0" rtlCol="0" anchor="ctr"/>
          <a:lstStyle/>
          <a:p>
            <a:pPr algn="ctr" indent="0" marL="0">
              <a:buNone/>
            </a:pPr>
            <a:r>
              <a:rPr lang="en-US" sz="1200" b="1" dirty="0">
                <a:solidFill>
                  <a:srgbClr val="1D1A15"/>
                </a:solidFill>
                <a:latin typeface="Georgia" pitchFamily="34" charset="0"/>
                <a:ea typeface="Georgia" pitchFamily="34" charset="-122"/>
                <a:cs typeface="Georgia" pitchFamily="34" charset="-120"/>
              </a:rPr>
              <a:t>Public site</a:t>
            </a:r>
            <a:endParaRPr lang="en-US" sz="1200" dirty="0"/>
          </a:p>
        </p:txBody>
      </p:sp>
      <p:sp>
        <p:nvSpPr>
          <p:cNvPr id="16" name="Text 14"/>
          <p:cNvSpPr txBox="1"/>
          <p:nvPr/>
        </p:nvSpPr>
        <p:spPr>
          <a:xfrm>
            <a:off x="7351776" y="2990088"/>
            <a:ext cx="1121664" cy="731520"/>
          </a:xfrm>
          <a:prstGeom prst="rect">
            <a:avLst/>
          </a:prstGeom>
          <a:noFill/>
          <a:ln/>
        </p:spPr>
        <p:txBody>
          <a:bodyPr wrap="square" lIns="0" tIns="0" rIns="0" bIns="0" rtlCol="0" anchor="ctr"/>
          <a:lstStyle/>
          <a:p>
            <a:pPr algn="ctr" indent="0" marL="0">
              <a:buNone/>
            </a:pPr>
            <a:r>
              <a:rPr lang="en-US" sz="850" dirty="0">
                <a:solidFill>
                  <a:srgbClr val="7A7266"/>
                </a:solidFill>
                <a:latin typeface="Calibri" pitchFamily="34" charset="0"/>
                <a:ea typeface="Calibri" pitchFamily="34" charset="-122"/>
                <a:cs typeface="Calibri" pitchFamily="34" charset="-120"/>
              </a:rPr>
              <a:t>Marketing · sign-ups</a:t>
            </a:r>
            <a:endParaRPr lang="en-US" sz="850" dirty="0"/>
          </a:p>
        </p:txBody>
      </p:sp>
      <p:sp>
        <p:nvSpPr>
          <p:cNvPr id="17" name="Shape 15"/>
          <p:cNvSpPr/>
          <p:nvPr/>
        </p:nvSpPr>
        <p:spPr>
          <a:xfrm>
            <a:off x="8665464" y="2212848"/>
            <a:ext cx="1231392" cy="2121408"/>
          </a:xfrm>
          <a:prstGeom prst="roundRect">
            <a:avLst>
              <a:gd name="adj" fmla="val 4455"/>
            </a:avLst>
          </a:prstGeom>
          <a:solidFill>
            <a:srgbClr val="FBFAF6"/>
          </a:solidFill>
          <a:ln w="12700">
            <a:solidFill>
              <a:srgbClr val="E4DCC9"/>
            </a:solidFill>
            <a:prstDash val="solid"/>
          </a:ln>
        </p:spPr>
      </p:sp>
      <p:sp>
        <p:nvSpPr>
          <p:cNvPr id="18" name="Text 16"/>
          <p:cNvSpPr txBox="1"/>
          <p:nvPr/>
        </p:nvSpPr>
        <p:spPr>
          <a:xfrm>
            <a:off x="8738616" y="2441448"/>
            <a:ext cx="1085088" cy="457200"/>
          </a:xfrm>
          <a:prstGeom prst="rect">
            <a:avLst/>
          </a:prstGeom>
          <a:noFill/>
          <a:ln/>
        </p:spPr>
        <p:txBody>
          <a:bodyPr wrap="square" lIns="0" tIns="0" rIns="0" bIns="0" rtlCol="0" anchor="ctr"/>
          <a:lstStyle/>
          <a:p>
            <a:pPr algn="ctr" indent="0" marL="0">
              <a:buNone/>
            </a:pPr>
            <a:r>
              <a:rPr lang="en-US" sz="1200" b="1" dirty="0">
                <a:solidFill>
                  <a:srgbClr val="1D1A15"/>
                </a:solidFill>
                <a:latin typeface="Georgia" pitchFamily="34" charset="0"/>
                <a:ea typeface="Georgia" pitchFamily="34" charset="-122"/>
                <a:cs typeface="Georgia" pitchFamily="34" charset="-120"/>
              </a:rPr>
              <a:t>Staff portal</a:t>
            </a:r>
            <a:endParaRPr lang="en-US" sz="1200" dirty="0"/>
          </a:p>
        </p:txBody>
      </p:sp>
      <p:sp>
        <p:nvSpPr>
          <p:cNvPr id="19" name="Text 17"/>
          <p:cNvSpPr txBox="1"/>
          <p:nvPr/>
        </p:nvSpPr>
        <p:spPr>
          <a:xfrm>
            <a:off x="8720328" y="2990088"/>
            <a:ext cx="1121664" cy="731520"/>
          </a:xfrm>
          <a:prstGeom prst="rect">
            <a:avLst/>
          </a:prstGeom>
          <a:noFill/>
          <a:ln/>
        </p:spPr>
        <p:txBody>
          <a:bodyPr wrap="square" lIns="0" tIns="0" rIns="0" bIns="0" rtlCol="0" anchor="ctr"/>
          <a:lstStyle/>
          <a:p>
            <a:pPr algn="ctr" indent="0" marL="0">
              <a:buNone/>
            </a:pPr>
            <a:r>
              <a:rPr lang="en-US" sz="850" dirty="0">
                <a:solidFill>
                  <a:srgbClr val="7A7266"/>
                </a:solidFill>
                <a:latin typeface="Calibri" pitchFamily="34" charset="0"/>
                <a:ea typeface="Calibri" pitchFamily="34" charset="-122"/>
                <a:cs typeface="Calibri" pitchFamily="34" charset="-120"/>
              </a:rPr>
              <a:t>Hubs · inbox · flows</a:t>
            </a:r>
            <a:endParaRPr lang="en-US" sz="850" dirty="0"/>
          </a:p>
        </p:txBody>
      </p:sp>
      <p:sp>
        <p:nvSpPr>
          <p:cNvPr id="20" name="Shape 18"/>
          <p:cNvSpPr/>
          <p:nvPr/>
        </p:nvSpPr>
        <p:spPr>
          <a:xfrm>
            <a:off x="10034016" y="2212848"/>
            <a:ext cx="1231392" cy="2121408"/>
          </a:xfrm>
          <a:prstGeom prst="roundRect">
            <a:avLst>
              <a:gd name="adj" fmla="val 4455"/>
            </a:avLst>
          </a:prstGeom>
          <a:solidFill>
            <a:srgbClr val="FBFAF6"/>
          </a:solidFill>
          <a:ln w="12700">
            <a:solidFill>
              <a:srgbClr val="E4DCC9"/>
            </a:solidFill>
            <a:prstDash val="solid"/>
          </a:ln>
        </p:spPr>
      </p:sp>
      <p:sp>
        <p:nvSpPr>
          <p:cNvPr id="21" name="Text 19"/>
          <p:cNvSpPr txBox="1"/>
          <p:nvPr/>
        </p:nvSpPr>
        <p:spPr>
          <a:xfrm>
            <a:off x="10107168" y="2441448"/>
            <a:ext cx="1085088" cy="457200"/>
          </a:xfrm>
          <a:prstGeom prst="rect">
            <a:avLst/>
          </a:prstGeom>
          <a:noFill/>
          <a:ln/>
        </p:spPr>
        <p:txBody>
          <a:bodyPr wrap="square" lIns="0" tIns="0" rIns="0" bIns="0" rtlCol="0" anchor="ctr"/>
          <a:lstStyle/>
          <a:p>
            <a:pPr algn="ctr" indent="0" marL="0">
              <a:buNone/>
            </a:pPr>
            <a:r>
              <a:rPr lang="en-US" sz="1200" b="1" dirty="0">
                <a:solidFill>
                  <a:srgbClr val="1D1A15"/>
                </a:solidFill>
                <a:latin typeface="Georgia" pitchFamily="34" charset="0"/>
                <a:ea typeface="Georgia" pitchFamily="34" charset="-122"/>
                <a:cs typeface="Georgia" pitchFamily="34" charset="-120"/>
              </a:rPr>
              <a:t>School Portal</a:t>
            </a:r>
            <a:endParaRPr lang="en-US" sz="1200" dirty="0"/>
          </a:p>
        </p:txBody>
      </p:sp>
      <p:sp>
        <p:nvSpPr>
          <p:cNvPr id="22" name="Text 20"/>
          <p:cNvSpPr txBox="1"/>
          <p:nvPr/>
        </p:nvSpPr>
        <p:spPr>
          <a:xfrm>
            <a:off x="10088880" y="2990088"/>
            <a:ext cx="1121664" cy="731520"/>
          </a:xfrm>
          <a:prstGeom prst="rect">
            <a:avLst/>
          </a:prstGeom>
          <a:noFill/>
          <a:ln/>
        </p:spPr>
        <p:txBody>
          <a:bodyPr wrap="square" lIns="0" tIns="0" rIns="0" bIns="0" rtlCol="0" anchor="ctr"/>
          <a:lstStyle/>
          <a:p>
            <a:pPr algn="ctr" indent="0" marL="0">
              <a:buNone/>
            </a:pPr>
            <a:r>
              <a:rPr lang="en-US" sz="850" dirty="0">
                <a:solidFill>
                  <a:srgbClr val="7A7266"/>
                </a:solidFill>
                <a:latin typeface="Calibri" pitchFamily="34" charset="0"/>
                <a:ea typeface="Calibri" pitchFamily="34" charset="-122"/>
                <a:cs typeface="Calibri" pitchFamily="34" charset="-120"/>
              </a:rPr>
              <a:t>Self-serve onboarding</a:t>
            </a:r>
            <a:endParaRPr lang="en-US" sz="850" dirty="0"/>
          </a:p>
        </p:txBody>
      </p:sp>
      <p:sp>
        <p:nvSpPr>
          <p:cNvPr id="23" name="Shape 21"/>
          <p:cNvSpPr/>
          <p:nvPr/>
        </p:nvSpPr>
        <p:spPr>
          <a:xfrm>
            <a:off x="7296912" y="4471416"/>
            <a:ext cx="3968496" cy="457200"/>
          </a:xfrm>
          <a:prstGeom prst="roundRect">
            <a:avLst>
              <a:gd name="adj" fmla="val 12000"/>
            </a:avLst>
          </a:prstGeom>
          <a:solidFill>
            <a:srgbClr val="F0E9D8"/>
          </a:solidFill>
          <a:ln w="12700">
            <a:solidFill>
              <a:srgbClr val="E4DCC9"/>
            </a:solidFill>
            <a:prstDash val="dash"/>
          </a:ln>
        </p:spPr>
      </p:sp>
      <p:sp>
        <p:nvSpPr>
          <p:cNvPr id="24" name="Text 22"/>
          <p:cNvSpPr txBox="1"/>
          <p:nvPr/>
        </p:nvSpPr>
        <p:spPr>
          <a:xfrm>
            <a:off x="7296912" y="4462272"/>
            <a:ext cx="3968496" cy="457200"/>
          </a:xfrm>
          <a:prstGeom prst="rect">
            <a:avLst/>
          </a:prstGeom>
          <a:noFill/>
          <a:ln/>
        </p:spPr>
        <p:txBody>
          <a:bodyPr wrap="square" lIns="0" tIns="0" rIns="0" bIns="0" rtlCol="0" anchor="ctr"/>
          <a:lstStyle/>
          <a:p>
            <a:pPr algn="ctr" indent="0" marL="0">
              <a:buNone/>
            </a:pPr>
            <a:r>
              <a:rPr lang="en-US" sz="850" dirty="0">
                <a:solidFill>
                  <a:srgbClr val="7A7266"/>
                </a:solidFill>
                <a:latin typeface="Calibri" pitchFamily="34" charset="0"/>
                <a:ea typeface="Calibri" pitchFamily="34" charset="-122"/>
                <a:cs typeface="Calibri" pitchFamily="34" charset="-120"/>
              </a:rPr>
              <a:t>The data behind it all: Salesforce, the learning platform, and one secure database</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822960" y="777240"/>
            <a:ext cx="7315200" cy="274320"/>
          </a:xfrm>
          <a:prstGeom prst="rect">
            <a:avLst/>
          </a:prstGeom>
          <a:noFill/>
          <a:ln/>
        </p:spPr>
        <p:txBody>
          <a:bodyPr wrap="square" lIns="0" tIns="0" rIns="0" bIns="0" rtlCol="0" anchor="ctr"/>
          <a:lstStyle/>
          <a:p>
            <a:pPr indent="0" marL="0">
              <a:buNone/>
            </a:pPr>
            <a:r>
              <a:rPr lang="en-US" sz="1100" b="1" spc="300" kern="0" dirty="0">
                <a:solidFill>
                  <a:srgbClr val="9C7C2E"/>
                </a:solidFill>
                <a:latin typeface="Calibri" pitchFamily="34" charset="0"/>
                <a:ea typeface="Calibri" pitchFamily="34" charset="-122"/>
                <a:cs typeface="Calibri" pitchFamily="34" charset="-120"/>
              </a:rPr>
              <a:t>THE PLAN · BUILD PHASES</a:t>
            </a:r>
            <a:endParaRPr lang="en-US" sz="1100" dirty="0"/>
          </a:p>
        </p:txBody>
      </p:sp>
      <p:sp>
        <p:nvSpPr>
          <p:cNvPr id="3" name="Text 1"/>
          <p:cNvSpPr txBox="1"/>
          <p:nvPr/>
        </p:nvSpPr>
        <p:spPr>
          <a:xfrm>
            <a:off x="822960" y="1143000"/>
            <a:ext cx="10515600" cy="822960"/>
          </a:xfrm>
          <a:prstGeom prst="rect">
            <a:avLst/>
          </a:prstGeom>
          <a:noFill/>
          <a:ln/>
        </p:spPr>
        <p:txBody>
          <a:bodyPr wrap="square" lIns="0" tIns="0" rIns="0" bIns="0" rtlCol="0" anchor="t"/>
          <a:lstStyle/>
          <a:p>
            <a:pPr indent="0" marL="0">
              <a:buNone/>
            </a:pPr>
            <a:r>
              <a:rPr lang="en-US" sz="3000" b="1" dirty="0">
                <a:solidFill>
                  <a:srgbClr val="1D1A15"/>
                </a:solidFill>
                <a:latin typeface="Georgia" pitchFamily="34" charset="0"/>
                <a:ea typeface="Georgia" pitchFamily="34" charset="-122"/>
                <a:cs typeface="Georgia" pitchFamily="34" charset="-120"/>
              </a:rPr>
              <a:t>How we’ll build it, in three phases</a:t>
            </a:r>
            <a:endParaRPr lang="en-US" sz="3000" dirty="0"/>
          </a:p>
        </p:txBody>
      </p:sp>
      <p:sp>
        <p:nvSpPr>
          <p:cNvPr id="4" name="Shape 2"/>
          <p:cNvSpPr/>
          <p:nvPr/>
        </p:nvSpPr>
        <p:spPr>
          <a:xfrm>
            <a:off x="822960" y="2286000"/>
            <a:ext cx="3270504" cy="3977640"/>
          </a:xfrm>
          <a:prstGeom prst="roundRect">
            <a:avLst>
              <a:gd name="adj" fmla="val 3355"/>
            </a:avLst>
          </a:prstGeom>
          <a:solidFill>
            <a:srgbClr val="FFFFFF"/>
          </a:solidFill>
          <a:ln w="12700">
            <a:solidFill>
              <a:srgbClr val="E4DCC9"/>
            </a:solidFill>
            <a:prstDash val="solid"/>
          </a:ln>
          <a:effectLst>
            <a:outerShdw sx="100000" sy="100000" kx="0" ky="0" algn="bl" rotWithShape="0" blurRad="127000" dist="38100" dir="5400000">
              <a:srgbClr val="6B6252">
                <a:alpha val="35000"/>
              </a:srgbClr>
            </a:outerShdw>
          </a:effectLst>
        </p:spPr>
      </p:sp>
      <p:sp>
        <p:nvSpPr>
          <p:cNvPr id="5" name="Shape 3"/>
          <p:cNvSpPr/>
          <p:nvPr/>
        </p:nvSpPr>
        <p:spPr>
          <a:xfrm>
            <a:off x="1115568" y="2578608"/>
            <a:ext cx="457200" cy="457200"/>
          </a:xfrm>
          <a:prstGeom prst="ellipse">
            <a:avLst/>
          </a:prstGeom>
          <a:solidFill>
            <a:srgbClr val="9C7C2E"/>
          </a:solidFill>
          <a:ln/>
        </p:spPr>
      </p:sp>
      <p:sp>
        <p:nvSpPr>
          <p:cNvPr id="6" name="Text 4"/>
          <p:cNvSpPr txBox="1"/>
          <p:nvPr/>
        </p:nvSpPr>
        <p:spPr>
          <a:xfrm>
            <a:off x="1115568" y="2569464"/>
            <a:ext cx="457200"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7" name="Text 5"/>
          <p:cNvSpPr txBox="1"/>
          <p:nvPr/>
        </p:nvSpPr>
        <p:spPr>
          <a:xfrm>
            <a:off x="1682496" y="2651760"/>
            <a:ext cx="2337816" cy="274320"/>
          </a:xfrm>
          <a:prstGeom prst="rect">
            <a:avLst/>
          </a:prstGeom>
          <a:noFill/>
          <a:ln/>
        </p:spPr>
        <p:txBody>
          <a:bodyPr wrap="square" lIns="0" tIns="0" rIns="0" bIns="0" rtlCol="0" anchor="ctr"/>
          <a:lstStyle/>
          <a:p>
            <a:pPr indent="0" marL="0">
              <a:buNone/>
            </a:pPr>
            <a:r>
              <a:rPr lang="en-US" sz="900" b="1" spc="200" kern="0" dirty="0">
                <a:solidFill>
                  <a:srgbClr val="9C7C2E"/>
                </a:solidFill>
                <a:latin typeface="Calibri" pitchFamily="34" charset="0"/>
                <a:ea typeface="Calibri" pitchFamily="34" charset="-122"/>
                <a:cs typeface="Calibri" pitchFamily="34" charset="-120"/>
              </a:rPr>
              <a:t>PHASE 1</a:t>
            </a:r>
            <a:endParaRPr lang="en-US" sz="900" dirty="0"/>
          </a:p>
        </p:txBody>
      </p:sp>
      <p:sp>
        <p:nvSpPr>
          <p:cNvPr id="8" name="Shape 6"/>
          <p:cNvSpPr/>
          <p:nvPr/>
        </p:nvSpPr>
        <p:spPr>
          <a:xfrm>
            <a:off x="1115568" y="3218688"/>
            <a:ext cx="1394460" cy="274320"/>
          </a:xfrm>
          <a:prstGeom prst="roundRect">
            <a:avLst>
              <a:gd name="adj" fmla="val 50000"/>
            </a:avLst>
          </a:prstGeom>
          <a:solidFill>
            <a:srgbClr val="F3E7C8"/>
          </a:solidFill>
          <a:ln w="9525">
            <a:solidFill>
              <a:srgbClr val="9C7C2E"/>
            </a:solidFill>
            <a:prstDash val="solid"/>
          </a:ln>
        </p:spPr>
      </p:sp>
      <p:sp>
        <p:nvSpPr>
          <p:cNvPr id="9" name="Text 7"/>
          <p:cNvSpPr txBox="1"/>
          <p:nvPr/>
        </p:nvSpPr>
        <p:spPr>
          <a:xfrm>
            <a:off x="1115568" y="3209544"/>
            <a:ext cx="1394460" cy="283464"/>
          </a:xfrm>
          <a:prstGeom prst="rect">
            <a:avLst/>
          </a:prstGeom>
          <a:noFill/>
          <a:ln/>
        </p:spPr>
        <p:txBody>
          <a:bodyPr wrap="square" lIns="0" tIns="0" rIns="0" bIns="0" rtlCol="0" anchor="ctr"/>
          <a:lstStyle/>
          <a:p>
            <a:pPr algn="ctr" indent="0" marL="0">
              <a:buNone/>
            </a:pPr>
            <a:r>
              <a:rPr lang="en-US" sz="800" b="1" dirty="0">
                <a:solidFill>
                  <a:srgbClr val="7A5A12"/>
                </a:solidFill>
                <a:latin typeface="Calibri" pitchFamily="34" charset="0"/>
                <a:ea typeface="Calibri" pitchFamily="34" charset="-122"/>
                <a:cs typeface="Calibri" pitchFamily="34" charset="-120"/>
              </a:rPr>
              <a:t>Goes live first</a:t>
            </a:r>
            <a:endParaRPr lang="en-US" sz="800" dirty="0"/>
          </a:p>
        </p:txBody>
      </p:sp>
      <p:sp>
        <p:nvSpPr>
          <p:cNvPr id="10" name="Text 8"/>
          <p:cNvSpPr txBox="1"/>
          <p:nvPr/>
        </p:nvSpPr>
        <p:spPr>
          <a:xfrm>
            <a:off x="1115568" y="3639312"/>
            <a:ext cx="2685288" cy="457200"/>
          </a:xfrm>
          <a:prstGeom prst="rect">
            <a:avLst/>
          </a:prstGeom>
          <a:noFill/>
          <a:ln/>
        </p:spPr>
        <p:txBody>
          <a:bodyPr wrap="square" lIns="0" tIns="0" rIns="0" bIns="0" rtlCol="0" anchor="t"/>
          <a:lstStyle/>
          <a:p>
            <a:pPr indent="0" marL="0">
              <a:buNone/>
            </a:pPr>
            <a:r>
              <a:rPr lang="en-US" sz="1500" b="1" dirty="0">
                <a:solidFill>
                  <a:srgbClr val="1D1A15"/>
                </a:solidFill>
                <a:latin typeface="Georgia" pitchFamily="34" charset="0"/>
                <a:ea typeface="Georgia" pitchFamily="34" charset="-122"/>
                <a:cs typeface="Georgia" pitchFamily="34" charset="-120"/>
              </a:rPr>
              <a:t>The public website</a:t>
            </a:r>
            <a:endParaRPr lang="en-US" sz="1500" dirty="0"/>
          </a:p>
        </p:txBody>
      </p:sp>
      <p:sp>
        <p:nvSpPr>
          <p:cNvPr id="11" name="Text 9"/>
          <p:cNvSpPr txBox="1"/>
          <p:nvPr/>
        </p:nvSpPr>
        <p:spPr>
          <a:xfrm>
            <a:off x="1115568" y="4096512"/>
            <a:ext cx="2685288" cy="548640"/>
          </a:xfrm>
          <a:prstGeom prst="rect">
            <a:avLst/>
          </a:prstGeom>
          <a:noFill/>
          <a:ln/>
        </p:spPr>
        <p:txBody>
          <a:bodyPr wrap="square" lIns="0" tIns="0" rIns="0" bIns="0" rtlCol="0" anchor="t"/>
          <a:lstStyle/>
          <a:p>
            <a:pPr indent="0" marL="0">
              <a:lnSpc>
                <a:spcPct val="110000"/>
              </a:lnSpc>
              <a:buNone/>
            </a:pPr>
            <a:r>
              <a:rPr lang="en-US" sz="900" dirty="0">
                <a:solidFill>
                  <a:srgbClr val="7A7266"/>
                </a:solidFill>
                <a:latin typeface="Calibri" pitchFamily="34" charset="0"/>
                <a:ea typeface="Calibri" pitchFamily="34" charset="-122"/>
                <a:cs typeface="Calibri" pitchFamily="34" charset="-120"/>
              </a:rPr>
              <a:t>The front-facing site, the first thing we take live.</a:t>
            </a:r>
            <a:endParaRPr lang="en-US" sz="900" dirty="0"/>
          </a:p>
        </p:txBody>
      </p:sp>
      <p:sp>
        <p:nvSpPr>
          <p:cNvPr id="12" name="Shape 10"/>
          <p:cNvSpPr/>
          <p:nvPr/>
        </p:nvSpPr>
        <p:spPr>
          <a:xfrm>
            <a:off x="1115568" y="4736592"/>
            <a:ext cx="73152" cy="73152"/>
          </a:xfrm>
          <a:prstGeom prst="ellipse">
            <a:avLst/>
          </a:prstGeom>
          <a:solidFill>
            <a:srgbClr val="9C7C2E"/>
          </a:solidFill>
          <a:ln/>
        </p:spPr>
      </p:sp>
      <p:sp>
        <p:nvSpPr>
          <p:cNvPr id="13" name="Text 11"/>
          <p:cNvSpPr txBox="1"/>
          <p:nvPr/>
        </p:nvSpPr>
        <p:spPr>
          <a:xfrm>
            <a:off x="1298448" y="4654296"/>
            <a:ext cx="2502408" cy="310896"/>
          </a:xfrm>
          <a:prstGeom prst="rect">
            <a:avLst/>
          </a:prstGeom>
          <a:noFill/>
          <a:ln/>
        </p:spPr>
        <p:txBody>
          <a:bodyPr wrap="square" lIns="0" tIns="0" rIns="0" bIns="0" rtlCol="0" anchor="ctr"/>
          <a:lstStyle/>
          <a:p>
            <a:pPr indent="0" marL="0">
              <a:buNone/>
            </a:pPr>
            <a:r>
              <a:rPr lang="en-US" sz="950" dirty="0">
                <a:solidFill>
                  <a:srgbClr val="1D1A15"/>
                </a:solidFill>
                <a:latin typeface="Calibri" pitchFamily="34" charset="0"/>
                <a:ea typeface="Calibri" pitchFamily="34" charset="-122"/>
                <a:cs typeface="Calibri" pitchFamily="34" charset="-120"/>
              </a:rPr>
              <a:t>Marketing website</a:t>
            </a:r>
            <a:endParaRPr lang="en-US" sz="950" dirty="0"/>
          </a:p>
        </p:txBody>
      </p:sp>
      <p:sp>
        <p:nvSpPr>
          <p:cNvPr id="14" name="Shape 12"/>
          <p:cNvSpPr/>
          <p:nvPr/>
        </p:nvSpPr>
        <p:spPr>
          <a:xfrm>
            <a:off x="1115568" y="5084064"/>
            <a:ext cx="73152" cy="73152"/>
          </a:xfrm>
          <a:prstGeom prst="ellipse">
            <a:avLst/>
          </a:prstGeom>
          <a:solidFill>
            <a:srgbClr val="9C7C2E"/>
          </a:solidFill>
          <a:ln/>
        </p:spPr>
      </p:sp>
      <p:sp>
        <p:nvSpPr>
          <p:cNvPr id="15" name="Text 13"/>
          <p:cNvSpPr txBox="1"/>
          <p:nvPr/>
        </p:nvSpPr>
        <p:spPr>
          <a:xfrm>
            <a:off x="1298448" y="5001768"/>
            <a:ext cx="2502408" cy="310896"/>
          </a:xfrm>
          <a:prstGeom prst="rect">
            <a:avLst/>
          </a:prstGeom>
          <a:noFill/>
          <a:ln/>
        </p:spPr>
        <p:txBody>
          <a:bodyPr wrap="square" lIns="0" tIns="0" rIns="0" bIns="0" rtlCol="0" anchor="ctr"/>
          <a:lstStyle/>
          <a:p>
            <a:pPr indent="0" marL="0">
              <a:buNone/>
            </a:pPr>
            <a:r>
              <a:rPr lang="en-US" sz="950" dirty="0">
                <a:solidFill>
                  <a:srgbClr val="1D1A15"/>
                </a:solidFill>
                <a:latin typeface="Calibri" pitchFamily="34" charset="0"/>
                <a:ea typeface="Calibri" pitchFamily="34" charset="-122"/>
                <a:cs typeface="Calibri" pitchFamily="34" charset="-120"/>
              </a:rPr>
              <a:t>Shop &amp; checkout</a:t>
            </a:r>
            <a:endParaRPr lang="en-US" sz="950" dirty="0"/>
          </a:p>
        </p:txBody>
      </p:sp>
      <p:sp>
        <p:nvSpPr>
          <p:cNvPr id="16" name="Shape 14"/>
          <p:cNvSpPr/>
          <p:nvPr/>
        </p:nvSpPr>
        <p:spPr>
          <a:xfrm>
            <a:off x="1115568" y="5431536"/>
            <a:ext cx="73152" cy="73152"/>
          </a:xfrm>
          <a:prstGeom prst="ellipse">
            <a:avLst/>
          </a:prstGeom>
          <a:solidFill>
            <a:srgbClr val="9C7C2E"/>
          </a:solidFill>
          <a:ln/>
        </p:spPr>
      </p:sp>
      <p:sp>
        <p:nvSpPr>
          <p:cNvPr id="17" name="Text 15"/>
          <p:cNvSpPr txBox="1"/>
          <p:nvPr/>
        </p:nvSpPr>
        <p:spPr>
          <a:xfrm>
            <a:off x="1298448" y="5349240"/>
            <a:ext cx="2502408" cy="310896"/>
          </a:xfrm>
          <a:prstGeom prst="rect">
            <a:avLst/>
          </a:prstGeom>
          <a:noFill/>
          <a:ln/>
        </p:spPr>
        <p:txBody>
          <a:bodyPr wrap="square" lIns="0" tIns="0" rIns="0" bIns="0" rtlCol="0" anchor="ctr"/>
          <a:lstStyle/>
          <a:p>
            <a:pPr indent="0" marL="0">
              <a:buNone/>
            </a:pPr>
            <a:r>
              <a:rPr lang="en-US" sz="950" dirty="0">
                <a:solidFill>
                  <a:srgbClr val="1D1A15"/>
                </a:solidFill>
                <a:latin typeface="Calibri" pitchFamily="34" charset="0"/>
                <a:ea typeface="Calibri" pitchFamily="34" charset="-122"/>
                <a:cs typeface="Calibri" pitchFamily="34" charset="-120"/>
              </a:rPr>
              <a:t>Sign-up &amp; contact forms</a:t>
            </a:r>
            <a:endParaRPr lang="en-US" sz="950" dirty="0"/>
          </a:p>
        </p:txBody>
      </p:sp>
      <p:sp>
        <p:nvSpPr>
          <p:cNvPr id="18" name="Shape 16"/>
          <p:cNvSpPr/>
          <p:nvPr/>
        </p:nvSpPr>
        <p:spPr>
          <a:xfrm>
            <a:off x="1115568" y="5779008"/>
            <a:ext cx="73152" cy="73152"/>
          </a:xfrm>
          <a:prstGeom prst="ellipse">
            <a:avLst/>
          </a:prstGeom>
          <a:solidFill>
            <a:srgbClr val="9C7C2E"/>
          </a:solidFill>
          <a:ln/>
        </p:spPr>
      </p:sp>
      <p:sp>
        <p:nvSpPr>
          <p:cNvPr id="19" name="Text 17"/>
          <p:cNvSpPr txBox="1"/>
          <p:nvPr/>
        </p:nvSpPr>
        <p:spPr>
          <a:xfrm>
            <a:off x="1298448" y="5696712"/>
            <a:ext cx="2502408" cy="310896"/>
          </a:xfrm>
          <a:prstGeom prst="rect">
            <a:avLst/>
          </a:prstGeom>
          <a:noFill/>
          <a:ln/>
        </p:spPr>
        <p:txBody>
          <a:bodyPr wrap="square" lIns="0" tIns="0" rIns="0" bIns="0" rtlCol="0" anchor="ctr"/>
          <a:lstStyle/>
          <a:p>
            <a:pPr indent="0" marL="0">
              <a:buNone/>
            </a:pPr>
            <a:r>
              <a:rPr lang="en-US" sz="950" dirty="0">
                <a:solidFill>
                  <a:srgbClr val="1D1A15"/>
                </a:solidFill>
                <a:latin typeface="Calibri" pitchFamily="34" charset="0"/>
                <a:ea typeface="Calibri" pitchFamily="34" charset="-122"/>
                <a:cs typeface="Calibri" pitchFamily="34" charset="-120"/>
              </a:rPr>
              <a:t>Curriculum &amp; resources</a:t>
            </a:r>
            <a:endParaRPr lang="en-US" sz="950" dirty="0"/>
          </a:p>
        </p:txBody>
      </p:sp>
      <p:sp>
        <p:nvSpPr>
          <p:cNvPr id="20" name="Shape 18"/>
          <p:cNvSpPr/>
          <p:nvPr/>
        </p:nvSpPr>
        <p:spPr>
          <a:xfrm>
            <a:off x="4459224" y="2286000"/>
            <a:ext cx="3270504" cy="3977640"/>
          </a:xfrm>
          <a:prstGeom prst="roundRect">
            <a:avLst>
              <a:gd name="adj" fmla="val 3355"/>
            </a:avLst>
          </a:prstGeom>
          <a:solidFill>
            <a:srgbClr val="FFFFFF"/>
          </a:solidFill>
          <a:ln w="12700">
            <a:solidFill>
              <a:srgbClr val="E4DCC9"/>
            </a:solidFill>
            <a:prstDash val="solid"/>
          </a:ln>
          <a:effectLst>
            <a:outerShdw sx="100000" sy="100000" kx="0" ky="0" algn="bl" rotWithShape="0" blurRad="127000" dist="38100" dir="5400000">
              <a:srgbClr val="6B6252">
                <a:alpha val="35000"/>
              </a:srgbClr>
            </a:outerShdw>
          </a:effectLst>
        </p:spPr>
      </p:sp>
      <p:sp>
        <p:nvSpPr>
          <p:cNvPr id="21" name="Shape 19"/>
          <p:cNvSpPr/>
          <p:nvPr/>
        </p:nvSpPr>
        <p:spPr>
          <a:xfrm>
            <a:off x="4751832" y="2578608"/>
            <a:ext cx="457200" cy="457200"/>
          </a:xfrm>
          <a:prstGeom prst="ellipse">
            <a:avLst/>
          </a:prstGeom>
          <a:solidFill>
            <a:srgbClr val="9C7C2E"/>
          </a:solidFill>
          <a:ln/>
        </p:spPr>
      </p:sp>
      <p:sp>
        <p:nvSpPr>
          <p:cNvPr id="22" name="Text 20"/>
          <p:cNvSpPr txBox="1"/>
          <p:nvPr/>
        </p:nvSpPr>
        <p:spPr>
          <a:xfrm>
            <a:off x="4751832" y="2569464"/>
            <a:ext cx="457200"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23" name="Text 21"/>
          <p:cNvSpPr txBox="1"/>
          <p:nvPr/>
        </p:nvSpPr>
        <p:spPr>
          <a:xfrm>
            <a:off x="5318760" y="2651760"/>
            <a:ext cx="2337816" cy="274320"/>
          </a:xfrm>
          <a:prstGeom prst="rect">
            <a:avLst/>
          </a:prstGeom>
          <a:noFill/>
          <a:ln/>
        </p:spPr>
        <p:txBody>
          <a:bodyPr wrap="square" lIns="0" tIns="0" rIns="0" bIns="0" rtlCol="0" anchor="ctr"/>
          <a:lstStyle/>
          <a:p>
            <a:pPr indent="0" marL="0">
              <a:buNone/>
            </a:pPr>
            <a:r>
              <a:rPr lang="en-US" sz="900" b="1" spc="200" kern="0" dirty="0">
                <a:solidFill>
                  <a:srgbClr val="9C7C2E"/>
                </a:solidFill>
                <a:latin typeface="Calibri" pitchFamily="34" charset="0"/>
                <a:ea typeface="Calibri" pitchFamily="34" charset="-122"/>
                <a:cs typeface="Calibri" pitchFamily="34" charset="-120"/>
              </a:rPr>
              <a:t>PHASE 2</a:t>
            </a:r>
            <a:endParaRPr lang="en-US" sz="900" dirty="0"/>
          </a:p>
        </p:txBody>
      </p:sp>
      <p:sp>
        <p:nvSpPr>
          <p:cNvPr id="24" name="Shape 22"/>
          <p:cNvSpPr/>
          <p:nvPr/>
        </p:nvSpPr>
        <p:spPr>
          <a:xfrm>
            <a:off x="4751832" y="3218688"/>
            <a:ext cx="914400" cy="274320"/>
          </a:xfrm>
          <a:prstGeom prst="roundRect">
            <a:avLst>
              <a:gd name="adj" fmla="val 50000"/>
            </a:avLst>
          </a:prstGeom>
          <a:solidFill>
            <a:srgbClr val="F3E7C8"/>
          </a:solidFill>
          <a:ln w="9525">
            <a:solidFill>
              <a:srgbClr val="9C7C2E"/>
            </a:solidFill>
            <a:prstDash val="solid"/>
          </a:ln>
        </p:spPr>
      </p:sp>
      <p:sp>
        <p:nvSpPr>
          <p:cNvPr id="25" name="Text 23"/>
          <p:cNvSpPr txBox="1"/>
          <p:nvPr/>
        </p:nvSpPr>
        <p:spPr>
          <a:xfrm>
            <a:off x="4751832" y="3209544"/>
            <a:ext cx="914400" cy="283464"/>
          </a:xfrm>
          <a:prstGeom prst="rect">
            <a:avLst/>
          </a:prstGeom>
          <a:noFill/>
          <a:ln/>
        </p:spPr>
        <p:txBody>
          <a:bodyPr wrap="square" lIns="0" tIns="0" rIns="0" bIns="0" rtlCol="0" anchor="ctr"/>
          <a:lstStyle/>
          <a:p>
            <a:pPr algn="ctr" indent="0" marL="0">
              <a:buNone/>
            </a:pPr>
            <a:r>
              <a:rPr lang="en-US" sz="800" b="1" dirty="0">
                <a:solidFill>
                  <a:srgbClr val="7A5A12"/>
                </a:solidFill>
                <a:latin typeface="Calibri" pitchFamily="34" charset="0"/>
                <a:ea typeface="Calibri" pitchFamily="34" charset="-122"/>
                <a:cs typeface="Calibri" pitchFamily="34" charset="-120"/>
              </a:rPr>
              <a:t>Next</a:t>
            </a:r>
            <a:endParaRPr lang="en-US" sz="800" dirty="0"/>
          </a:p>
        </p:txBody>
      </p:sp>
      <p:sp>
        <p:nvSpPr>
          <p:cNvPr id="26" name="Text 24"/>
          <p:cNvSpPr txBox="1"/>
          <p:nvPr/>
        </p:nvSpPr>
        <p:spPr>
          <a:xfrm>
            <a:off x="4751832" y="3639312"/>
            <a:ext cx="2685288" cy="457200"/>
          </a:xfrm>
          <a:prstGeom prst="rect">
            <a:avLst/>
          </a:prstGeom>
          <a:noFill/>
          <a:ln/>
        </p:spPr>
        <p:txBody>
          <a:bodyPr wrap="square" lIns="0" tIns="0" rIns="0" bIns="0" rtlCol="0" anchor="t"/>
          <a:lstStyle/>
          <a:p>
            <a:pPr indent="0" marL="0">
              <a:buNone/>
            </a:pPr>
            <a:r>
              <a:rPr lang="en-US" sz="1500" b="1" dirty="0">
                <a:solidFill>
                  <a:srgbClr val="1D1A15"/>
                </a:solidFill>
                <a:latin typeface="Georgia" pitchFamily="34" charset="0"/>
                <a:ea typeface="Georgia" pitchFamily="34" charset="-122"/>
                <a:cs typeface="Georgia" pitchFamily="34" charset="-120"/>
              </a:rPr>
              <a:t>The operating platform</a:t>
            </a:r>
            <a:endParaRPr lang="en-US" sz="1500" dirty="0"/>
          </a:p>
        </p:txBody>
      </p:sp>
      <p:sp>
        <p:nvSpPr>
          <p:cNvPr id="27" name="Text 25"/>
          <p:cNvSpPr txBox="1"/>
          <p:nvPr/>
        </p:nvSpPr>
        <p:spPr>
          <a:xfrm>
            <a:off x="4751832" y="4096512"/>
            <a:ext cx="2685288" cy="548640"/>
          </a:xfrm>
          <a:prstGeom prst="rect">
            <a:avLst/>
          </a:prstGeom>
          <a:noFill/>
          <a:ln/>
        </p:spPr>
        <p:txBody>
          <a:bodyPr wrap="square" lIns="0" tIns="0" rIns="0" bIns="0" rtlCol="0" anchor="t"/>
          <a:lstStyle/>
          <a:p>
            <a:pPr indent="0" marL="0">
              <a:lnSpc>
                <a:spcPct val="110000"/>
              </a:lnSpc>
              <a:buNone/>
            </a:pPr>
            <a:r>
              <a:rPr lang="en-US" sz="900" dirty="0">
                <a:solidFill>
                  <a:srgbClr val="7A7266"/>
                </a:solidFill>
                <a:latin typeface="Calibri" pitchFamily="34" charset="0"/>
                <a:ea typeface="Calibri" pitchFamily="34" charset="-122"/>
                <a:cs typeface="Calibri" pitchFamily="34" charset="-120"/>
              </a:rPr>
              <a:t>One place for the whole team to work.</a:t>
            </a:r>
            <a:endParaRPr lang="en-US" sz="900" dirty="0"/>
          </a:p>
        </p:txBody>
      </p:sp>
      <p:sp>
        <p:nvSpPr>
          <p:cNvPr id="28" name="Shape 26"/>
          <p:cNvSpPr/>
          <p:nvPr/>
        </p:nvSpPr>
        <p:spPr>
          <a:xfrm>
            <a:off x="4751832" y="4736592"/>
            <a:ext cx="73152" cy="73152"/>
          </a:xfrm>
          <a:prstGeom prst="ellipse">
            <a:avLst/>
          </a:prstGeom>
          <a:solidFill>
            <a:srgbClr val="9C7C2E"/>
          </a:solidFill>
          <a:ln/>
        </p:spPr>
      </p:sp>
      <p:sp>
        <p:nvSpPr>
          <p:cNvPr id="29" name="Text 27"/>
          <p:cNvSpPr txBox="1"/>
          <p:nvPr/>
        </p:nvSpPr>
        <p:spPr>
          <a:xfrm>
            <a:off x="4934712" y="4654296"/>
            <a:ext cx="2502408" cy="310896"/>
          </a:xfrm>
          <a:prstGeom prst="rect">
            <a:avLst/>
          </a:prstGeom>
          <a:noFill/>
          <a:ln/>
        </p:spPr>
        <p:txBody>
          <a:bodyPr wrap="square" lIns="0" tIns="0" rIns="0" bIns="0" rtlCol="0" anchor="ctr"/>
          <a:lstStyle/>
          <a:p>
            <a:pPr indent="0" marL="0">
              <a:buNone/>
            </a:pPr>
            <a:r>
              <a:rPr lang="en-US" sz="950" dirty="0">
                <a:solidFill>
                  <a:srgbClr val="1D1A15"/>
                </a:solidFill>
                <a:latin typeface="Calibri" pitchFamily="34" charset="0"/>
                <a:ea typeface="Calibri" pitchFamily="34" charset="-122"/>
                <a:cs typeface="Calibri" pitchFamily="34" charset="-120"/>
              </a:rPr>
              <a:t>Staff portal &amp; department hubs</a:t>
            </a:r>
            <a:endParaRPr lang="en-US" sz="950" dirty="0"/>
          </a:p>
        </p:txBody>
      </p:sp>
      <p:sp>
        <p:nvSpPr>
          <p:cNvPr id="30" name="Shape 28"/>
          <p:cNvSpPr/>
          <p:nvPr/>
        </p:nvSpPr>
        <p:spPr>
          <a:xfrm>
            <a:off x="4751832" y="5084064"/>
            <a:ext cx="73152" cy="73152"/>
          </a:xfrm>
          <a:prstGeom prst="ellipse">
            <a:avLst/>
          </a:prstGeom>
          <a:solidFill>
            <a:srgbClr val="9C7C2E"/>
          </a:solidFill>
          <a:ln/>
        </p:spPr>
      </p:sp>
      <p:sp>
        <p:nvSpPr>
          <p:cNvPr id="31" name="Text 29"/>
          <p:cNvSpPr txBox="1"/>
          <p:nvPr/>
        </p:nvSpPr>
        <p:spPr>
          <a:xfrm>
            <a:off x="4934712" y="5001768"/>
            <a:ext cx="2502408" cy="310896"/>
          </a:xfrm>
          <a:prstGeom prst="rect">
            <a:avLst/>
          </a:prstGeom>
          <a:noFill/>
          <a:ln/>
        </p:spPr>
        <p:txBody>
          <a:bodyPr wrap="square" lIns="0" tIns="0" rIns="0" bIns="0" rtlCol="0" anchor="ctr"/>
          <a:lstStyle/>
          <a:p>
            <a:pPr indent="0" marL="0">
              <a:buNone/>
            </a:pPr>
            <a:r>
              <a:rPr lang="en-US" sz="950" dirty="0">
                <a:solidFill>
                  <a:srgbClr val="1D1A15"/>
                </a:solidFill>
                <a:latin typeface="Calibri" pitchFamily="34" charset="0"/>
                <a:ea typeface="Calibri" pitchFamily="34" charset="-122"/>
                <a:cs typeface="Calibri" pitchFamily="34" charset="-120"/>
              </a:rPr>
              <a:t>School Portal &amp; school pages</a:t>
            </a:r>
            <a:endParaRPr lang="en-US" sz="950" dirty="0"/>
          </a:p>
        </p:txBody>
      </p:sp>
      <p:sp>
        <p:nvSpPr>
          <p:cNvPr id="32" name="Shape 30"/>
          <p:cNvSpPr/>
          <p:nvPr/>
        </p:nvSpPr>
        <p:spPr>
          <a:xfrm>
            <a:off x="4751832" y="5431536"/>
            <a:ext cx="73152" cy="73152"/>
          </a:xfrm>
          <a:prstGeom prst="ellipse">
            <a:avLst/>
          </a:prstGeom>
          <a:solidFill>
            <a:srgbClr val="9C7C2E"/>
          </a:solidFill>
          <a:ln/>
        </p:spPr>
      </p:sp>
      <p:sp>
        <p:nvSpPr>
          <p:cNvPr id="33" name="Text 31"/>
          <p:cNvSpPr txBox="1"/>
          <p:nvPr/>
        </p:nvSpPr>
        <p:spPr>
          <a:xfrm>
            <a:off x="4934712" y="5349240"/>
            <a:ext cx="2502408" cy="310896"/>
          </a:xfrm>
          <a:prstGeom prst="rect">
            <a:avLst/>
          </a:prstGeom>
          <a:noFill/>
          <a:ln/>
        </p:spPr>
        <p:txBody>
          <a:bodyPr wrap="square" lIns="0" tIns="0" rIns="0" bIns="0" rtlCol="0" anchor="ctr"/>
          <a:lstStyle/>
          <a:p>
            <a:pPr indent="0" marL="0">
              <a:buNone/>
            </a:pPr>
            <a:r>
              <a:rPr lang="en-US" sz="950" dirty="0">
                <a:solidFill>
                  <a:srgbClr val="1D1A15"/>
                </a:solidFill>
                <a:latin typeface="Calibri" pitchFamily="34" charset="0"/>
                <a:ea typeface="Calibri" pitchFamily="34" charset="-122"/>
                <a:cs typeface="Calibri" pitchFamily="34" charset="-120"/>
              </a:rPr>
              <a:t>Inbox, workflows &amp; hand-offs</a:t>
            </a:r>
            <a:endParaRPr lang="en-US" sz="950" dirty="0"/>
          </a:p>
        </p:txBody>
      </p:sp>
      <p:sp>
        <p:nvSpPr>
          <p:cNvPr id="34" name="Shape 32"/>
          <p:cNvSpPr/>
          <p:nvPr/>
        </p:nvSpPr>
        <p:spPr>
          <a:xfrm>
            <a:off x="4751832" y="5779008"/>
            <a:ext cx="73152" cy="73152"/>
          </a:xfrm>
          <a:prstGeom prst="ellipse">
            <a:avLst/>
          </a:prstGeom>
          <a:solidFill>
            <a:srgbClr val="9C7C2E"/>
          </a:solidFill>
          <a:ln/>
        </p:spPr>
      </p:sp>
      <p:sp>
        <p:nvSpPr>
          <p:cNvPr id="35" name="Text 33"/>
          <p:cNvSpPr txBox="1"/>
          <p:nvPr/>
        </p:nvSpPr>
        <p:spPr>
          <a:xfrm>
            <a:off x="4934712" y="5696712"/>
            <a:ext cx="2502408" cy="310896"/>
          </a:xfrm>
          <a:prstGeom prst="rect">
            <a:avLst/>
          </a:prstGeom>
          <a:noFill/>
          <a:ln/>
        </p:spPr>
        <p:txBody>
          <a:bodyPr wrap="square" lIns="0" tIns="0" rIns="0" bIns="0" rtlCol="0" anchor="ctr"/>
          <a:lstStyle/>
          <a:p>
            <a:pPr indent="0" marL="0">
              <a:buNone/>
            </a:pPr>
            <a:r>
              <a:rPr lang="en-US" sz="950" dirty="0">
                <a:solidFill>
                  <a:srgbClr val="1D1A15"/>
                </a:solidFill>
                <a:latin typeface="Calibri" pitchFamily="34" charset="0"/>
                <a:ea typeface="Calibri" pitchFamily="34" charset="-122"/>
                <a:cs typeface="Calibri" pitchFamily="34" charset="-120"/>
              </a:rPr>
              <a:t>Social media dashboard</a:t>
            </a:r>
            <a:endParaRPr lang="en-US" sz="950" dirty="0"/>
          </a:p>
        </p:txBody>
      </p:sp>
      <p:sp>
        <p:nvSpPr>
          <p:cNvPr id="36" name="Shape 34"/>
          <p:cNvSpPr/>
          <p:nvPr/>
        </p:nvSpPr>
        <p:spPr>
          <a:xfrm>
            <a:off x="8095488" y="2286000"/>
            <a:ext cx="3270504" cy="3977640"/>
          </a:xfrm>
          <a:prstGeom prst="roundRect">
            <a:avLst>
              <a:gd name="adj" fmla="val 3355"/>
            </a:avLst>
          </a:prstGeom>
          <a:solidFill>
            <a:srgbClr val="FFFFFF"/>
          </a:solidFill>
          <a:ln w="12700">
            <a:solidFill>
              <a:srgbClr val="E4DCC9"/>
            </a:solidFill>
            <a:prstDash val="solid"/>
          </a:ln>
          <a:effectLst>
            <a:outerShdw sx="100000" sy="100000" kx="0" ky="0" algn="bl" rotWithShape="0" blurRad="127000" dist="38100" dir="5400000">
              <a:srgbClr val="6B6252">
                <a:alpha val="35000"/>
              </a:srgbClr>
            </a:outerShdw>
          </a:effectLst>
        </p:spPr>
      </p:sp>
      <p:sp>
        <p:nvSpPr>
          <p:cNvPr id="37" name="Shape 35"/>
          <p:cNvSpPr/>
          <p:nvPr/>
        </p:nvSpPr>
        <p:spPr>
          <a:xfrm>
            <a:off x="8388096" y="2578608"/>
            <a:ext cx="457200" cy="457200"/>
          </a:xfrm>
          <a:prstGeom prst="ellipse">
            <a:avLst/>
          </a:prstGeom>
          <a:solidFill>
            <a:srgbClr val="9C7C2E"/>
          </a:solidFill>
          <a:ln/>
        </p:spPr>
      </p:sp>
      <p:sp>
        <p:nvSpPr>
          <p:cNvPr id="38" name="Text 36"/>
          <p:cNvSpPr txBox="1"/>
          <p:nvPr/>
        </p:nvSpPr>
        <p:spPr>
          <a:xfrm>
            <a:off x="8388096" y="2569464"/>
            <a:ext cx="457200"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39" name="Text 37"/>
          <p:cNvSpPr txBox="1"/>
          <p:nvPr/>
        </p:nvSpPr>
        <p:spPr>
          <a:xfrm>
            <a:off x="8955024" y="2651760"/>
            <a:ext cx="2337816" cy="274320"/>
          </a:xfrm>
          <a:prstGeom prst="rect">
            <a:avLst/>
          </a:prstGeom>
          <a:noFill/>
          <a:ln/>
        </p:spPr>
        <p:txBody>
          <a:bodyPr wrap="square" lIns="0" tIns="0" rIns="0" bIns="0" rtlCol="0" anchor="ctr"/>
          <a:lstStyle/>
          <a:p>
            <a:pPr indent="0" marL="0">
              <a:buNone/>
            </a:pPr>
            <a:r>
              <a:rPr lang="en-US" sz="900" b="1" spc="200" kern="0" dirty="0">
                <a:solidFill>
                  <a:srgbClr val="9C7C2E"/>
                </a:solidFill>
                <a:latin typeface="Calibri" pitchFamily="34" charset="0"/>
                <a:ea typeface="Calibri" pitchFamily="34" charset="-122"/>
                <a:cs typeface="Calibri" pitchFamily="34" charset="-120"/>
              </a:rPr>
              <a:t>PHASE 3</a:t>
            </a:r>
            <a:endParaRPr lang="en-US" sz="900" dirty="0"/>
          </a:p>
        </p:txBody>
      </p:sp>
      <p:sp>
        <p:nvSpPr>
          <p:cNvPr id="40" name="Shape 38"/>
          <p:cNvSpPr/>
          <p:nvPr/>
        </p:nvSpPr>
        <p:spPr>
          <a:xfrm>
            <a:off x="8388096" y="3218688"/>
            <a:ext cx="914400" cy="274320"/>
          </a:xfrm>
          <a:prstGeom prst="roundRect">
            <a:avLst>
              <a:gd name="adj" fmla="val 50000"/>
            </a:avLst>
          </a:prstGeom>
          <a:solidFill>
            <a:srgbClr val="F3E7C8"/>
          </a:solidFill>
          <a:ln w="9525">
            <a:solidFill>
              <a:srgbClr val="9C7C2E"/>
            </a:solidFill>
            <a:prstDash val="solid"/>
          </a:ln>
        </p:spPr>
      </p:sp>
      <p:sp>
        <p:nvSpPr>
          <p:cNvPr id="41" name="Text 39"/>
          <p:cNvSpPr txBox="1"/>
          <p:nvPr/>
        </p:nvSpPr>
        <p:spPr>
          <a:xfrm>
            <a:off x="8388096" y="3209544"/>
            <a:ext cx="914400" cy="283464"/>
          </a:xfrm>
          <a:prstGeom prst="rect">
            <a:avLst/>
          </a:prstGeom>
          <a:noFill/>
          <a:ln/>
        </p:spPr>
        <p:txBody>
          <a:bodyPr wrap="square" lIns="0" tIns="0" rIns="0" bIns="0" rtlCol="0" anchor="ctr"/>
          <a:lstStyle/>
          <a:p>
            <a:pPr algn="ctr" indent="0" marL="0">
              <a:buNone/>
            </a:pPr>
            <a:r>
              <a:rPr lang="en-US" sz="800" b="1" dirty="0">
                <a:solidFill>
                  <a:srgbClr val="7A5A12"/>
                </a:solidFill>
                <a:latin typeface="Calibri" pitchFamily="34" charset="0"/>
                <a:ea typeface="Calibri" pitchFamily="34" charset="-122"/>
                <a:cs typeface="Calibri" pitchFamily="34" charset="-120"/>
              </a:rPr>
              <a:t>Then</a:t>
            </a:r>
            <a:endParaRPr lang="en-US" sz="800" dirty="0"/>
          </a:p>
        </p:txBody>
      </p:sp>
      <p:sp>
        <p:nvSpPr>
          <p:cNvPr id="42" name="Text 40"/>
          <p:cNvSpPr txBox="1"/>
          <p:nvPr/>
        </p:nvSpPr>
        <p:spPr>
          <a:xfrm>
            <a:off x="8388096" y="3639312"/>
            <a:ext cx="2685288" cy="457200"/>
          </a:xfrm>
          <a:prstGeom prst="rect">
            <a:avLst/>
          </a:prstGeom>
          <a:noFill/>
          <a:ln/>
        </p:spPr>
        <p:txBody>
          <a:bodyPr wrap="square" lIns="0" tIns="0" rIns="0" bIns="0" rtlCol="0" anchor="t"/>
          <a:lstStyle/>
          <a:p>
            <a:pPr indent="0" marL="0">
              <a:buNone/>
            </a:pPr>
            <a:r>
              <a:rPr lang="en-US" sz="1500" b="1" dirty="0">
                <a:solidFill>
                  <a:srgbClr val="1D1A15"/>
                </a:solidFill>
                <a:latin typeface="Georgia" pitchFamily="34" charset="0"/>
                <a:ea typeface="Georgia" pitchFamily="34" charset="-122"/>
                <a:cs typeface="Georgia" pitchFamily="34" charset="-120"/>
              </a:rPr>
              <a:t>Intelligence &amp; scale</a:t>
            </a:r>
            <a:endParaRPr lang="en-US" sz="1500" dirty="0"/>
          </a:p>
        </p:txBody>
      </p:sp>
      <p:sp>
        <p:nvSpPr>
          <p:cNvPr id="43" name="Text 41"/>
          <p:cNvSpPr txBox="1"/>
          <p:nvPr/>
        </p:nvSpPr>
        <p:spPr>
          <a:xfrm>
            <a:off x="8388096" y="4096512"/>
            <a:ext cx="2685288" cy="548640"/>
          </a:xfrm>
          <a:prstGeom prst="rect">
            <a:avLst/>
          </a:prstGeom>
          <a:noFill/>
          <a:ln/>
        </p:spPr>
        <p:txBody>
          <a:bodyPr wrap="square" lIns="0" tIns="0" rIns="0" bIns="0" rtlCol="0" anchor="t"/>
          <a:lstStyle/>
          <a:p>
            <a:pPr indent="0" marL="0">
              <a:lnSpc>
                <a:spcPct val="110000"/>
              </a:lnSpc>
              <a:buNone/>
            </a:pPr>
            <a:r>
              <a:rPr lang="en-US" sz="900" dirty="0">
                <a:solidFill>
                  <a:srgbClr val="7A7266"/>
                </a:solidFill>
                <a:latin typeface="Calibri" pitchFamily="34" charset="0"/>
                <a:ea typeface="Calibri" pitchFamily="34" charset="-122"/>
                <a:cs typeface="Calibri" pitchFamily="34" charset="-120"/>
              </a:rPr>
              <a:t>Real data, and smart help by role.</a:t>
            </a:r>
            <a:endParaRPr lang="en-US" sz="900" dirty="0"/>
          </a:p>
        </p:txBody>
      </p:sp>
      <p:sp>
        <p:nvSpPr>
          <p:cNvPr id="44" name="Shape 42"/>
          <p:cNvSpPr/>
          <p:nvPr/>
        </p:nvSpPr>
        <p:spPr>
          <a:xfrm>
            <a:off x="8388096" y="4736592"/>
            <a:ext cx="73152" cy="73152"/>
          </a:xfrm>
          <a:prstGeom prst="ellipse">
            <a:avLst/>
          </a:prstGeom>
          <a:solidFill>
            <a:srgbClr val="9C7C2E"/>
          </a:solidFill>
          <a:ln/>
        </p:spPr>
      </p:sp>
      <p:sp>
        <p:nvSpPr>
          <p:cNvPr id="45" name="Text 43"/>
          <p:cNvSpPr txBox="1"/>
          <p:nvPr/>
        </p:nvSpPr>
        <p:spPr>
          <a:xfrm>
            <a:off x="8570976" y="4654296"/>
            <a:ext cx="2502408" cy="310896"/>
          </a:xfrm>
          <a:prstGeom prst="rect">
            <a:avLst/>
          </a:prstGeom>
          <a:noFill/>
          <a:ln/>
        </p:spPr>
        <p:txBody>
          <a:bodyPr wrap="square" lIns="0" tIns="0" rIns="0" bIns="0" rtlCol="0" anchor="ctr"/>
          <a:lstStyle/>
          <a:p>
            <a:pPr indent="0" marL="0">
              <a:buNone/>
            </a:pPr>
            <a:r>
              <a:rPr lang="en-US" sz="950" dirty="0">
                <a:solidFill>
                  <a:srgbClr val="1D1A15"/>
                </a:solidFill>
                <a:latin typeface="Calibri" pitchFamily="34" charset="0"/>
                <a:ea typeface="Calibri" pitchFamily="34" charset="-122"/>
                <a:cs typeface="Calibri" pitchFamily="34" charset="-120"/>
              </a:rPr>
              <a:t>Real data across every hub</a:t>
            </a:r>
            <a:endParaRPr lang="en-US" sz="950" dirty="0"/>
          </a:p>
        </p:txBody>
      </p:sp>
      <p:sp>
        <p:nvSpPr>
          <p:cNvPr id="46" name="Shape 44"/>
          <p:cNvSpPr/>
          <p:nvPr/>
        </p:nvSpPr>
        <p:spPr>
          <a:xfrm>
            <a:off x="8388096" y="5084064"/>
            <a:ext cx="73152" cy="73152"/>
          </a:xfrm>
          <a:prstGeom prst="ellipse">
            <a:avLst/>
          </a:prstGeom>
          <a:solidFill>
            <a:srgbClr val="9C7C2E"/>
          </a:solidFill>
          <a:ln/>
        </p:spPr>
      </p:sp>
      <p:sp>
        <p:nvSpPr>
          <p:cNvPr id="47" name="Text 45"/>
          <p:cNvSpPr txBox="1"/>
          <p:nvPr/>
        </p:nvSpPr>
        <p:spPr>
          <a:xfrm>
            <a:off x="8570976" y="5001768"/>
            <a:ext cx="2502408" cy="310896"/>
          </a:xfrm>
          <a:prstGeom prst="rect">
            <a:avLst/>
          </a:prstGeom>
          <a:noFill/>
          <a:ln/>
        </p:spPr>
        <p:txBody>
          <a:bodyPr wrap="square" lIns="0" tIns="0" rIns="0" bIns="0" rtlCol="0" anchor="ctr"/>
          <a:lstStyle/>
          <a:p>
            <a:pPr indent="0" marL="0">
              <a:buNone/>
            </a:pPr>
            <a:r>
              <a:rPr lang="en-US" sz="950" dirty="0">
                <a:solidFill>
                  <a:srgbClr val="1D1A15"/>
                </a:solidFill>
                <a:latin typeface="Calibri" pitchFamily="34" charset="0"/>
                <a:ea typeface="Calibri" pitchFamily="34" charset="-122"/>
                <a:cs typeface="Calibri" pitchFamily="34" charset="-120"/>
              </a:rPr>
              <a:t>Role-aware assistant</a:t>
            </a:r>
            <a:endParaRPr lang="en-US" sz="950" dirty="0"/>
          </a:p>
        </p:txBody>
      </p:sp>
      <p:sp>
        <p:nvSpPr>
          <p:cNvPr id="48" name="Shape 46"/>
          <p:cNvSpPr/>
          <p:nvPr/>
        </p:nvSpPr>
        <p:spPr>
          <a:xfrm>
            <a:off x="8388096" y="5431536"/>
            <a:ext cx="73152" cy="73152"/>
          </a:xfrm>
          <a:prstGeom prst="ellipse">
            <a:avLst/>
          </a:prstGeom>
          <a:solidFill>
            <a:srgbClr val="9C7C2E"/>
          </a:solidFill>
          <a:ln/>
        </p:spPr>
      </p:sp>
      <p:sp>
        <p:nvSpPr>
          <p:cNvPr id="49" name="Text 47"/>
          <p:cNvSpPr txBox="1"/>
          <p:nvPr/>
        </p:nvSpPr>
        <p:spPr>
          <a:xfrm>
            <a:off x="8570976" y="5349240"/>
            <a:ext cx="2502408" cy="310896"/>
          </a:xfrm>
          <a:prstGeom prst="rect">
            <a:avLst/>
          </a:prstGeom>
          <a:noFill/>
          <a:ln/>
        </p:spPr>
        <p:txBody>
          <a:bodyPr wrap="square" lIns="0" tIns="0" rIns="0" bIns="0" rtlCol="0" anchor="ctr"/>
          <a:lstStyle/>
          <a:p>
            <a:pPr indent="0" marL="0">
              <a:buNone/>
            </a:pPr>
            <a:r>
              <a:rPr lang="en-US" sz="950" dirty="0">
                <a:solidFill>
                  <a:srgbClr val="1D1A15"/>
                </a:solidFill>
                <a:latin typeface="Calibri" pitchFamily="34" charset="0"/>
                <a:ea typeface="Calibri" pitchFamily="34" charset="-122"/>
                <a:cs typeface="Calibri" pitchFamily="34" charset="-120"/>
              </a:rPr>
              <a:t>Analytics &amp; forecasting</a:t>
            </a:r>
            <a:endParaRPr lang="en-US" sz="950" dirty="0"/>
          </a:p>
        </p:txBody>
      </p:sp>
      <p:sp>
        <p:nvSpPr>
          <p:cNvPr id="50" name="Shape 48"/>
          <p:cNvSpPr/>
          <p:nvPr/>
        </p:nvSpPr>
        <p:spPr>
          <a:xfrm>
            <a:off x="8388096" y="5779008"/>
            <a:ext cx="73152" cy="73152"/>
          </a:xfrm>
          <a:prstGeom prst="ellipse">
            <a:avLst/>
          </a:prstGeom>
          <a:solidFill>
            <a:srgbClr val="9C7C2E"/>
          </a:solidFill>
          <a:ln/>
        </p:spPr>
      </p:sp>
      <p:sp>
        <p:nvSpPr>
          <p:cNvPr id="51" name="Text 49"/>
          <p:cNvSpPr txBox="1"/>
          <p:nvPr/>
        </p:nvSpPr>
        <p:spPr>
          <a:xfrm>
            <a:off x="8570976" y="5696712"/>
            <a:ext cx="2502408" cy="310896"/>
          </a:xfrm>
          <a:prstGeom prst="rect">
            <a:avLst/>
          </a:prstGeom>
          <a:noFill/>
          <a:ln/>
        </p:spPr>
        <p:txBody>
          <a:bodyPr wrap="square" lIns="0" tIns="0" rIns="0" bIns="0" rtlCol="0" anchor="ctr"/>
          <a:lstStyle/>
          <a:p>
            <a:pPr indent="0" marL="0">
              <a:buNone/>
            </a:pPr>
            <a:r>
              <a:rPr lang="en-US" sz="950" dirty="0">
                <a:solidFill>
                  <a:srgbClr val="1D1A15"/>
                </a:solidFill>
                <a:latin typeface="Calibri" pitchFamily="34" charset="0"/>
                <a:ea typeface="Calibri" pitchFamily="34" charset="-122"/>
                <a:cs typeface="Calibri" pitchFamily="34" charset="-120"/>
              </a:rPr>
              <a:t>The advanced-features roadmap</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822960" y="777240"/>
            <a:ext cx="7315200" cy="274320"/>
          </a:xfrm>
          <a:prstGeom prst="rect">
            <a:avLst/>
          </a:prstGeom>
          <a:noFill/>
          <a:ln/>
        </p:spPr>
        <p:txBody>
          <a:bodyPr wrap="square" lIns="0" tIns="0" rIns="0" bIns="0" rtlCol="0" anchor="ctr"/>
          <a:lstStyle/>
          <a:p>
            <a:pPr indent="0" marL="0">
              <a:buNone/>
            </a:pPr>
            <a:r>
              <a:rPr lang="en-US" sz="1100" b="1" spc="300" kern="0" dirty="0">
                <a:solidFill>
                  <a:srgbClr val="9C7C2E"/>
                </a:solidFill>
                <a:latin typeface="Calibri" pitchFamily="34" charset="0"/>
                <a:ea typeface="Calibri" pitchFamily="34" charset="-122"/>
                <a:cs typeface="Calibri" pitchFamily="34" charset="-120"/>
              </a:rPr>
              <a:t>PHASE ONE · GOES LIVE FIRST</a:t>
            </a:r>
            <a:endParaRPr lang="en-US" sz="1100" dirty="0"/>
          </a:p>
        </p:txBody>
      </p:sp>
      <p:sp>
        <p:nvSpPr>
          <p:cNvPr id="3" name="Shape 1"/>
          <p:cNvSpPr/>
          <p:nvPr/>
        </p:nvSpPr>
        <p:spPr>
          <a:xfrm>
            <a:off x="10314432" y="731520"/>
            <a:ext cx="1051560" cy="310896"/>
          </a:xfrm>
          <a:prstGeom prst="roundRect">
            <a:avLst>
              <a:gd name="adj" fmla="val 50000"/>
            </a:avLst>
          </a:prstGeom>
          <a:solidFill>
            <a:srgbClr val="F3E7C8"/>
          </a:solidFill>
          <a:ln w="9525">
            <a:solidFill>
              <a:srgbClr val="9C7C2E"/>
            </a:solidFill>
            <a:prstDash val="solid"/>
          </a:ln>
        </p:spPr>
      </p:sp>
      <p:sp>
        <p:nvSpPr>
          <p:cNvPr id="4" name="Text 2"/>
          <p:cNvSpPr txBox="1"/>
          <p:nvPr/>
        </p:nvSpPr>
        <p:spPr>
          <a:xfrm>
            <a:off x="10314432" y="722376"/>
            <a:ext cx="1051560" cy="320040"/>
          </a:xfrm>
          <a:prstGeom prst="rect">
            <a:avLst/>
          </a:prstGeom>
          <a:noFill/>
          <a:ln/>
        </p:spPr>
        <p:txBody>
          <a:bodyPr wrap="square" lIns="0" tIns="0" rIns="0" bIns="0" rtlCol="0" anchor="ctr"/>
          <a:lstStyle/>
          <a:p>
            <a:pPr algn="ctr" indent="0" marL="0">
              <a:buNone/>
            </a:pPr>
            <a:r>
              <a:rPr lang="en-US" sz="850" b="1" spc="100" kern="0" dirty="0">
                <a:solidFill>
                  <a:srgbClr val="7A5A12"/>
                </a:solidFill>
                <a:latin typeface="Calibri" pitchFamily="34" charset="0"/>
                <a:ea typeface="Calibri" pitchFamily="34" charset="-122"/>
                <a:cs typeface="Calibri" pitchFamily="34" charset="-120"/>
              </a:rPr>
              <a:t>PHASE 1</a:t>
            </a:r>
            <a:endParaRPr lang="en-US" sz="850" dirty="0"/>
          </a:p>
        </p:txBody>
      </p:sp>
      <p:sp>
        <p:nvSpPr>
          <p:cNvPr id="5" name="Text 3"/>
          <p:cNvSpPr txBox="1"/>
          <p:nvPr/>
        </p:nvSpPr>
        <p:spPr>
          <a:xfrm>
            <a:off x="822960" y="1097280"/>
            <a:ext cx="5760720" cy="1371600"/>
          </a:xfrm>
          <a:prstGeom prst="rect">
            <a:avLst/>
          </a:prstGeom>
          <a:noFill/>
          <a:ln/>
        </p:spPr>
        <p:txBody>
          <a:bodyPr wrap="square" lIns="0" tIns="0" rIns="0" bIns="0" rtlCol="0" anchor="t"/>
          <a:lstStyle/>
          <a:p>
            <a:pPr indent="0" marL="0">
              <a:lnSpc>
                <a:spcPct val="98000"/>
              </a:lnSpc>
              <a:buNone/>
            </a:pPr>
            <a:r>
              <a:rPr lang="en-US" sz="3200" b="1" dirty="0">
                <a:solidFill>
                  <a:srgbClr val="1D1A15"/>
                </a:solidFill>
                <a:latin typeface="Georgia" pitchFamily="34" charset="0"/>
                <a:ea typeface="Georgia" pitchFamily="34" charset="-122"/>
                <a:cs typeface="Georgia" pitchFamily="34" charset="-120"/>
              </a:rPr>
              <a:t>The marketing website</a:t>
            </a:r>
            <a:endParaRPr lang="en-US" sz="3200" dirty="0"/>
          </a:p>
        </p:txBody>
      </p:sp>
      <p:sp>
        <p:nvSpPr>
          <p:cNvPr id="6" name="Text 4"/>
          <p:cNvSpPr txBox="1"/>
          <p:nvPr/>
        </p:nvSpPr>
        <p:spPr>
          <a:xfrm>
            <a:off x="822960" y="2286000"/>
            <a:ext cx="5760720" cy="1371600"/>
          </a:xfrm>
          <a:prstGeom prst="rect">
            <a:avLst/>
          </a:prstGeom>
          <a:noFill/>
          <a:ln/>
        </p:spPr>
        <p:txBody>
          <a:bodyPr wrap="square" lIns="0" tIns="0" rIns="0" bIns="0" rtlCol="0" anchor="t"/>
          <a:lstStyle/>
          <a:p>
            <a:pPr indent="0" marL="0">
              <a:lnSpc>
                <a:spcPct val="115000"/>
              </a:lnSpc>
              <a:buNone/>
            </a:pPr>
            <a:r>
              <a:rPr lang="en-US" sz="1500" dirty="0">
                <a:solidFill>
                  <a:srgbClr val="7A7266"/>
                </a:solidFill>
                <a:latin typeface="Calibri" pitchFamily="34" charset="0"/>
                <a:ea typeface="Calibri" pitchFamily="34" charset="-122"/>
                <a:cs typeface="Calibri" pitchFamily="34" charset="-120"/>
              </a:rPr>
              <a:t>The public, front-facing website: phase one, and the first thing we take live. Real content from deeprootsbible.com, with sign-up and contact forms that feed straight into the portal.</a:t>
            </a:r>
            <a:endParaRPr lang="en-US" sz="1500" dirty="0"/>
          </a:p>
        </p:txBody>
      </p:sp>
      <p:sp>
        <p:nvSpPr>
          <p:cNvPr id="7" name="Text 5"/>
          <p:cNvSpPr txBox="1"/>
          <p:nvPr/>
        </p:nvSpPr>
        <p:spPr>
          <a:xfrm>
            <a:off x="822960" y="3657600"/>
            <a:ext cx="5760720" cy="1115568"/>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1D1A15"/>
                </a:solidFill>
                <a:latin typeface="Calibri" pitchFamily="34" charset="0"/>
                <a:ea typeface="Calibri" pitchFamily="34" charset="-122"/>
                <a:cs typeface="Calibri" pitchFamily="34" charset="-120"/>
              </a:rPr>
              <a:t>Home · Why · Curriculum (K–6 aligned, gaps “coming soon”)</a:t>
            </a:r>
            <a:endParaRPr lang="en-US" sz="1350" dirty="0"/>
          </a:p>
          <a:p>
            <a:pPr marL="177800" indent="-177800">
              <a:spcAft>
                <a:spcPts val="800"/>
              </a:spcAft>
              <a:buSzPct val="100000"/>
              <a:buChar char="•"/>
            </a:pPr>
            <a:r>
              <a:rPr lang="en-US" sz="1350" dirty="0">
                <a:solidFill>
                  <a:srgbClr val="1D1A15"/>
                </a:solidFill>
                <a:latin typeface="Calibri" pitchFamily="34" charset="0"/>
                <a:ea typeface="Calibri" pitchFamily="34" charset="-122"/>
                <a:cs typeface="Calibri" pitchFamily="34" charset="-120"/>
              </a:rPr>
              <a:t>Testimonials · FAQ + search · Resources · Shop &amp; checkout · Events · Contact</a:t>
            </a:r>
            <a:endParaRPr lang="en-US" sz="1350" dirty="0"/>
          </a:p>
          <a:p>
            <a:pPr marL="177800" indent="-177800">
              <a:spcAft>
                <a:spcPts val="800"/>
              </a:spcAft>
              <a:buSzPct val="100000"/>
              <a:buChar char="•"/>
            </a:pPr>
            <a:r>
              <a:rPr lang="en-US" sz="1350" dirty="0">
                <a:solidFill>
                  <a:srgbClr val="1D1A15"/>
                </a:solidFill>
                <a:latin typeface="Calibri" pitchFamily="34" charset="0"/>
                <a:ea typeface="Calibri" pitchFamily="34" charset="-122"/>
                <a:cs typeface="Calibri" pitchFamily="34" charset="-120"/>
              </a:rPr>
              <a:t>Sign-up and contact forms feed the Marketing section</a:t>
            </a:r>
            <a:endParaRPr lang="en-US" sz="1350" dirty="0"/>
          </a:p>
        </p:txBody>
      </p:sp>
      <p:sp>
        <p:nvSpPr>
          <p:cNvPr id="8" name="Shape 6"/>
          <p:cNvSpPr/>
          <p:nvPr/>
        </p:nvSpPr>
        <p:spPr>
          <a:xfrm>
            <a:off x="6565392" y="1909239"/>
            <a:ext cx="5385816" cy="3039523"/>
          </a:xfrm>
          <a:prstGeom prst="roundRect">
            <a:avLst>
              <a:gd name="adj" fmla="val 1805"/>
            </a:avLst>
          </a:prstGeom>
          <a:solidFill>
            <a:srgbClr val="FFFFFF"/>
          </a:solidFill>
          <a:ln w="12700">
            <a:solidFill>
              <a:srgbClr val="E4DCC9"/>
            </a:solidFill>
            <a:prstDash val="solid"/>
          </a:ln>
          <a:effectLst>
            <a:outerShdw sx="100000" sy="100000" kx="0" ky="0" algn="bl" rotWithShape="0" blurRad="127000" dist="38100" dir="5400000">
              <a:srgbClr val="6B6252">
                <a:alpha val="35000"/>
              </a:srgbClr>
            </a:outerShdw>
          </a:effectLst>
        </p:spPr>
      </p:sp>
      <p:pic>
        <p:nvPicPr>
          <p:cNvPr id="9" name="Image 0" descr="/private/tmp/claude-502/-Users-DRBTroy-Documents-Projects-DeepRoots/3b403855-4530-4100-a3e2-ac51fe60ce6e/scratchpad/screens/marketing-home.jpg">    </p:cNvPr>
          <p:cNvPicPr>
            <a:picLocks noChangeAspect="1"/>
          </p:cNvPicPr>
          <p:nvPr/>
        </p:nvPicPr>
        <p:blipFill>
          <a:blip r:embed="rId1"/>
          <a:stretch>
            <a:fillRect/>
          </a:stretch>
        </p:blipFill>
        <p:spPr>
          <a:xfrm>
            <a:off x="6629400" y="1973247"/>
            <a:ext cx="5257800" cy="291150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822960" y="777240"/>
            <a:ext cx="7315200" cy="274320"/>
          </a:xfrm>
          <a:prstGeom prst="rect">
            <a:avLst/>
          </a:prstGeom>
          <a:noFill/>
          <a:ln/>
        </p:spPr>
        <p:txBody>
          <a:bodyPr wrap="square" lIns="0" tIns="0" rIns="0" bIns="0" rtlCol="0" anchor="ctr"/>
          <a:lstStyle/>
          <a:p>
            <a:pPr indent="0" marL="0">
              <a:buNone/>
            </a:pPr>
            <a:r>
              <a:rPr lang="en-US" sz="1100" b="1" spc="300" kern="0" dirty="0">
                <a:solidFill>
                  <a:srgbClr val="9C7C2E"/>
                </a:solidFill>
                <a:latin typeface="Calibri" pitchFamily="34" charset="0"/>
                <a:ea typeface="Calibri" pitchFamily="34" charset="-122"/>
                <a:cs typeface="Calibri" pitchFamily="34" charset="-120"/>
              </a:rPr>
              <a:t>ACCESS · SIGN-IN</a:t>
            </a:r>
            <a:endParaRPr lang="en-US" sz="1100" dirty="0"/>
          </a:p>
        </p:txBody>
      </p:sp>
      <p:sp>
        <p:nvSpPr>
          <p:cNvPr id="3" name="Shape 1"/>
          <p:cNvSpPr/>
          <p:nvPr/>
        </p:nvSpPr>
        <p:spPr>
          <a:xfrm>
            <a:off x="10314432" y="731520"/>
            <a:ext cx="1051560" cy="310896"/>
          </a:xfrm>
          <a:prstGeom prst="roundRect">
            <a:avLst>
              <a:gd name="adj" fmla="val 50000"/>
            </a:avLst>
          </a:prstGeom>
          <a:solidFill>
            <a:srgbClr val="F3E7C8"/>
          </a:solidFill>
          <a:ln w="9525">
            <a:solidFill>
              <a:srgbClr val="9C7C2E"/>
            </a:solidFill>
            <a:prstDash val="solid"/>
          </a:ln>
        </p:spPr>
      </p:sp>
      <p:sp>
        <p:nvSpPr>
          <p:cNvPr id="4" name="Text 2"/>
          <p:cNvSpPr txBox="1"/>
          <p:nvPr/>
        </p:nvSpPr>
        <p:spPr>
          <a:xfrm>
            <a:off x="10314432" y="722376"/>
            <a:ext cx="1051560" cy="320040"/>
          </a:xfrm>
          <a:prstGeom prst="rect">
            <a:avLst/>
          </a:prstGeom>
          <a:noFill/>
          <a:ln/>
        </p:spPr>
        <p:txBody>
          <a:bodyPr wrap="square" lIns="0" tIns="0" rIns="0" bIns="0" rtlCol="0" anchor="ctr"/>
          <a:lstStyle/>
          <a:p>
            <a:pPr algn="ctr" indent="0" marL="0">
              <a:buNone/>
            </a:pPr>
            <a:r>
              <a:rPr lang="en-US" sz="850" b="1" spc="100" kern="0" dirty="0">
                <a:solidFill>
                  <a:srgbClr val="7A5A12"/>
                </a:solidFill>
                <a:latin typeface="Calibri" pitchFamily="34" charset="0"/>
                <a:ea typeface="Calibri" pitchFamily="34" charset="-122"/>
                <a:cs typeface="Calibri" pitchFamily="34" charset="-120"/>
              </a:rPr>
              <a:t>PHASE 2</a:t>
            </a:r>
            <a:endParaRPr lang="en-US" sz="850" dirty="0"/>
          </a:p>
        </p:txBody>
      </p:sp>
      <p:sp>
        <p:nvSpPr>
          <p:cNvPr id="5" name="Text 3"/>
          <p:cNvSpPr txBox="1"/>
          <p:nvPr/>
        </p:nvSpPr>
        <p:spPr>
          <a:xfrm>
            <a:off x="822960" y="1097280"/>
            <a:ext cx="5760720" cy="1371600"/>
          </a:xfrm>
          <a:prstGeom prst="rect">
            <a:avLst/>
          </a:prstGeom>
          <a:noFill/>
          <a:ln/>
        </p:spPr>
        <p:txBody>
          <a:bodyPr wrap="square" lIns="0" tIns="0" rIns="0" bIns="0" rtlCol="0" anchor="t"/>
          <a:lstStyle/>
          <a:p>
            <a:pPr indent="0" marL="0">
              <a:lnSpc>
                <a:spcPct val="98000"/>
              </a:lnSpc>
              <a:buNone/>
            </a:pPr>
            <a:r>
              <a:rPr lang="en-US" sz="3200" b="1" dirty="0">
                <a:solidFill>
                  <a:srgbClr val="1D1A15"/>
                </a:solidFill>
                <a:latin typeface="Georgia" pitchFamily="34" charset="0"/>
                <a:ea typeface="Georgia" pitchFamily="34" charset="-122"/>
                <a:cs typeface="Georgia" pitchFamily="34" charset="-120"/>
              </a:rPr>
              <a:t>Secure staff sign-in</a:t>
            </a:r>
            <a:endParaRPr lang="en-US" sz="3200" dirty="0"/>
          </a:p>
        </p:txBody>
      </p:sp>
      <p:sp>
        <p:nvSpPr>
          <p:cNvPr id="6" name="Text 4"/>
          <p:cNvSpPr txBox="1"/>
          <p:nvPr/>
        </p:nvSpPr>
        <p:spPr>
          <a:xfrm>
            <a:off x="822960" y="2286000"/>
            <a:ext cx="5760720" cy="1371600"/>
          </a:xfrm>
          <a:prstGeom prst="rect">
            <a:avLst/>
          </a:prstGeom>
          <a:noFill/>
          <a:ln/>
        </p:spPr>
        <p:txBody>
          <a:bodyPr wrap="square" lIns="0" tIns="0" rIns="0" bIns="0" rtlCol="0" anchor="t"/>
          <a:lstStyle/>
          <a:p>
            <a:pPr indent="0" marL="0">
              <a:lnSpc>
                <a:spcPct val="115000"/>
              </a:lnSpc>
              <a:buNone/>
            </a:pPr>
            <a:r>
              <a:rPr lang="en-US" sz="1500" dirty="0">
                <a:solidFill>
                  <a:srgbClr val="7A7266"/>
                </a:solidFill>
                <a:latin typeface="Calibri" pitchFamily="34" charset="0"/>
                <a:ea typeface="Calibri" pitchFamily="34" charset="-122"/>
                <a:cs typeface="Calibri" pitchFamily="34" charset="-120"/>
              </a:rPr>
              <a:t>Only invited staff can get in. They sign in with a one-time link or a 6-digit code, and an approved-email list controls who has access.</a:t>
            </a:r>
            <a:endParaRPr lang="en-US" sz="1500" dirty="0"/>
          </a:p>
        </p:txBody>
      </p:sp>
      <p:sp>
        <p:nvSpPr>
          <p:cNvPr id="7" name="Shape 5"/>
          <p:cNvSpPr/>
          <p:nvPr/>
        </p:nvSpPr>
        <p:spPr>
          <a:xfrm>
            <a:off x="822960" y="3657600"/>
            <a:ext cx="2183587" cy="384048"/>
          </a:xfrm>
          <a:prstGeom prst="roundRect">
            <a:avLst>
              <a:gd name="adj" fmla="val 50000"/>
            </a:avLst>
          </a:prstGeom>
          <a:solidFill>
            <a:srgbClr val="FFFFFF"/>
          </a:solidFill>
          <a:ln w="12700">
            <a:solidFill>
              <a:srgbClr val="E4DCC9"/>
            </a:solidFill>
            <a:prstDash val="solid"/>
          </a:ln>
        </p:spPr>
      </p:sp>
      <p:sp>
        <p:nvSpPr>
          <p:cNvPr id="8" name="Text 6"/>
          <p:cNvSpPr txBox="1"/>
          <p:nvPr/>
        </p:nvSpPr>
        <p:spPr>
          <a:xfrm>
            <a:off x="969264" y="3639312"/>
            <a:ext cx="1909267" cy="420624"/>
          </a:xfrm>
          <a:prstGeom prst="rect">
            <a:avLst/>
          </a:prstGeom>
          <a:noFill/>
          <a:ln/>
        </p:spPr>
        <p:txBody>
          <a:bodyPr wrap="square" lIns="0" tIns="0" rIns="0" bIns="0" rtlCol="0" anchor="ctr"/>
          <a:lstStyle/>
          <a:p>
            <a:pPr indent="0" marL="0">
              <a:buNone/>
            </a:pPr>
            <a:r>
              <a:rPr lang="en-US" sz="1050" dirty="0">
                <a:solidFill>
                  <a:srgbClr val="1D1A15"/>
                </a:solidFill>
                <a:latin typeface="Calibri" pitchFamily="34" charset="0"/>
                <a:ea typeface="Calibri" pitchFamily="34" charset="-122"/>
                <a:cs typeface="Calibri" pitchFamily="34" charset="-120"/>
              </a:rPr>
              <a:t>Invite-only staff access</a:t>
            </a:r>
            <a:endParaRPr lang="en-US" sz="1050" dirty="0"/>
          </a:p>
        </p:txBody>
      </p:sp>
      <p:sp>
        <p:nvSpPr>
          <p:cNvPr id="9" name="Shape 7"/>
          <p:cNvSpPr/>
          <p:nvPr/>
        </p:nvSpPr>
        <p:spPr>
          <a:xfrm>
            <a:off x="3171139" y="3657600"/>
            <a:ext cx="1097280" cy="384048"/>
          </a:xfrm>
          <a:prstGeom prst="roundRect">
            <a:avLst>
              <a:gd name="adj" fmla="val 50000"/>
            </a:avLst>
          </a:prstGeom>
          <a:solidFill>
            <a:srgbClr val="FFFFFF"/>
          </a:solidFill>
          <a:ln w="12700">
            <a:solidFill>
              <a:srgbClr val="E4DCC9"/>
            </a:solidFill>
            <a:prstDash val="solid"/>
          </a:ln>
        </p:spPr>
      </p:sp>
      <p:sp>
        <p:nvSpPr>
          <p:cNvPr id="10" name="Shape 8"/>
          <p:cNvSpPr/>
          <p:nvPr/>
        </p:nvSpPr>
        <p:spPr>
          <a:xfrm>
            <a:off x="3317443" y="3799332"/>
            <a:ext cx="100584" cy="100584"/>
          </a:xfrm>
          <a:prstGeom prst="ellipse">
            <a:avLst/>
          </a:prstGeom>
          <a:solidFill>
            <a:srgbClr val="B0842F"/>
          </a:solidFill>
          <a:ln/>
        </p:spPr>
      </p:sp>
      <p:sp>
        <p:nvSpPr>
          <p:cNvPr id="11" name="Text 9"/>
          <p:cNvSpPr txBox="1"/>
          <p:nvPr/>
        </p:nvSpPr>
        <p:spPr>
          <a:xfrm>
            <a:off x="3482035" y="3639312"/>
            <a:ext cx="822960" cy="420624"/>
          </a:xfrm>
          <a:prstGeom prst="rect">
            <a:avLst/>
          </a:prstGeom>
          <a:noFill/>
          <a:ln/>
        </p:spPr>
        <p:txBody>
          <a:bodyPr wrap="square" lIns="0" tIns="0" rIns="0" bIns="0" rtlCol="0" anchor="ctr"/>
          <a:lstStyle/>
          <a:p>
            <a:pPr indent="0" marL="0">
              <a:buNone/>
            </a:pPr>
            <a:r>
              <a:rPr lang="en-US" sz="1050" dirty="0">
                <a:solidFill>
                  <a:srgbClr val="1D1A15"/>
                </a:solidFill>
                <a:latin typeface="Calibri" pitchFamily="34" charset="0"/>
                <a:ea typeface="Calibri" pitchFamily="34" charset="-122"/>
                <a:cs typeface="Calibri" pitchFamily="34" charset="-120"/>
              </a:rPr>
              <a:t>Proposed</a:t>
            </a:r>
            <a:endParaRPr lang="en-US" sz="1050" dirty="0"/>
          </a:p>
        </p:txBody>
      </p:sp>
      <p:sp>
        <p:nvSpPr>
          <p:cNvPr id="12" name="Shape 10"/>
          <p:cNvSpPr/>
          <p:nvPr/>
        </p:nvSpPr>
        <p:spPr>
          <a:xfrm>
            <a:off x="7040880" y="1645920"/>
            <a:ext cx="4480560" cy="3566160"/>
          </a:xfrm>
          <a:prstGeom prst="roundRect">
            <a:avLst>
              <a:gd name="adj" fmla="val 3077"/>
            </a:avLst>
          </a:prstGeom>
          <a:solidFill>
            <a:srgbClr val="FFFFFF"/>
          </a:solidFill>
          <a:ln w="12700">
            <a:solidFill>
              <a:srgbClr val="E4DCC9"/>
            </a:solidFill>
            <a:prstDash val="solid"/>
          </a:ln>
          <a:effectLst>
            <a:outerShdw sx="100000" sy="100000" kx="0" ky="0" algn="bl" rotWithShape="0" blurRad="127000" dist="38100" dir="5400000">
              <a:srgbClr val="6B6252">
                <a:alpha val="35000"/>
              </a:srgbClr>
            </a:outerShdw>
          </a:effectLst>
        </p:spPr>
      </p:sp>
      <p:sp>
        <p:nvSpPr>
          <p:cNvPr id="13" name="Shape 11"/>
          <p:cNvSpPr/>
          <p:nvPr/>
        </p:nvSpPr>
        <p:spPr>
          <a:xfrm>
            <a:off x="7040880" y="1645920"/>
            <a:ext cx="4480560" cy="384048"/>
          </a:xfrm>
          <a:prstGeom prst="roundRect">
            <a:avLst>
              <a:gd name="adj" fmla="val 28571"/>
            </a:avLst>
          </a:prstGeom>
          <a:solidFill>
            <a:srgbClr val="FBFAF6"/>
          </a:solidFill>
          <a:ln/>
        </p:spPr>
      </p:sp>
      <p:sp>
        <p:nvSpPr>
          <p:cNvPr id="14" name="Shape 12"/>
          <p:cNvSpPr/>
          <p:nvPr/>
        </p:nvSpPr>
        <p:spPr>
          <a:xfrm>
            <a:off x="7040880" y="1901952"/>
            <a:ext cx="4480560" cy="128016"/>
          </a:xfrm>
          <a:prstGeom prst="rect">
            <a:avLst/>
          </a:prstGeom>
          <a:solidFill>
            <a:srgbClr val="FBFAF6"/>
          </a:solidFill>
          <a:ln/>
        </p:spPr>
      </p:sp>
      <p:sp>
        <p:nvSpPr>
          <p:cNvPr id="15" name="Shape 13"/>
          <p:cNvSpPr/>
          <p:nvPr/>
        </p:nvSpPr>
        <p:spPr>
          <a:xfrm>
            <a:off x="7205472" y="1783080"/>
            <a:ext cx="100584" cy="100584"/>
          </a:xfrm>
          <a:prstGeom prst="ellipse">
            <a:avLst/>
          </a:prstGeom>
          <a:solidFill>
            <a:srgbClr val="C9BFA9"/>
          </a:solidFill>
          <a:ln/>
        </p:spPr>
      </p:sp>
      <p:sp>
        <p:nvSpPr>
          <p:cNvPr id="16" name="Shape 14"/>
          <p:cNvSpPr/>
          <p:nvPr/>
        </p:nvSpPr>
        <p:spPr>
          <a:xfrm>
            <a:off x="7388352" y="1783080"/>
            <a:ext cx="100584" cy="100584"/>
          </a:xfrm>
          <a:prstGeom prst="ellipse">
            <a:avLst/>
          </a:prstGeom>
          <a:solidFill>
            <a:srgbClr val="C9BFA9"/>
          </a:solidFill>
          <a:ln/>
        </p:spPr>
      </p:sp>
      <p:sp>
        <p:nvSpPr>
          <p:cNvPr id="17" name="Shape 15"/>
          <p:cNvSpPr/>
          <p:nvPr/>
        </p:nvSpPr>
        <p:spPr>
          <a:xfrm>
            <a:off x="7571232" y="1783080"/>
            <a:ext cx="100584" cy="100584"/>
          </a:xfrm>
          <a:prstGeom prst="ellipse">
            <a:avLst/>
          </a:prstGeom>
          <a:solidFill>
            <a:srgbClr val="C9BFA9"/>
          </a:solidFill>
          <a:ln/>
        </p:spPr>
      </p:sp>
      <p:sp>
        <p:nvSpPr>
          <p:cNvPr id="18" name="Text 16"/>
          <p:cNvSpPr txBox="1"/>
          <p:nvPr/>
        </p:nvSpPr>
        <p:spPr>
          <a:xfrm>
            <a:off x="7818120" y="1673352"/>
            <a:ext cx="3566160" cy="329184"/>
          </a:xfrm>
          <a:prstGeom prst="rect">
            <a:avLst/>
          </a:prstGeom>
          <a:noFill/>
          <a:ln/>
        </p:spPr>
        <p:txBody>
          <a:bodyPr wrap="square" lIns="0" tIns="0" rIns="0" bIns="0" rtlCol="0" anchor="ctr"/>
          <a:lstStyle/>
          <a:p>
            <a:pPr indent="0" marL="0">
              <a:buNone/>
            </a:pPr>
            <a:r>
              <a:rPr lang="en-US" sz="900" dirty="0">
                <a:solidFill>
                  <a:srgbClr val="7A7266"/>
                </a:solidFill>
                <a:latin typeface="Calibri" pitchFamily="34" charset="0"/>
                <a:ea typeface="Calibri" pitchFamily="34" charset="-122"/>
                <a:cs typeface="Calibri" pitchFamily="34" charset="-120"/>
              </a:rPr>
              <a:t>portal · sign-in</a:t>
            </a:r>
            <a:endParaRPr lang="en-US" sz="900" dirty="0"/>
          </a:p>
        </p:txBody>
      </p:sp>
      <p:sp>
        <p:nvSpPr>
          <p:cNvPr id="19" name="Shape 17"/>
          <p:cNvSpPr/>
          <p:nvPr/>
        </p:nvSpPr>
        <p:spPr>
          <a:xfrm>
            <a:off x="7040880" y="2029968"/>
            <a:ext cx="4480560" cy="0"/>
          </a:xfrm>
          <a:prstGeom prst="line">
            <a:avLst/>
          </a:prstGeom>
          <a:noFill/>
          <a:ln w="12700">
            <a:solidFill>
              <a:srgbClr val="E4DCC9"/>
            </a:solidFill>
            <a:prstDash val="solid"/>
          </a:ln>
        </p:spPr>
      </p:sp>
      <p:sp>
        <p:nvSpPr>
          <p:cNvPr id="20" name="Text 18"/>
          <p:cNvSpPr txBox="1"/>
          <p:nvPr/>
        </p:nvSpPr>
        <p:spPr>
          <a:xfrm>
            <a:off x="7296912" y="2304288"/>
            <a:ext cx="3968496" cy="457200"/>
          </a:xfrm>
          <a:prstGeom prst="rect">
            <a:avLst/>
          </a:prstGeom>
          <a:noFill/>
          <a:ln/>
        </p:spPr>
        <p:txBody>
          <a:bodyPr wrap="square" lIns="0" tIns="0" rIns="0" bIns="0" rtlCol="0" anchor="ctr"/>
          <a:lstStyle/>
          <a:p>
            <a:pPr algn="ctr" indent="0" marL="0">
              <a:buNone/>
            </a:pPr>
            <a:r>
              <a:rPr lang="en-US" sz="1600" dirty="0">
                <a:solidFill>
                  <a:srgbClr val="1D1A15"/>
                </a:solidFill>
                <a:latin typeface="Georgia" pitchFamily="34" charset="0"/>
                <a:ea typeface="Georgia" pitchFamily="34" charset="-122"/>
                <a:cs typeface="Georgia" pitchFamily="34" charset="-120"/>
              </a:rPr>
              <a:t>Portal sign-in</a:t>
            </a:r>
            <a:endParaRPr lang="en-US" sz="1600" dirty="0"/>
          </a:p>
        </p:txBody>
      </p:sp>
      <p:sp>
        <p:nvSpPr>
          <p:cNvPr id="21" name="Shape 19"/>
          <p:cNvSpPr/>
          <p:nvPr/>
        </p:nvSpPr>
        <p:spPr>
          <a:xfrm>
            <a:off x="7479792" y="2990088"/>
            <a:ext cx="3602736" cy="384048"/>
          </a:xfrm>
          <a:prstGeom prst="roundRect">
            <a:avLst>
              <a:gd name="adj" fmla="val 14286"/>
            </a:avLst>
          </a:prstGeom>
          <a:solidFill>
            <a:srgbClr val="FBFAF6"/>
          </a:solidFill>
          <a:ln w="12700">
            <a:solidFill>
              <a:srgbClr val="E4DCC9"/>
            </a:solidFill>
            <a:prstDash val="solid"/>
          </a:ln>
        </p:spPr>
      </p:sp>
      <p:sp>
        <p:nvSpPr>
          <p:cNvPr id="22" name="Shape 20"/>
          <p:cNvSpPr/>
          <p:nvPr/>
        </p:nvSpPr>
        <p:spPr>
          <a:xfrm>
            <a:off x="7479792" y="3493008"/>
            <a:ext cx="3602736" cy="438912"/>
          </a:xfrm>
          <a:prstGeom prst="roundRect">
            <a:avLst>
              <a:gd name="adj" fmla="val 12500"/>
            </a:avLst>
          </a:prstGeom>
          <a:solidFill>
            <a:srgbClr val="1D1A15"/>
          </a:solidFill>
          <a:ln/>
        </p:spPr>
      </p:sp>
      <p:sp>
        <p:nvSpPr>
          <p:cNvPr id="23" name="Text 21"/>
          <p:cNvSpPr txBox="1"/>
          <p:nvPr/>
        </p:nvSpPr>
        <p:spPr>
          <a:xfrm>
            <a:off x="7479792" y="3493008"/>
            <a:ext cx="3602736" cy="438912"/>
          </a:xfrm>
          <a:prstGeom prst="rect">
            <a:avLst/>
          </a:prstGeom>
          <a:noFill/>
          <a:ln/>
        </p:spPr>
        <p:txBody>
          <a:bodyPr wrap="square" lIns="0" tIns="0" rIns="0" bIns="0" rtlCol="0" anchor="ctr"/>
          <a:lstStyle/>
          <a:p>
            <a:pPr algn="ctr" indent="0" marL="0">
              <a:buNone/>
            </a:pPr>
            <a:r>
              <a:rPr lang="en-US" sz="1000" b="1" spc="100" kern="0" dirty="0">
                <a:solidFill>
                  <a:srgbClr val="F3ECDD"/>
                </a:solidFill>
                <a:latin typeface="Calibri" pitchFamily="34" charset="0"/>
                <a:ea typeface="Calibri" pitchFamily="34" charset="-122"/>
                <a:cs typeface="Calibri" pitchFamily="34" charset="-120"/>
              </a:rPr>
              <a:t>EMAIL ME A SIGN-IN CODE</a:t>
            </a:r>
            <a:endParaRPr lang="en-US" sz="1000" dirty="0"/>
          </a:p>
        </p:txBody>
      </p:sp>
      <p:sp>
        <p:nvSpPr>
          <p:cNvPr id="24" name="Shape 22"/>
          <p:cNvSpPr/>
          <p:nvPr/>
        </p:nvSpPr>
        <p:spPr>
          <a:xfrm>
            <a:off x="7479792" y="4087368"/>
            <a:ext cx="3602736" cy="502920"/>
          </a:xfrm>
          <a:prstGeom prst="roundRect">
            <a:avLst>
              <a:gd name="adj" fmla="val 10909"/>
            </a:avLst>
          </a:prstGeom>
          <a:solidFill>
            <a:srgbClr val="F0E9D8"/>
          </a:solidFill>
          <a:ln w="12700">
            <a:solidFill>
              <a:srgbClr val="E4DCC9"/>
            </a:solidFill>
            <a:prstDash val="dash"/>
          </a:ln>
        </p:spPr>
      </p:sp>
      <p:sp>
        <p:nvSpPr>
          <p:cNvPr id="25" name="Text 23"/>
          <p:cNvSpPr txBox="1"/>
          <p:nvPr/>
        </p:nvSpPr>
        <p:spPr>
          <a:xfrm>
            <a:off x="7479792" y="4087368"/>
            <a:ext cx="3602736" cy="502920"/>
          </a:xfrm>
          <a:prstGeom prst="rect">
            <a:avLst/>
          </a:prstGeom>
          <a:noFill/>
          <a:ln/>
        </p:spPr>
        <p:txBody>
          <a:bodyPr wrap="square" lIns="0" tIns="0" rIns="0" bIns="0" rtlCol="0" anchor="ctr"/>
          <a:lstStyle/>
          <a:p>
            <a:pPr algn="ctr" indent="0" marL="0">
              <a:buNone/>
            </a:pPr>
            <a:r>
              <a:rPr lang="en-US" sz="900" dirty="0">
                <a:solidFill>
                  <a:srgbClr val="7A7266"/>
                </a:solidFill>
                <a:latin typeface="Calibri" pitchFamily="34" charset="0"/>
                <a:ea typeface="Calibri" pitchFamily="34" charset="-122"/>
                <a:cs typeface="Calibri" pitchFamily="34" charset="-120"/>
              </a:rPr>
              <a:t>Dev sign-in (local only)</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11B12"/>
        </a:solidFill>
      </p:bgPr>
    </p:bg>
    <p:spTree>
      <p:nvGrpSpPr>
        <p:cNvPr id="1" name=""/>
        <p:cNvGrpSpPr/>
        <p:nvPr/>
      </p:nvGrpSpPr>
      <p:grpSpPr>
        <a:xfrm>
          <a:off x="0" y="0"/>
          <a:ext cx="0" cy="0"/>
          <a:chOff x="0" y="0"/>
          <a:chExt cx="0" cy="0"/>
        </a:xfrm>
      </p:grpSpPr>
      <p:sp>
        <p:nvSpPr>
          <p:cNvPr id="2" name="Shape 0"/>
          <p:cNvSpPr/>
          <p:nvPr/>
        </p:nvSpPr>
        <p:spPr>
          <a:xfrm>
            <a:off x="9079992" y="-1463040"/>
            <a:ext cx="4206240" cy="4206240"/>
          </a:xfrm>
          <a:prstGeom prst="ellipse">
            <a:avLst/>
          </a:prstGeom>
          <a:ln w="15875">
            <a:solidFill>
              <a:srgbClr val="9C7C2E">
                <a:alpha val="45000"/>
              </a:srgbClr>
            </a:solidFill>
            <a:prstDash val="solid"/>
          </a:ln>
        </p:spPr>
      </p:sp>
      <p:sp>
        <p:nvSpPr>
          <p:cNvPr id="3" name="Shape 1"/>
          <p:cNvSpPr/>
          <p:nvPr/>
        </p:nvSpPr>
        <p:spPr>
          <a:xfrm>
            <a:off x="10085832" y="4846320"/>
            <a:ext cx="3108960" cy="3108960"/>
          </a:xfrm>
          <a:prstGeom prst="ellipse">
            <a:avLst/>
          </a:prstGeom>
          <a:ln w="12700">
            <a:solidFill>
              <a:srgbClr val="9C7C2E">
                <a:alpha val="30000"/>
              </a:srgbClr>
            </a:solidFill>
            <a:prstDash val="solid"/>
          </a:ln>
        </p:spPr>
      </p:sp>
      <p:sp>
        <p:nvSpPr>
          <p:cNvPr id="4" name="Text 2"/>
          <p:cNvSpPr txBox="1"/>
          <p:nvPr/>
        </p:nvSpPr>
        <p:spPr>
          <a:xfrm>
            <a:off x="822960" y="2194560"/>
            <a:ext cx="7315200" cy="274320"/>
          </a:xfrm>
          <a:prstGeom prst="rect">
            <a:avLst/>
          </a:prstGeom>
          <a:noFill/>
          <a:ln/>
        </p:spPr>
        <p:txBody>
          <a:bodyPr wrap="square" lIns="0" tIns="0" rIns="0" bIns="0" rtlCol="0" anchor="ctr"/>
          <a:lstStyle/>
          <a:p>
            <a:pPr indent="0" marL="0">
              <a:buNone/>
            </a:pPr>
            <a:r>
              <a:rPr lang="en-US" sz="1100" b="1" spc="300" kern="0" dirty="0">
                <a:solidFill>
                  <a:srgbClr val="C4A24E"/>
                </a:solidFill>
                <a:latin typeface="Calibri" pitchFamily="34" charset="0"/>
                <a:ea typeface="Calibri" pitchFamily="34" charset="-122"/>
                <a:cs typeface="Calibri" pitchFamily="34" charset="-120"/>
              </a:rPr>
              <a:t>PART ONE</a:t>
            </a:r>
            <a:endParaRPr lang="en-US" sz="1100" dirty="0"/>
          </a:p>
        </p:txBody>
      </p:sp>
      <p:sp>
        <p:nvSpPr>
          <p:cNvPr id="5" name="Text 3"/>
          <p:cNvSpPr txBox="1"/>
          <p:nvPr/>
        </p:nvSpPr>
        <p:spPr>
          <a:xfrm>
            <a:off x="822960" y="2514600"/>
            <a:ext cx="9601200" cy="1828800"/>
          </a:xfrm>
          <a:prstGeom prst="rect">
            <a:avLst/>
          </a:prstGeom>
          <a:noFill/>
          <a:ln/>
        </p:spPr>
        <p:txBody>
          <a:bodyPr wrap="square" lIns="0" tIns="0" rIns="0" bIns="0" rtlCol="0" anchor="ctr"/>
          <a:lstStyle/>
          <a:p>
            <a:pPr indent="0" marL="0">
              <a:lnSpc>
                <a:spcPct val="98000"/>
              </a:lnSpc>
              <a:buNone/>
            </a:pPr>
            <a:r>
              <a:rPr lang="en-US" sz="4000" b="1" dirty="0">
                <a:solidFill>
                  <a:srgbClr val="F3ECDD"/>
                </a:solidFill>
                <a:latin typeface="Georgia" pitchFamily="34" charset="0"/>
                <a:ea typeface="Georgia" pitchFamily="34" charset="-122"/>
                <a:cs typeface="Georgia" pitchFamily="34" charset="-120"/>
              </a:rPr>
              <a:t>The internal portal</a:t>
            </a:r>
            <a:endParaRPr lang="en-US" sz="4000" dirty="0"/>
          </a:p>
        </p:txBody>
      </p:sp>
      <p:sp>
        <p:nvSpPr>
          <p:cNvPr id="6" name="Text 4"/>
          <p:cNvSpPr txBox="1"/>
          <p:nvPr/>
        </p:nvSpPr>
        <p:spPr>
          <a:xfrm>
            <a:off x="822960" y="4114800"/>
            <a:ext cx="8686800" cy="1280160"/>
          </a:xfrm>
          <a:prstGeom prst="rect">
            <a:avLst/>
          </a:prstGeom>
          <a:noFill/>
          <a:ln/>
        </p:spPr>
        <p:txBody>
          <a:bodyPr wrap="square" lIns="0" tIns="0" rIns="0" bIns="0" rtlCol="0" anchor="ctr"/>
          <a:lstStyle/>
          <a:p>
            <a:pPr indent="0" marL="0">
              <a:lnSpc>
                <a:spcPct val="120000"/>
              </a:lnSpc>
              <a:buNone/>
            </a:pPr>
            <a:r>
              <a:rPr lang="en-US" sz="1500" dirty="0">
                <a:solidFill>
                  <a:srgbClr val="B7AE9E"/>
                </a:solidFill>
                <a:latin typeface="Calibri" pitchFamily="34" charset="0"/>
                <a:ea typeface="Calibri" pitchFamily="34" charset="-122"/>
                <a:cs typeface="Calibri" pitchFamily="34" charset="-120"/>
              </a:rPr>
              <a:t>The daily operating picture we’d give the DeepRoots team, one Overview, six department hubs, and the tools to run the work.</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822960" y="777240"/>
            <a:ext cx="7315200" cy="274320"/>
          </a:xfrm>
          <a:prstGeom prst="rect">
            <a:avLst/>
          </a:prstGeom>
          <a:noFill/>
          <a:ln/>
        </p:spPr>
        <p:txBody>
          <a:bodyPr wrap="square" lIns="0" tIns="0" rIns="0" bIns="0" rtlCol="0" anchor="ctr"/>
          <a:lstStyle/>
          <a:p>
            <a:pPr indent="0" marL="0">
              <a:buNone/>
            </a:pPr>
            <a:r>
              <a:rPr lang="en-US" sz="1100" b="1" spc="300" kern="0" dirty="0">
                <a:solidFill>
                  <a:srgbClr val="9C7C2E"/>
                </a:solidFill>
                <a:latin typeface="Calibri" pitchFamily="34" charset="0"/>
                <a:ea typeface="Calibri" pitchFamily="34" charset="-122"/>
                <a:cs typeface="Calibri" pitchFamily="34" charset="-120"/>
              </a:rPr>
              <a:t>STAFF PORTAL · OVERVIEW</a:t>
            </a:r>
            <a:endParaRPr lang="en-US" sz="1100" dirty="0"/>
          </a:p>
        </p:txBody>
      </p:sp>
      <p:sp>
        <p:nvSpPr>
          <p:cNvPr id="3" name="Shape 1"/>
          <p:cNvSpPr/>
          <p:nvPr/>
        </p:nvSpPr>
        <p:spPr>
          <a:xfrm>
            <a:off x="10314432" y="731520"/>
            <a:ext cx="1051560" cy="310896"/>
          </a:xfrm>
          <a:prstGeom prst="roundRect">
            <a:avLst>
              <a:gd name="adj" fmla="val 50000"/>
            </a:avLst>
          </a:prstGeom>
          <a:solidFill>
            <a:srgbClr val="F3E7C8"/>
          </a:solidFill>
          <a:ln w="9525">
            <a:solidFill>
              <a:srgbClr val="9C7C2E"/>
            </a:solidFill>
            <a:prstDash val="solid"/>
          </a:ln>
        </p:spPr>
      </p:sp>
      <p:sp>
        <p:nvSpPr>
          <p:cNvPr id="4" name="Text 2"/>
          <p:cNvSpPr txBox="1"/>
          <p:nvPr/>
        </p:nvSpPr>
        <p:spPr>
          <a:xfrm>
            <a:off x="10314432" y="722376"/>
            <a:ext cx="1051560" cy="320040"/>
          </a:xfrm>
          <a:prstGeom prst="rect">
            <a:avLst/>
          </a:prstGeom>
          <a:noFill/>
          <a:ln/>
        </p:spPr>
        <p:txBody>
          <a:bodyPr wrap="square" lIns="0" tIns="0" rIns="0" bIns="0" rtlCol="0" anchor="ctr"/>
          <a:lstStyle/>
          <a:p>
            <a:pPr algn="ctr" indent="0" marL="0">
              <a:buNone/>
            </a:pPr>
            <a:r>
              <a:rPr lang="en-US" sz="850" b="1" spc="100" kern="0" dirty="0">
                <a:solidFill>
                  <a:srgbClr val="7A5A12"/>
                </a:solidFill>
                <a:latin typeface="Calibri" pitchFamily="34" charset="0"/>
                <a:ea typeface="Calibri" pitchFamily="34" charset="-122"/>
                <a:cs typeface="Calibri" pitchFamily="34" charset="-120"/>
              </a:rPr>
              <a:t>PHASE 2</a:t>
            </a:r>
            <a:endParaRPr lang="en-US" sz="850" dirty="0"/>
          </a:p>
        </p:txBody>
      </p:sp>
      <p:sp>
        <p:nvSpPr>
          <p:cNvPr id="5" name="Text 3"/>
          <p:cNvSpPr txBox="1"/>
          <p:nvPr/>
        </p:nvSpPr>
        <p:spPr>
          <a:xfrm>
            <a:off x="822960" y="1097280"/>
            <a:ext cx="5760720" cy="1371600"/>
          </a:xfrm>
          <a:prstGeom prst="rect">
            <a:avLst/>
          </a:prstGeom>
          <a:noFill/>
          <a:ln/>
        </p:spPr>
        <p:txBody>
          <a:bodyPr wrap="square" lIns="0" tIns="0" rIns="0" bIns="0" rtlCol="0" anchor="t"/>
          <a:lstStyle/>
          <a:p>
            <a:pPr indent="0" marL="0">
              <a:lnSpc>
                <a:spcPct val="98000"/>
              </a:lnSpc>
              <a:buNone/>
            </a:pPr>
            <a:r>
              <a:rPr lang="en-US" sz="3000" b="1" dirty="0">
                <a:solidFill>
                  <a:srgbClr val="1D1A15"/>
                </a:solidFill>
                <a:latin typeface="Georgia" pitchFamily="34" charset="0"/>
                <a:ea typeface="Georgia" pitchFamily="34" charset="-122"/>
                <a:cs typeface="Georgia" pitchFamily="34" charset="-120"/>
              </a:rPr>
              <a:t>Overview: the company at a glance</a:t>
            </a:r>
            <a:endParaRPr lang="en-US" sz="3000" dirty="0"/>
          </a:p>
        </p:txBody>
      </p:sp>
      <p:sp>
        <p:nvSpPr>
          <p:cNvPr id="6" name="Text 4"/>
          <p:cNvSpPr txBox="1"/>
          <p:nvPr/>
        </p:nvSpPr>
        <p:spPr>
          <a:xfrm>
            <a:off x="822960" y="2286000"/>
            <a:ext cx="5760720" cy="1371600"/>
          </a:xfrm>
          <a:prstGeom prst="rect">
            <a:avLst/>
          </a:prstGeom>
          <a:noFill/>
          <a:ln/>
        </p:spPr>
        <p:txBody>
          <a:bodyPr wrap="square" lIns="0" tIns="0" rIns="0" bIns="0" rtlCol="0" anchor="t"/>
          <a:lstStyle/>
          <a:p>
            <a:pPr indent="0" marL="0">
              <a:lnSpc>
                <a:spcPct val="115000"/>
              </a:lnSpc>
              <a:buNone/>
            </a:pPr>
            <a:r>
              <a:rPr lang="en-US" sz="1500" dirty="0">
                <a:solidFill>
                  <a:srgbClr val="7A7266"/>
                </a:solidFill>
                <a:latin typeface="Calibri" pitchFamily="34" charset="0"/>
                <a:ea typeface="Calibri" pitchFamily="34" charset="-122"/>
                <a:cs typeface="Calibri" pitchFamily="34" charset="-120"/>
              </a:rPr>
              <a:t>Headline numbers, the leadership wheel, and a “needs attention” list that surfaces what to act on today.</a:t>
            </a:r>
            <a:endParaRPr lang="en-US" sz="1500" dirty="0"/>
          </a:p>
        </p:txBody>
      </p:sp>
      <p:sp>
        <p:nvSpPr>
          <p:cNvPr id="7" name="Shape 5"/>
          <p:cNvSpPr/>
          <p:nvPr/>
        </p:nvSpPr>
        <p:spPr>
          <a:xfrm>
            <a:off x="822960" y="3657600"/>
            <a:ext cx="1508760" cy="384048"/>
          </a:xfrm>
          <a:prstGeom prst="roundRect">
            <a:avLst>
              <a:gd name="adj" fmla="val 50000"/>
            </a:avLst>
          </a:prstGeom>
          <a:solidFill>
            <a:srgbClr val="FFFFFF"/>
          </a:solidFill>
          <a:ln w="12700">
            <a:solidFill>
              <a:srgbClr val="E4DCC9"/>
            </a:solidFill>
            <a:prstDash val="solid"/>
          </a:ln>
        </p:spPr>
      </p:sp>
      <p:sp>
        <p:nvSpPr>
          <p:cNvPr id="8" name="Text 6"/>
          <p:cNvSpPr txBox="1"/>
          <p:nvPr/>
        </p:nvSpPr>
        <p:spPr>
          <a:xfrm>
            <a:off x="969264" y="3639312"/>
            <a:ext cx="1234440" cy="420624"/>
          </a:xfrm>
          <a:prstGeom prst="rect">
            <a:avLst/>
          </a:prstGeom>
          <a:noFill/>
          <a:ln/>
        </p:spPr>
        <p:txBody>
          <a:bodyPr wrap="square" lIns="0" tIns="0" rIns="0" bIns="0" rtlCol="0" anchor="ctr"/>
          <a:lstStyle/>
          <a:p>
            <a:pPr indent="0" marL="0">
              <a:buNone/>
            </a:pPr>
            <a:r>
              <a:rPr lang="en-US" sz="1050" dirty="0">
                <a:solidFill>
                  <a:srgbClr val="1D1A15"/>
                </a:solidFill>
                <a:latin typeface="Calibri" pitchFamily="34" charset="0"/>
                <a:ea typeface="Calibri" pitchFamily="34" charset="-122"/>
                <a:cs typeface="Calibri" pitchFamily="34" charset="-120"/>
              </a:rPr>
              <a:t>Company numbers</a:t>
            </a:r>
            <a:endParaRPr lang="en-US" sz="1050" dirty="0"/>
          </a:p>
        </p:txBody>
      </p:sp>
      <p:sp>
        <p:nvSpPr>
          <p:cNvPr id="9" name="Shape 7"/>
          <p:cNvSpPr/>
          <p:nvPr/>
        </p:nvSpPr>
        <p:spPr>
          <a:xfrm>
            <a:off x="2496312" y="3657600"/>
            <a:ext cx="1808683" cy="384048"/>
          </a:xfrm>
          <a:prstGeom prst="roundRect">
            <a:avLst>
              <a:gd name="adj" fmla="val 50000"/>
            </a:avLst>
          </a:prstGeom>
          <a:solidFill>
            <a:srgbClr val="FFFFFF"/>
          </a:solidFill>
          <a:ln w="12700">
            <a:solidFill>
              <a:srgbClr val="E4DCC9"/>
            </a:solidFill>
            <a:prstDash val="solid"/>
          </a:ln>
        </p:spPr>
      </p:sp>
      <p:sp>
        <p:nvSpPr>
          <p:cNvPr id="10" name="Shape 8"/>
          <p:cNvSpPr/>
          <p:nvPr/>
        </p:nvSpPr>
        <p:spPr>
          <a:xfrm>
            <a:off x="2642616" y="3799332"/>
            <a:ext cx="100584" cy="100584"/>
          </a:xfrm>
          <a:prstGeom prst="ellipse">
            <a:avLst/>
          </a:prstGeom>
          <a:solidFill>
            <a:srgbClr val="7A7266"/>
          </a:solidFill>
          <a:ln/>
        </p:spPr>
      </p:sp>
      <p:sp>
        <p:nvSpPr>
          <p:cNvPr id="11" name="Text 9"/>
          <p:cNvSpPr txBox="1"/>
          <p:nvPr/>
        </p:nvSpPr>
        <p:spPr>
          <a:xfrm>
            <a:off x="2807208" y="3639312"/>
            <a:ext cx="1534363" cy="420624"/>
          </a:xfrm>
          <a:prstGeom prst="rect">
            <a:avLst/>
          </a:prstGeom>
          <a:noFill/>
          <a:ln/>
        </p:spPr>
        <p:txBody>
          <a:bodyPr wrap="square" lIns="0" tIns="0" rIns="0" bIns="0" rtlCol="0" anchor="ctr"/>
          <a:lstStyle/>
          <a:p>
            <a:pPr indent="0" marL="0">
              <a:buNone/>
            </a:pPr>
            <a:r>
              <a:rPr lang="en-US" sz="1050" dirty="0">
                <a:solidFill>
                  <a:srgbClr val="1D1A15"/>
                </a:solidFill>
                <a:latin typeface="Calibri" pitchFamily="34" charset="0"/>
                <a:ea typeface="Calibri" pitchFamily="34" charset="-122"/>
                <a:cs typeface="Calibri" pitchFamily="34" charset="-120"/>
              </a:rPr>
              <a:t>Illustrative mockup</a:t>
            </a:r>
            <a:endParaRPr lang="en-US" sz="1050" dirty="0"/>
          </a:p>
        </p:txBody>
      </p:sp>
      <p:sp>
        <p:nvSpPr>
          <p:cNvPr id="12" name="Shape 10"/>
          <p:cNvSpPr/>
          <p:nvPr/>
        </p:nvSpPr>
        <p:spPr>
          <a:xfrm>
            <a:off x="6565392" y="1461115"/>
            <a:ext cx="5385816" cy="3935770"/>
          </a:xfrm>
          <a:prstGeom prst="roundRect">
            <a:avLst>
              <a:gd name="adj" fmla="val 1394"/>
            </a:avLst>
          </a:prstGeom>
          <a:solidFill>
            <a:srgbClr val="FFFFFF"/>
          </a:solidFill>
          <a:ln w="12700">
            <a:solidFill>
              <a:srgbClr val="E4DCC9"/>
            </a:solidFill>
            <a:prstDash val="solid"/>
          </a:ln>
          <a:effectLst>
            <a:outerShdw sx="100000" sy="100000" kx="0" ky="0" algn="bl" rotWithShape="0" blurRad="127000" dist="38100" dir="5400000">
              <a:srgbClr val="6B6252">
                <a:alpha val="35000"/>
              </a:srgbClr>
            </a:outerShdw>
          </a:effectLst>
        </p:spPr>
      </p:sp>
      <p:pic>
        <p:nvPicPr>
          <p:cNvPr id="13" name="Image 0" descr="/private/tmp/claude-502/-Users-DRBTroy-Documents-Projects-DeepRoots/3b403855-4530-4100-a3e2-ac51fe60ce6e/scratchpad/screens/main-dash.png">    </p:cNvPr>
          <p:cNvPicPr>
            <a:picLocks noChangeAspect="1"/>
          </p:cNvPicPr>
          <p:nvPr/>
        </p:nvPicPr>
        <p:blipFill>
          <a:blip r:embed="rId1"/>
          <a:stretch>
            <a:fillRect/>
          </a:stretch>
        </p:blipFill>
        <p:spPr>
          <a:xfrm>
            <a:off x="6629400" y="1525123"/>
            <a:ext cx="5257800" cy="380775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822960" y="777240"/>
            <a:ext cx="7315200" cy="274320"/>
          </a:xfrm>
          <a:prstGeom prst="rect">
            <a:avLst/>
          </a:prstGeom>
          <a:noFill/>
          <a:ln/>
        </p:spPr>
        <p:txBody>
          <a:bodyPr wrap="square" lIns="0" tIns="0" rIns="0" bIns="0" rtlCol="0" anchor="ctr"/>
          <a:lstStyle/>
          <a:p>
            <a:pPr indent="0" marL="0">
              <a:buNone/>
            </a:pPr>
            <a:r>
              <a:rPr lang="en-US" sz="1100" b="1" spc="300" kern="0" dirty="0">
                <a:solidFill>
                  <a:srgbClr val="9C7C2E"/>
                </a:solidFill>
                <a:latin typeface="Calibri" pitchFamily="34" charset="0"/>
                <a:ea typeface="Calibri" pitchFamily="34" charset="-122"/>
                <a:cs typeface="Calibri" pitchFamily="34" charset="-120"/>
              </a:rPr>
              <a:t>STAFF PORTAL · DEPARTMENT HUBS</a:t>
            </a:r>
            <a:endParaRPr lang="en-US" sz="1100" dirty="0"/>
          </a:p>
        </p:txBody>
      </p:sp>
      <p:sp>
        <p:nvSpPr>
          <p:cNvPr id="3" name="Shape 1"/>
          <p:cNvSpPr/>
          <p:nvPr/>
        </p:nvSpPr>
        <p:spPr>
          <a:xfrm>
            <a:off x="10314432" y="731520"/>
            <a:ext cx="1051560" cy="310896"/>
          </a:xfrm>
          <a:prstGeom prst="roundRect">
            <a:avLst>
              <a:gd name="adj" fmla="val 50000"/>
            </a:avLst>
          </a:prstGeom>
          <a:solidFill>
            <a:srgbClr val="F3E7C8"/>
          </a:solidFill>
          <a:ln w="9525">
            <a:solidFill>
              <a:srgbClr val="9C7C2E"/>
            </a:solidFill>
            <a:prstDash val="solid"/>
          </a:ln>
        </p:spPr>
      </p:sp>
      <p:sp>
        <p:nvSpPr>
          <p:cNvPr id="4" name="Text 2"/>
          <p:cNvSpPr txBox="1"/>
          <p:nvPr/>
        </p:nvSpPr>
        <p:spPr>
          <a:xfrm>
            <a:off x="10314432" y="722376"/>
            <a:ext cx="1051560" cy="320040"/>
          </a:xfrm>
          <a:prstGeom prst="rect">
            <a:avLst/>
          </a:prstGeom>
          <a:noFill/>
          <a:ln/>
        </p:spPr>
        <p:txBody>
          <a:bodyPr wrap="square" lIns="0" tIns="0" rIns="0" bIns="0" rtlCol="0" anchor="ctr"/>
          <a:lstStyle/>
          <a:p>
            <a:pPr algn="ctr" indent="0" marL="0">
              <a:buNone/>
            </a:pPr>
            <a:r>
              <a:rPr lang="en-US" sz="850" b="1" spc="100" kern="0" dirty="0">
                <a:solidFill>
                  <a:srgbClr val="7A5A12"/>
                </a:solidFill>
                <a:latin typeface="Calibri" pitchFamily="34" charset="0"/>
                <a:ea typeface="Calibri" pitchFamily="34" charset="-122"/>
                <a:cs typeface="Calibri" pitchFamily="34" charset="-120"/>
              </a:rPr>
              <a:t>PHASE 2</a:t>
            </a:r>
            <a:endParaRPr lang="en-US" sz="850" dirty="0"/>
          </a:p>
        </p:txBody>
      </p:sp>
      <p:sp>
        <p:nvSpPr>
          <p:cNvPr id="5" name="Text 3"/>
          <p:cNvSpPr txBox="1"/>
          <p:nvPr/>
        </p:nvSpPr>
        <p:spPr>
          <a:xfrm>
            <a:off x="822960" y="1097280"/>
            <a:ext cx="5760720" cy="1371600"/>
          </a:xfrm>
          <a:prstGeom prst="rect">
            <a:avLst/>
          </a:prstGeom>
          <a:noFill/>
          <a:ln/>
        </p:spPr>
        <p:txBody>
          <a:bodyPr wrap="square" lIns="0" tIns="0" rIns="0" bIns="0" rtlCol="0" anchor="t"/>
          <a:lstStyle/>
          <a:p>
            <a:pPr indent="0" marL="0">
              <a:lnSpc>
                <a:spcPct val="98000"/>
              </a:lnSpc>
              <a:buNone/>
            </a:pPr>
            <a:r>
              <a:rPr lang="en-US" sz="3200" b="1" dirty="0">
                <a:solidFill>
                  <a:srgbClr val="1D1A15"/>
                </a:solidFill>
                <a:latin typeface="Georgia" pitchFamily="34" charset="0"/>
                <a:ea typeface="Georgia" pitchFamily="34" charset="-122"/>
                <a:cs typeface="Georgia" pitchFamily="34" charset="-120"/>
              </a:rPr>
              <a:t>Department hubs</a:t>
            </a:r>
            <a:endParaRPr lang="en-US" sz="3200" dirty="0"/>
          </a:p>
        </p:txBody>
      </p:sp>
      <p:sp>
        <p:nvSpPr>
          <p:cNvPr id="6" name="Text 4"/>
          <p:cNvSpPr txBox="1"/>
          <p:nvPr/>
        </p:nvSpPr>
        <p:spPr>
          <a:xfrm>
            <a:off x="822960" y="2286000"/>
            <a:ext cx="5760720" cy="1371600"/>
          </a:xfrm>
          <a:prstGeom prst="rect">
            <a:avLst/>
          </a:prstGeom>
          <a:noFill/>
          <a:ln/>
        </p:spPr>
        <p:txBody>
          <a:bodyPr wrap="square" lIns="0" tIns="0" rIns="0" bIns="0" rtlCol="0" anchor="t"/>
          <a:lstStyle/>
          <a:p>
            <a:pPr indent="0" marL="0">
              <a:lnSpc>
                <a:spcPct val="115000"/>
              </a:lnSpc>
              <a:buNone/>
            </a:pPr>
            <a:r>
              <a:rPr lang="en-US" sz="1500" dirty="0">
                <a:solidFill>
                  <a:srgbClr val="7A7266"/>
                </a:solidFill>
                <a:latin typeface="Calibri" pitchFamily="34" charset="0"/>
                <a:ea typeface="Calibri" pitchFamily="34" charset="-122"/>
                <a:cs typeface="Calibri" pitchFamily="34" charset="-120"/>
              </a:rPr>
              <a:t>Every team would get the same operating view, metrics, signals, and tasks, in one shared look, not reinvented for each team.</a:t>
            </a:r>
            <a:endParaRPr lang="en-US" sz="1500" dirty="0"/>
          </a:p>
        </p:txBody>
      </p:sp>
      <p:sp>
        <p:nvSpPr>
          <p:cNvPr id="7" name="Text 5"/>
          <p:cNvSpPr txBox="1"/>
          <p:nvPr/>
        </p:nvSpPr>
        <p:spPr>
          <a:xfrm>
            <a:off x="822960" y="3657600"/>
            <a:ext cx="5760720" cy="804672"/>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1D1A15"/>
                </a:solidFill>
                <a:latin typeface="Calibri" pitchFamily="34" charset="0"/>
                <a:ea typeface="Calibri" pitchFamily="34" charset="-122"/>
                <a:cs typeface="Calibri" pitchFamily="34" charset="-120"/>
              </a:rPr>
              <a:t>Sales · Customer Success · Curriculum &amp; Content</a:t>
            </a:r>
            <a:endParaRPr lang="en-US" sz="1350" dirty="0"/>
          </a:p>
          <a:p>
            <a:pPr marL="177800" indent="-177800">
              <a:spcAft>
                <a:spcPts val="800"/>
              </a:spcAft>
              <a:buSzPct val="100000"/>
              <a:buChar char="•"/>
            </a:pPr>
            <a:r>
              <a:rPr lang="en-US" sz="1350" dirty="0">
                <a:solidFill>
                  <a:srgbClr val="1D1A15"/>
                </a:solidFill>
                <a:latin typeface="Calibri" pitchFamily="34" charset="0"/>
                <a:ea typeface="Calibri" pitchFamily="34" charset="-122"/>
                <a:cs typeface="Calibri" pitchFamily="34" charset="-120"/>
              </a:rPr>
              <a:t>Editorial · Production · Marketing · Technology · People &amp; HR</a:t>
            </a:r>
            <a:endParaRPr lang="en-US" sz="1350" dirty="0"/>
          </a:p>
        </p:txBody>
      </p:sp>
      <p:sp>
        <p:nvSpPr>
          <p:cNvPr id="8" name="Shape 6"/>
          <p:cNvSpPr/>
          <p:nvPr/>
        </p:nvSpPr>
        <p:spPr>
          <a:xfrm>
            <a:off x="822960" y="4645152"/>
            <a:ext cx="2183587" cy="384048"/>
          </a:xfrm>
          <a:prstGeom prst="roundRect">
            <a:avLst>
              <a:gd name="adj" fmla="val 50000"/>
            </a:avLst>
          </a:prstGeom>
          <a:solidFill>
            <a:srgbClr val="FFFFFF"/>
          </a:solidFill>
          <a:ln w="12700">
            <a:solidFill>
              <a:srgbClr val="E4DCC9"/>
            </a:solidFill>
            <a:prstDash val="solid"/>
          </a:ln>
        </p:spPr>
      </p:sp>
      <p:sp>
        <p:nvSpPr>
          <p:cNvPr id="9" name="Text 7"/>
          <p:cNvSpPr txBox="1"/>
          <p:nvPr/>
        </p:nvSpPr>
        <p:spPr>
          <a:xfrm>
            <a:off x="969264" y="4626864"/>
            <a:ext cx="1909267" cy="420624"/>
          </a:xfrm>
          <a:prstGeom prst="rect">
            <a:avLst/>
          </a:prstGeom>
          <a:noFill/>
          <a:ln/>
        </p:spPr>
        <p:txBody>
          <a:bodyPr wrap="square" lIns="0" tIns="0" rIns="0" bIns="0" rtlCol="0" anchor="ctr"/>
          <a:lstStyle/>
          <a:p>
            <a:pPr indent="0" marL="0">
              <a:buNone/>
            </a:pPr>
            <a:r>
              <a:rPr lang="en-US" sz="1050" dirty="0">
                <a:solidFill>
                  <a:srgbClr val="1D1A15"/>
                </a:solidFill>
                <a:latin typeface="Calibri" pitchFamily="34" charset="0"/>
                <a:ea typeface="Calibri" pitchFamily="34" charset="-122"/>
                <a:cs typeface="Calibri" pitchFamily="34" charset="-120"/>
              </a:rPr>
              <a:t>Metrics, signals &amp; tasks</a:t>
            </a:r>
            <a:endParaRPr lang="en-US" sz="1050" dirty="0"/>
          </a:p>
        </p:txBody>
      </p:sp>
      <p:sp>
        <p:nvSpPr>
          <p:cNvPr id="10" name="Shape 8"/>
          <p:cNvSpPr/>
          <p:nvPr/>
        </p:nvSpPr>
        <p:spPr>
          <a:xfrm>
            <a:off x="6565392" y="1227253"/>
            <a:ext cx="5385816" cy="4403495"/>
          </a:xfrm>
          <a:prstGeom prst="roundRect">
            <a:avLst>
              <a:gd name="adj" fmla="val 1246"/>
            </a:avLst>
          </a:prstGeom>
          <a:solidFill>
            <a:srgbClr val="FFFFFF"/>
          </a:solidFill>
          <a:ln w="12700">
            <a:solidFill>
              <a:srgbClr val="E4DCC9"/>
            </a:solidFill>
            <a:prstDash val="solid"/>
          </a:ln>
          <a:effectLst>
            <a:outerShdw sx="100000" sy="100000" kx="0" ky="0" algn="bl" rotWithShape="0" blurRad="127000" dist="38100" dir="5400000">
              <a:srgbClr val="6B6252">
                <a:alpha val="35000"/>
              </a:srgbClr>
            </a:outerShdw>
          </a:effectLst>
        </p:spPr>
      </p:sp>
      <p:pic>
        <p:nvPicPr>
          <p:cNvPr id="11" name="Image 0" descr="/private/tmp/claude-502/-Users-DRBTroy-Documents-Projects-DeepRoots/3b403855-4530-4100-a3e2-ac51fe60ce6e/scratchpad/screens/sales.png">    </p:cNvPr>
          <p:cNvPicPr>
            <a:picLocks noChangeAspect="1"/>
          </p:cNvPicPr>
          <p:nvPr/>
        </p:nvPicPr>
        <p:blipFill>
          <a:blip r:embed="rId1"/>
          <a:stretch>
            <a:fillRect/>
          </a:stretch>
        </p:blipFill>
        <p:spPr>
          <a:xfrm>
            <a:off x="6629400" y="1291261"/>
            <a:ext cx="5257800" cy="427547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822960" y="777240"/>
            <a:ext cx="7315200" cy="274320"/>
          </a:xfrm>
          <a:prstGeom prst="rect">
            <a:avLst/>
          </a:prstGeom>
          <a:noFill/>
          <a:ln/>
        </p:spPr>
        <p:txBody>
          <a:bodyPr wrap="square" lIns="0" tIns="0" rIns="0" bIns="0" rtlCol="0" anchor="ctr"/>
          <a:lstStyle/>
          <a:p>
            <a:pPr indent="0" marL="0">
              <a:buNone/>
            </a:pPr>
            <a:r>
              <a:rPr lang="en-US" sz="1100" b="1" spc="300" kern="0" dirty="0">
                <a:solidFill>
                  <a:srgbClr val="9C7C2E"/>
                </a:solidFill>
                <a:latin typeface="Calibri" pitchFamily="34" charset="0"/>
                <a:ea typeface="Calibri" pitchFamily="34" charset="-122"/>
                <a:cs typeface="Calibri" pitchFamily="34" charset="-120"/>
              </a:rPr>
              <a:t>STAFF PORTAL · SOCIAL MEDIA</a:t>
            </a:r>
            <a:endParaRPr lang="en-US" sz="1100" dirty="0"/>
          </a:p>
        </p:txBody>
      </p:sp>
      <p:sp>
        <p:nvSpPr>
          <p:cNvPr id="3" name="Shape 1"/>
          <p:cNvSpPr/>
          <p:nvPr/>
        </p:nvSpPr>
        <p:spPr>
          <a:xfrm>
            <a:off x="10314432" y="731520"/>
            <a:ext cx="1051560" cy="310896"/>
          </a:xfrm>
          <a:prstGeom prst="roundRect">
            <a:avLst>
              <a:gd name="adj" fmla="val 50000"/>
            </a:avLst>
          </a:prstGeom>
          <a:solidFill>
            <a:srgbClr val="F3E7C8"/>
          </a:solidFill>
          <a:ln w="9525">
            <a:solidFill>
              <a:srgbClr val="9C7C2E"/>
            </a:solidFill>
            <a:prstDash val="solid"/>
          </a:ln>
        </p:spPr>
      </p:sp>
      <p:sp>
        <p:nvSpPr>
          <p:cNvPr id="4" name="Text 2"/>
          <p:cNvSpPr txBox="1"/>
          <p:nvPr/>
        </p:nvSpPr>
        <p:spPr>
          <a:xfrm>
            <a:off x="10314432" y="722376"/>
            <a:ext cx="1051560" cy="320040"/>
          </a:xfrm>
          <a:prstGeom prst="rect">
            <a:avLst/>
          </a:prstGeom>
          <a:noFill/>
          <a:ln/>
        </p:spPr>
        <p:txBody>
          <a:bodyPr wrap="square" lIns="0" tIns="0" rIns="0" bIns="0" rtlCol="0" anchor="ctr"/>
          <a:lstStyle/>
          <a:p>
            <a:pPr algn="ctr" indent="0" marL="0">
              <a:buNone/>
            </a:pPr>
            <a:r>
              <a:rPr lang="en-US" sz="850" b="1" spc="100" kern="0" dirty="0">
                <a:solidFill>
                  <a:srgbClr val="7A5A12"/>
                </a:solidFill>
                <a:latin typeface="Calibri" pitchFamily="34" charset="0"/>
                <a:ea typeface="Calibri" pitchFamily="34" charset="-122"/>
                <a:cs typeface="Calibri" pitchFamily="34" charset="-120"/>
              </a:rPr>
              <a:t>PHASE 2</a:t>
            </a:r>
            <a:endParaRPr lang="en-US" sz="850" dirty="0"/>
          </a:p>
        </p:txBody>
      </p:sp>
      <p:sp>
        <p:nvSpPr>
          <p:cNvPr id="5" name="Text 3"/>
          <p:cNvSpPr txBox="1"/>
          <p:nvPr/>
        </p:nvSpPr>
        <p:spPr>
          <a:xfrm>
            <a:off x="822960" y="1097280"/>
            <a:ext cx="5760720" cy="1371600"/>
          </a:xfrm>
          <a:prstGeom prst="rect">
            <a:avLst/>
          </a:prstGeom>
          <a:noFill/>
          <a:ln/>
        </p:spPr>
        <p:txBody>
          <a:bodyPr wrap="square" lIns="0" tIns="0" rIns="0" bIns="0" rtlCol="0" anchor="t"/>
          <a:lstStyle/>
          <a:p>
            <a:pPr indent="0" marL="0">
              <a:lnSpc>
                <a:spcPct val="98000"/>
              </a:lnSpc>
              <a:buNone/>
            </a:pPr>
            <a:r>
              <a:rPr lang="en-US" sz="2800" b="1" dirty="0">
                <a:solidFill>
                  <a:srgbClr val="1D1A15"/>
                </a:solidFill>
                <a:latin typeface="Georgia" pitchFamily="34" charset="0"/>
                <a:ea typeface="Georgia" pitchFamily="34" charset="-122"/>
                <a:cs typeface="Georgia" pitchFamily="34" charset="-120"/>
              </a:rPr>
              <a:t>A complete Social Media Dashboard</a:t>
            </a:r>
            <a:endParaRPr lang="en-US" sz="2800" dirty="0"/>
          </a:p>
        </p:txBody>
      </p:sp>
      <p:sp>
        <p:nvSpPr>
          <p:cNvPr id="6" name="Text 4"/>
          <p:cNvSpPr txBox="1"/>
          <p:nvPr/>
        </p:nvSpPr>
        <p:spPr>
          <a:xfrm>
            <a:off x="822960" y="2286000"/>
            <a:ext cx="5760720" cy="1371600"/>
          </a:xfrm>
          <a:prstGeom prst="rect">
            <a:avLst/>
          </a:prstGeom>
          <a:noFill/>
          <a:ln/>
        </p:spPr>
        <p:txBody>
          <a:bodyPr wrap="square" lIns="0" tIns="0" rIns="0" bIns="0" rtlCol="0" anchor="t"/>
          <a:lstStyle/>
          <a:p>
            <a:pPr indent="0" marL="0">
              <a:lnSpc>
                <a:spcPct val="115000"/>
              </a:lnSpc>
              <a:buNone/>
            </a:pPr>
            <a:r>
              <a:rPr lang="en-US" sz="1500" dirty="0">
                <a:solidFill>
                  <a:srgbClr val="7A7266"/>
                </a:solidFill>
                <a:latin typeface="Calibri" pitchFamily="34" charset="0"/>
                <a:ea typeface="Calibri" pitchFamily="34" charset="-122"/>
                <a:cs typeface="Calibri" pitchFamily="34" charset="-120"/>
              </a:rPr>
              <a:t>Plan, schedule, and track every social channel in one place, and feed the best moments straight to school pages.</a:t>
            </a:r>
            <a:endParaRPr lang="en-US" sz="1500" dirty="0"/>
          </a:p>
        </p:txBody>
      </p:sp>
      <p:sp>
        <p:nvSpPr>
          <p:cNvPr id="7" name="Text 5"/>
          <p:cNvSpPr txBox="1"/>
          <p:nvPr/>
        </p:nvSpPr>
        <p:spPr>
          <a:xfrm>
            <a:off x="822960" y="3657600"/>
            <a:ext cx="5760720" cy="1115568"/>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1D1A15"/>
                </a:solidFill>
                <a:latin typeface="Calibri" pitchFamily="34" charset="0"/>
                <a:ea typeface="Calibri" pitchFamily="34" charset="-122"/>
                <a:cs typeface="Calibri" pitchFamily="34" charset="-120"/>
              </a:rPr>
              <a:t>Schedule and queue posts across every platform</a:t>
            </a:r>
            <a:endParaRPr lang="en-US" sz="1350" dirty="0"/>
          </a:p>
          <a:p>
            <a:pPr marL="177800" indent="-177800">
              <a:spcAft>
                <a:spcPts val="800"/>
              </a:spcAft>
              <a:buSzPct val="100000"/>
              <a:buChar char="•"/>
            </a:pPr>
            <a:r>
              <a:rPr lang="en-US" sz="1350" dirty="0">
                <a:solidFill>
                  <a:srgbClr val="1D1A15"/>
                </a:solidFill>
                <a:latin typeface="Calibri" pitchFamily="34" charset="0"/>
                <a:ea typeface="Calibri" pitchFamily="34" charset="-122"/>
                <a:cs typeface="Calibri" pitchFamily="34" charset="-120"/>
              </a:rPr>
              <a:t>Track followers, engagement, and reach</a:t>
            </a:r>
            <a:endParaRPr lang="en-US" sz="1350" dirty="0"/>
          </a:p>
          <a:p>
            <a:pPr marL="177800" indent="-177800">
              <a:spcAft>
                <a:spcPts val="800"/>
              </a:spcAft>
              <a:buSzPct val="100000"/>
              <a:buChar char="•"/>
            </a:pPr>
            <a:r>
              <a:rPr lang="en-US" sz="1350" dirty="0">
                <a:solidFill>
                  <a:srgbClr val="1D1A15"/>
                </a:solidFill>
                <a:latin typeface="Calibri" pitchFamily="34" charset="0"/>
                <a:ea typeface="Calibri" pitchFamily="34" charset="-122"/>
                <a:cs typeface="Calibri" pitchFamily="34" charset="-120"/>
              </a:rPr>
              <a:t>Curate the spotlights that appear on school pages</a:t>
            </a:r>
            <a:endParaRPr lang="en-US" sz="1350" dirty="0"/>
          </a:p>
        </p:txBody>
      </p:sp>
      <p:sp>
        <p:nvSpPr>
          <p:cNvPr id="8" name="Shape 6"/>
          <p:cNvSpPr/>
          <p:nvPr/>
        </p:nvSpPr>
        <p:spPr>
          <a:xfrm>
            <a:off x="822960" y="4956048"/>
            <a:ext cx="2108606" cy="384048"/>
          </a:xfrm>
          <a:prstGeom prst="roundRect">
            <a:avLst>
              <a:gd name="adj" fmla="val 50000"/>
            </a:avLst>
          </a:prstGeom>
          <a:solidFill>
            <a:srgbClr val="FFFFFF"/>
          </a:solidFill>
          <a:ln w="12700">
            <a:solidFill>
              <a:srgbClr val="E4DCC9"/>
            </a:solidFill>
            <a:prstDash val="solid"/>
          </a:ln>
        </p:spPr>
      </p:sp>
      <p:sp>
        <p:nvSpPr>
          <p:cNvPr id="9" name="Text 7"/>
          <p:cNvSpPr txBox="1"/>
          <p:nvPr/>
        </p:nvSpPr>
        <p:spPr>
          <a:xfrm>
            <a:off x="969264" y="4937760"/>
            <a:ext cx="1834286" cy="420624"/>
          </a:xfrm>
          <a:prstGeom prst="rect">
            <a:avLst/>
          </a:prstGeom>
          <a:noFill/>
          <a:ln/>
        </p:spPr>
        <p:txBody>
          <a:bodyPr wrap="square" lIns="0" tIns="0" rIns="0" bIns="0" rtlCol="0" anchor="ctr"/>
          <a:lstStyle/>
          <a:p>
            <a:pPr indent="0" marL="0">
              <a:buNone/>
            </a:pPr>
            <a:r>
              <a:rPr lang="en-US" sz="1050" dirty="0">
                <a:solidFill>
                  <a:srgbClr val="1D1A15"/>
                </a:solidFill>
                <a:latin typeface="Calibri" pitchFamily="34" charset="0"/>
                <a:ea typeface="Calibri" pitchFamily="34" charset="-122"/>
                <a:cs typeface="Calibri" pitchFamily="34" charset="-120"/>
              </a:rPr>
              <a:t>All channels, one place</a:t>
            </a:r>
            <a:endParaRPr lang="en-US" sz="1050" dirty="0"/>
          </a:p>
        </p:txBody>
      </p:sp>
      <p:sp>
        <p:nvSpPr>
          <p:cNvPr id="10" name="Shape 8"/>
          <p:cNvSpPr/>
          <p:nvPr/>
        </p:nvSpPr>
        <p:spPr>
          <a:xfrm>
            <a:off x="3096158" y="4956048"/>
            <a:ext cx="1097280" cy="384048"/>
          </a:xfrm>
          <a:prstGeom prst="roundRect">
            <a:avLst>
              <a:gd name="adj" fmla="val 50000"/>
            </a:avLst>
          </a:prstGeom>
          <a:solidFill>
            <a:srgbClr val="FFFFFF"/>
          </a:solidFill>
          <a:ln w="12700">
            <a:solidFill>
              <a:srgbClr val="E4DCC9"/>
            </a:solidFill>
            <a:prstDash val="solid"/>
          </a:ln>
        </p:spPr>
      </p:sp>
      <p:sp>
        <p:nvSpPr>
          <p:cNvPr id="11" name="Shape 9"/>
          <p:cNvSpPr/>
          <p:nvPr/>
        </p:nvSpPr>
        <p:spPr>
          <a:xfrm>
            <a:off x="3242462" y="5097780"/>
            <a:ext cx="100584" cy="100584"/>
          </a:xfrm>
          <a:prstGeom prst="ellipse">
            <a:avLst/>
          </a:prstGeom>
          <a:solidFill>
            <a:srgbClr val="B0842F"/>
          </a:solidFill>
          <a:ln/>
        </p:spPr>
      </p:sp>
      <p:sp>
        <p:nvSpPr>
          <p:cNvPr id="12" name="Text 10"/>
          <p:cNvSpPr txBox="1"/>
          <p:nvPr/>
        </p:nvSpPr>
        <p:spPr>
          <a:xfrm>
            <a:off x="3407054" y="4937760"/>
            <a:ext cx="822960" cy="420624"/>
          </a:xfrm>
          <a:prstGeom prst="rect">
            <a:avLst/>
          </a:prstGeom>
          <a:noFill/>
          <a:ln/>
        </p:spPr>
        <p:txBody>
          <a:bodyPr wrap="square" lIns="0" tIns="0" rIns="0" bIns="0" rtlCol="0" anchor="ctr"/>
          <a:lstStyle/>
          <a:p>
            <a:pPr indent="0" marL="0">
              <a:buNone/>
            </a:pPr>
            <a:r>
              <a:rPr lang="en-US" sz="1050" dirty="0">
                <a:solidFill>
                  <a:srgbClr val="1D1A15"/>
                </a:solidFill>
                <a:latin typeface="Calibri" pitchFamily="34" charset="0"/>
                <a:ea typeface="Calibri" pitchFamily="34" charset="-122"/>
                <a:cs typeface="Calibri" pitchFamily="34" charset="-120"/>
              </a:rPr>
              <a:t>Planned</a:t>
            </a:r>
            <a:endParaRPr lang="en-US" sz="1050" dirty="0"/>
          </a:p>
        </p:txBody>
      </p:sp>
      <p:sp>
        <p:nvSpPr>
          <p:cNvPr id="13" name="Shape 11"/>
          <p:cNvSpPr/>
          <p:nvPr/>
        </p:nvSpPr>
        <p:spPr>
          <a:xfrm>
            <a:off x="7040880" y="1645920"/>
            <a:ext cx="4480560" cy="3566160"/>
          </a:xfrm>
          <a:prstGeom prst="roundRect">
            <a:avLst>
              <a:gd name="adj" fmla="val 3077"/>
            </a:avLst>
          </a:prstGeom>
          <a:solidFill>
            <a:srgbClr val="FFFFFF"/>
          </a:solidFill>
          <a:ln w="12700">
            <a:solidFill>
              <a:srgbClr val="E4DCC9"/>
            </a:solidFill>
            <a:prstDash val="solid"/>
          </a:ln>
          <a:effectLst>
            <a:outerShdw sx="100000" sy="100000" kx="0" ky="0" algn="bl" rotWithShape="0" blurRad="127000" dist="38100" dir="5400000">
              <a:srgbClr val="6B6252">
                <a:alpha val="35000"/>
              </a:srgbClr>
            </a:outerShdw>
          </a:effectLst>
        </p:spPr>
      </p:sp>
      <p:sp>
        <p:nvSpPr>
          <p:cNvPr id="14" name="Shape 12"/>
          <p:cNvSpPr/>
          <p:nvPr/>
        </p:nvSpPr>
        <p:spPr>
          <a:xfrm>
            <a:off x="7040880" y="1645920"/>
            <a:ext cx="4480560" cy="384048"/>
          </a:xfrm>
          <a:prstGeom prst="roundRect">
            <a:avLst>
              <a:gd name="adj" fmla="val 28571"/>
            </a:avLst>
          </a:prstGeom>
          <a:solidFill>
            <a:srgbClr val="FBFAF6"/>
          </a:solidFill>
          <a:ln/>
        </p:spPr>
      </p:sp>
      <p:sp>
        <p:nvSpPr>
          <p:cNvPr id="15" name="Shape 13"/>
          <p:cNvSpPr/>
          <p:nvPr/>
        </p:nvSpPr>
        <p:spPr>
          <a:xfrm>
            <a:off x="7040880" y="1901952"/>
            <a:ext cx="4480560" cy="128016"/>
          </a:xfrm>
          <a:prstGeom prst="rect">
            <a:avLst/>
          </a:prstGeom>
          <a:solidFill>
            <a:srgbClr val="FBFAF6"/>
          </a:solidFill>
          <a:ln/>
        </p:spPr>
      </p:sp>
      <p:sp>
        <p:nvSpPr>
          <p:cNvPr id="16" name="Shape 14"/>
          <p:cNvSpPr/>
          <p:nvPr/>
        </p:nvSpPr>
        <p:spPr>
          <a:xfrm>
            <a:off x="7205472" y="1783080"/>
            <a:ext cx="100584" cy="100584"/>
          </a:xfrm>
          <a:prstGeom prst="ellipse">
            <a:avLst/>
          </a:prstGeom>
          <a:solidFill>
            <a:srgbClr val="C9BFA9"/>
          </a:solidFill>
          <a:ln/>
        </p:spPr>
      </p:sp>
      <p:sp>
        <p:nvSpPr>
          <p:cNvPr id="17" name="Shape 15"/>
          <p:cNvSpPr/>
          <p:nvPr/>
        </p:nvSpPr>
        <p:spPr>
          <a:xfrm>
            <a:off x="7388352" y="1783080"/>
            <a:ext cx="100584" cy="100584"/>
          </a:xfrm>
          <a:prstGeom prst="ellipse">
            <a:avLst/>
          </a:prstGeom>
          <a:solidFill>
            <a:srgbClr val="C9BFA9"/>
          </a:solidFill>
          <a:ln/>
        </p:spPr>
      </p:sp>
      <p:sp>
        <p:nvSpPr>
          <p:cNvPr id="18" name="Shape 16"/>
          <p:cNvSpPr/>
          <p:nvPr/>
        </p:nvSpPr>
        <p:spPr>
          <a:xfrm>
            <a:off x="7571232" y="1783080"/>
            <a:ext cx="100584" cy="100584"/>
          </a:xfrm>
          <a:prstGeom prst="ellipse">
            <a:avLst/>
          </a:prstGeom>
          <a:solidFill>
            <a:srgbClr val="C9BFA9"/>
          </a:solidFill>
          <a:ln/>
        </p:spPr>
      </p:sp>
      <p:sp>
        <p:nvSpPr>
          <p:cNvPr id="19" name="Text 17"/>
          <p:cNvSpPr txBox="1"/>
          <p:nvPr/>
        </p:nvSpPr>
        <p:spPr>
          <a:xfrm>
            <a:off x="7818120" y="1673352"/>
            <a:ext cx="3566160" cy="329184"/>
          </a:xfrm>
          <a:prstGeom prst="rect">
            <a:avLst/>
          </a:prstGeom>
          <a:noFill/>
          <a:ln/>
        </p:spPr>
        <p:txBody>
          <a:bodyPr wrap="square" lIns="0" tIns="0" rIns="0" bIns="0" rtlCol="0" anchor="ctr"/>
          <a:lstStyle/>
          <a:p>
            <a:pPr indent="0" marL="0">
              <a:buNone/>
            </a:pPr>
            <a:endParaRPr lang="en-US" sz="900" dirty="0"/>
          </a:p>
        </p:txBody>
      </p:sp>
      <p:sp>
        <p:nvSpPr>
          <p:cNvPr id="20" name="Shape 18"/>
          <p:cNvSpPr/>
          <p:nvPr/>
        </p:nvSpPr>
        <p:spPr>
          <a:xfrm>
            <a:off x="7040880" y="2029968"/>
            <a:ext cx="4480560" cy="0"/>
          </a:xfrm>
          <a:prstGeom prst="line">
            <a:avLst/>
          </a:prstGeom>
          <a:noFill/>
          <a:ln w="12700">
            <a:solidFill>
              <a:srgbClr val="E4DCC9"/>
            </a:solidFill>
            <a:prstDash val="solid"/>
          </a:ln>
        </p:spPr>
      </p:sp>
      <p:sp>
        <p:nvSpPr>
          <p:cNvPr id="21" name="Shape 19"/>
          <p:cNvSpPr/>
          <p:nvPr/>
        </p:nvSpPr>
        <p:spPr>
          <a:xfrm>
            <a:off x="7296912" y="2212848"/>
            <a:ext cx="1237488" cy="658368"/>
          </a:xfrm>
          <a:prstGeom prst="roundRect">
            <a:avLst>
              <a:gd name="adj" fmla="val 8333"/>
            </a:avLst>
          </a:prstGeom>
          <a:solidFill>
            <a:srgbClr val="FBFAF6"/>
          </a:solidFill>
          <a:ln w="12700">
            <a:solidFill>
              <a:srgbClr val="E4DCC9"/>
            </a:solidFill>
            <a:prstDash val="solid"/>
          </a:ln>
        </p:spPr>
      </p:sp>
      <p:sp>
        <p:nvSpPr>
          <p:cNvPr id="22" name="Text 20"/>
          <p:cNvSpPr txBox="1"/>
          <p:nvPr/>
        </p:nvSpPr>
        <p:spPr>
          <a:xfrm>
            <a:off x="7388352" y="2295144"/>
            <a:ext cx="1054608" cy="182880"/>
          </a:xfrm>
          <a:prstGeom prst="rect">
            <a:avLst/>
          </a:prstGeom>
          <a:noFill/>
          <a:ln/>
        </p:spPr>
        <p:txBody>
          <a:bodyPr wrap="square" lIns="0" tIns="0" rIns="0" bIns="0" rtlCol="0" anchor="ctr"/>
          <a:lstStyle/>
          <a:p>
            <a:pPr indent="0" marL="0">
              <a:buNone/>
            </a:pPr>
            <a:r>
              <a:rPr lang="en-US" sz="650" b="1" spc="100" kern="0" dirty="0">
                <a:solidFill>
                  <a:srgbClr val="7A7266"/>
                </a:solidFill>
                <a:latin typeface="Calibri" pitchFamily="34" charset="0"/>
                <a:ea typeface="Calibri" pitchFamily="34" charset="-122"/>
                <a:cs typeface="Calibri" pitchFamily="34" charset="-120"/>
              </a:rPr>
              <a:t>FOLLOWERS</a:t>
            </a:r>
            <a:endParaRPr lang="en-US" sz="650" dirty="0"/>
          </a:p>
        </p:txBody>
      </p:sp>
      <p:sp>
        <p:nvSpPr>
          <p:cNvPr id="23" name="Text 21"/>
          <p:cNvSpPr txBox="1"/>
          <p:nvPr/>
        </p:nvSpPr>
        <p:spPr>
          <a:xfrm>
            <a:off x="7388352" y="2468880"/>
            <a:ext cx="1054608" cy="365760"/>
          </a:xfrm>
          <a:prstGeom prst="rect">
            <a:avLst/>
          </a:prstGeom>
          <a:noFill/>
          <a:ln/>
        </p:spPr>
        <p:txBody>
          <a:bodyPr wrap="square" lIns="0" tIns="0" rIns="0" bIns="0" rtlCol="0" anchor="ctr"/>
          <a:lstStyle/>
          <a:p>
            <a:pPr indent="0" marL="0">
              <a:buNone/>
            </a:pPr>
            <a:r>
              <a:rPr lang="en-US" sz="1600" b="1" dirty="0">
                <a:solidFill>
                  <a:srgbClr val="1D1A15"/>
                </a:solidFill>
                <a:latin typeface="Georgia" pitchFamily="34" charset="0"/>
                <a:ea typeface="Georgia" pitchFamily="34" charset="-122"/>
                <a:cs typeface="Georgia" pitchFamily="34" charset="-120"/>
              </a:rPr>
              <a:t>12.4k</a:t>
            </a:r>
            <a:endParaRPr lang="en-US" sz="1600" dirty="0"/>
          </a:p>
        </p:txBody>
      </p:sp>
      <p:sp>
        <p:nvSpPr>
          <p:cNvPr id="24" name="Shape 22"/>
          <p:cNvSpPr/>
          <p:nvPr/>
        </p:nvSpPr>
        <p:spPr>
          <a:xfrm>
            <a:off x="8662416" y="2212848"/>
            <a:ext cx="1237488" cy="658368"/>
          </a:xfrm>
          <a:prstGeom prst="roundRect">
            <a:avLst>
              <a:gd name="adj" fmla="val 8333"/>
            </a:avLst>
          </a:prstGeom>
          <a:solidFill>
            <a:srgbClr val="FBFAF6"/>
          </a:solidFill>
          <a:ln w="12700">
            <a:solidFill>
              <a:srgbClr val="E4DCC9"/>
            </a:solidFill>
            <a:prstDash val="solid"/>
          </a:ln>
        </p:spPr>
      </p:sp>
      <p:sp>
        <p:nvSpPr>
          <p:cNvPr id="25" name="Text 23"/>
          <p:cNvSpPr txBox="1"/>
          <p:nvPr/>
        </p:nvSpPr>
        <p:spPr>
          <a:xfrm>
            <a:off x="8753856" y="2295144"/>
            <a:ext cx="1054608" cy="182880"/>
          </a:xfrm>
          <a:prstGeom prst="rect">
            <a:avLst/>
          </a:prstGeom>
          <a:noFill/>
          <a:ln/>
        </p:spPr>
        <p:txBody>
          <a:bodyPr wrap="square" lIns="0" tIns="0" rIns="0" bIns="0" rtlCol="0" anchor="ctr"/>
          <a:lstStyle/>
          <a:p>
            <a:pPr indent="0" marL="0">
              <a:buNone/>
            </a:pPr>
            <a:r>
              <a:rPr lang="en-US" sz="650" b="1" spc="100" kern="0" dirty="0">
                <a:solidFill>
                  <a:srgbClr val="7A7266"/>
                </a:solidFill>
                <a:latin typeface="Calibri" pitchFamily="34" charset="0"/>
                <a:ea typeface="Calibri" pitchFamily="34" charset="-122"/>
                <a:cs typeface="Calibri" pitchFamily="34" charset="-120"/>
              </a:rPr>
              <a:t>ENGAGEMENT</a:t>
            </a:r>
            <a:endParaRPr lang="en-US" sz="650" dirty="0"/>
          </a:p>
        </p:txBody>
      </p:sp>
      <p:sp>
        <p:nvSpPr>
          <p:cNvPr id="26" name="Text 24"/>
          <p:cNvSpPr txBox="1"/>
          <p:nvPr/>
        </p:nvSpPr>
        <p:spPr>
          <a:xfrm>
            <a:off x="8753856" y="2468880"/>
            <a:ext cx="1054608" cy="365760"/>
          </a:xfrm>
          <a:prstGeom prst="rect">
            <a:avLst/>
          </a:prstGeom>
          <a:noFill/>
          <a:ln/>
        </p:spPr>
        <p:txBody>
          <a:bodyPr wrap="square" lIns="0" tIns="0" rIns="0" bIns="0" rtlCol="0" anchor="ctr"/>
          <a:lstStyle/>
          <a:p>
            <a:pPr indent="0" marL="0">
              <a:buNone/>
            </a:pPr>
            <a:r>
              <a:rPr lang="en-US" sz="1600" b="1" dirty="0">
                <a:solidFill>
                  <a:srgbClr val="1D1A15"/>
                </a:solidFill>
                <a:latin typeface="Georgia" pitchFamily="34" charset="0"/>
                <a:ea typeface="Georgia" pitchFamily="34" charset="-122"/>
                <a:cs typeface="Georgia" pitchFamily="34" charset="-120"/>
              </a:rPr>
              <a:t>4.8%</a:t>
            </a:r>
            <a:endParaRPr lang="en-US" sz="1600" dirty="0"/>
          </a:p>
        </p:txBody>
      </p:sp>
      <p:sp>
        <p:nvSpPr>
          <p:cNvPr id="27" name="Shape 25"/>
          <p:cNvSpPr/>
          <p:nvPr/>
        </p:nvSpPr>
        <p:spPr>
          <a:xfrm>
            <a:off x="10027920" y="2212848"/>
            <a:ext cx="1237488" cy="658368"/>
          </a:xfrm>
          <a:prstGeom prst="roundRect">
            <a:avLst>
              <a:gd name="adj" fmla="val 8333"/>
            </a:avLst>
          </a:prstGeom>
          <a:solidFill>
            <a:srgbClr val="FBFAF6"/>
          </a:solidFill>
          <a:ln w="12700">
            <a:solidFill>
              <a:srgbClr val="E4DCC9"/>
            </a:solidFill>
            <a:prstDash val="solid"/>
          </a:ln>
        </p:spPr>
      </p:sp>
      <p:sp>
        <p:nvSpPr>
          <p:cNvPr id="28" name="Text 26"/>
          <p:cNvSpPr txBox="1"/>
          <p:nvPr/>
        </p:nvSpPr>
        <p:spPr>
          <a:xfrm>
            <a:off x="10119360" y="2295144"/>
            <a:ext cx="1054608" cy="182880"/>
          </a:xfrm>
          <a:prstGeom prst="rect">
            <a:avLst/>
          </a:prstGeom>
          <a:noFill/>
          <a:ln/>
        </p:spPr>
        <p:txBody>
          <a:bodyPr wrap="square" lIns="0" tIns="0" rIns="0" bIns="0" rtlCol="0" anchor="ctr"/>
          <a:lstStyle/>
          <a:p>
            <a:pPr indent="0" marL="0">
              <a:buNone/>
            </a:pPr>
            <a:r>
              <a:rPr lang="en-US" sz="650" b="1" spc="100" kern="0" dirty="0">
                <a:solidFill>
                  <a:srgbClr val="7A7266"/>
                </a:solidFill>
                <a:latin typeface="Calibri" pitchFamily="34" charset="0"/>
                <a:ea typeface="Calibri" pitchFamily="34" charset="-122"/>
                <a:cs typeface="Calibri" pitchFamily="34" charset="-120"/>
              </a:rPr>
              <a:t>REACH</a:t>
            </a:r>
            <a:endParaRPr lang="en-US" sz="650" dirty="0"/>
          </a:p>
        </p:txBody>
      </p:sp>
      <p:sp>
        <p:nvSpPr>
          <p:cNvPr id="29" name="Text 27"/>
          <p:cNvSpPr txBox="1"/>
          <p:nvPr/>
        </p:nvSpPr>
        <p:spPr>
          <a:xfrm>
            <a:off x="10119360" y="2468880"/>
            <a:ext cx="1054608" cy="365760"/>
          </a:xfrm>
          <a:prstGeom prst="rect">
            <a:avLst/>
          </a:prstGeom>
          <a:noFill/>
          <a:ln/>
        </p:spPr>
        <p:txBody>
          <a:bodyPr wrap="square" lIns="0" tIns="0" rIns="0" bIns="0" rtlCol="0" anchor="ctr"/>
          <a:lstStyle/>
          <a:p>
            <a:pPr indent="0" marL="0">
              <a:buNone/>
            </a:pPr>
            <a:r>
              <a:rPr lang="en-US" sz="1600" b="1" dirty="0">
                <a:solidFill>
                  <a:srgbClr val="1D1A15"/>
                </a:solidFill>
                <a:latin typeface="Georgia" pitchFamily="34" charset="0"/>
                <a:ea typeface="Georgia" pitchFamily="34" charset="-122"/>
                <a:cs typeface="Georgia" pitchFamily="34" charset="-120"/>
              </a:rPr>
              <a:t>86k</a:t>
            </a:r>
            <a:endParaRPr lang="en-US" sz="1600" dirty="0"/>
          </a:p>
        </p:txBody>
      </p:sp>
      <p:sp>
        <p:nvSpPr>
          <p:cNvPr id="30" name="Shape 28"/>
          <p:cNvSpPr/>
          <p:nvPr/>
        </p:nvSpPr>
        <p:spPr>
          <a:xfrm>
            <a:off x="7296912" y="3017520"/>
            <a:ext cx="292608" cy="256032"/>
          </a:xfrm>
          <a:prstGeom prst="roundRect">
            <a:avLst>
              <a:gd name="adj" fmla="val 21429"/>
            </a:avLst>
          </a:prstGeom>
          <a:solidFill>
            <a:srgbClr val="E1306C"/>
          </a:solidFill>
          <a:ln/>
        </p:spPr>
      </p:sp>
      <p:sp>
        <p:nvSpPr>
          <p:cNvPr id="31" name="Text 29"/>
          <p:cNvSpPr txBox="1"/>
          <p:nvPr/>
        </p:nvSpPr>
        <p:spPr>
          <a:xfrm>
            <a:off x="7296912" y="3008376"/>
            <a:ext cx="292608" cy="26517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IG</a:t>
            </a:r>
            <a:endParaRPr lang="en-US" sz="750" dirty="0"/>
          </a:p>
        </p:txBody>
      </p:sp>
      <p:sp>
        <p:nvSpPr>
          <p:cNvPr id="32" name="Shape 30"/>
          <p:cNvSpPr/>
          <p:nvPr/>
        </p:nvSpPr>
        <p:spPr>
          <a:xfrm>
            <a:off x="7671816" y="3017520"/>
            <a:ext cx="292608" cy="256032"/>
          </a:xfrm>
          <a:prstGeom prst="roundRect">
            <a:avLst>
              <a:gd name="adj" fmla="val 21429"/>
            </a:avLst>
          </a:prstGeom>
          <a:solidFill>
            <a:srgbClr val="1877F2"/>
          </a:solidFill>
          <a:ln/>
        </p:spPr>
      </p:sp>
      <p:sp>
        <p:nvSpPr>
          <p:cNvPr id="33" name="Text 31"/>
          <p:cNvSpPr txBox="1"/>
          <p:nvPr/>
        </p:nvSpPr>
        <p:spPr>
          <a:xfrm>
            <a:off x="7671816" y="3008376"/>
            <a:ext cx="292608" cy="26517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f</a:t>
            </a:r>
            <a:endParaRPr lang="en-US" sz="750" dirty="0"/>
          </a:p>
        </p:txBody>
      </p:sp>
      <p:sp>
        <p:nvSpPr>
          <p:cNvPr id="34" name="Shape 32"/>
          <p:cNvSpPr/>
          <p:nvPr/>
        </p:nvSpPr>
        <p:spPr>
          <a:xfrm>
            <a:off x="8046720" y="3017520"/>
            <a:ext cx="292608" cy="256032"/>
          </a:xfrm>
          <a:prstGeom prst="roundRect">
            <a:avLst>
              <a:gd name="adj" fmla="val 21429"/>
            </a:avLst>
          </a:prstGeom>
          <a:solidFill>
            <a:srgbClr val="111111"/>
          </a:solidFill>
          <a:ln/>
        </p:spPr>
      </p:sp>
      <p:sp>
        <p:nvSpPr>
          <p:cNvPr id="35" name="Text 33"/>
          <p:cNvSpPr txBox="1"/>
          <p:nvPr/>
        </p:nvSpPr>
        <p:spPr>
          <a:xfrm>
            <a:off x="8046720" y="3008376"/>
            <a:ext cx="292608" cy="26517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X</a:t>
            </a:r>
            <a:endParaRPr lang="en-US" sz="750" dirty="0"/>
          </a:p>
        </p:txBody>
      </p:sp>
      <p:sp>
        <p:nvSpPr>
          <p:cNvPr id="36" name="Shape 34"/>
          <p:cNvSpPr/>
          <p:nvPr/>
        </p:nvSpPr>
        <p:spPr>
          <a:xfrm>
            <a:off x="8421624" y="3017520"/>
            <a:ext cx="292608" cy="256032"/>
          </a:xfrm>
          <a:prstGeom prst="roundRect">
            <a:avLst>
              <a:gd name="adj" fmla="val 21429"/>
            </a:avLst>
          </a:prstGeom>
          <a:solidFill>
            <a:srgbClr val="FF0000"/>
          </a:solidFill>
          <a:ln/>
        </p:spPr>
      </p:sp>
      <p:sp>
        <p:nvSpPr>
          <p:cNvPr id="37" name="Text 35"/>
          <p:cNvSpPr txBox="1"/>
          <p:nvPr/>
        </p:nvSpPr>
        <p:spPr>
          <a:xfrm>
            <a:off x="8421624" y="3008376"/>
            <a:ext cx="292608" cy="26517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a:t>
            </a:r>
            <a:endParaRPr lang="en-US" sz="750" dirty="0"/>
          </a:p>
        </p:txBody>
      </p:sp>
      <p:sp>
        <p:nvSpPr>
          <p:cNvPr id="38" name="Shape 36"/>
          <p:cNvSpPr/>
          <p:nvPr/>
        </p:nvSpPr>
        <p:spPr>
          <a:xfrm>
            <a:off x="8796528" y="3017520"/>
            <a:ext cx="292608" cy="256032"/>
          </a:xfrm>
          <a:prstGeom prst="roundRect">
            <a:avLst>
              <a:gd name="adj" fmla="val 21429"/>
            </a:avLst>
          </a:prstGeom>
          <a:solidFill>
            <a:srgbClr val="0A66C2"/>
          </a:solidFill>
          <a:ln/>
        </p:spPr>
      </p:sp>
      <p:sp>
        <p:nvSpPr>
          <p:cNvPr id="39" name="Text 37"/>
          <p:cNvSpPr txBox="1"/>
          <p:nvPr/>
        </p:nvSpPr>
        <p:spPr>
          <a:xfrm>
            <a:off x="8796528" y="3008376"/>
            <a:ext cx="292608" cy="26517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in</a:t>
            </a:r>
            <a:endParaRPr lang="en-US" sz="750" dirty="0"/>
          </a:p>
        </p:txBody>
      </p:sp>
      <p:sp>
        <p:nvSpPr>
          <p:cNvPr id="40" name="Shape 38"/>
          <p:cNvSpPr/>
          <p:nvPr/>
        </p:nvSpPr>
        <p:spPr>
          <a:xfrm>
            <a:off x="9171432" y="3017520"/>
            <a:ext cx="292608" cy="256032"/>
          </a:xfrm>
          <a:prstGeom prst="roundRect">
            <a:avLst>
              <a:gd name="adj" fmla="val 21429"/>
            </a:avLst>
          </a:prstGeom>
          <a:solidFill>
            <a:srgbClr val="111111"/>
          </a:solidFill>
          <a:ln/>
        </p:spPr>
      </p:sp>
      <p:sp>
        <p:nvSpPr>
          <p:cNvPr id="41" name="Text 39"/>
          <p:cNvSpPr txBox="1"/>
          <p:nvPr/>
        </p:nvSpPr>
        <p:spPr>
          <a:xfrm>
            <a:off x="9171432" y="3008376"/>
            <a:ext cx="292608" cy="26517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a:t>
            </a:r>
            <a:endParaRPr lang="en-US" sz="750" dirty="0"/>
          </a:p>
        </p:txBody>
      </p:sp>
      <p:sp>
        <p:nvSpPr>
          <p:cNvPr id="42" name="Shape 40"/>
          <p:cNvSpPr/>
          <p:nvPr/>
        </p:nvSpPr>
        <p:spPr>
          <a:xfrm>
            <a:off x="7296912" y="3419856"/>
            <a:ext cx="3968496" cy="420624"/>
          </a:xfrm>
          <a:prstGeom prst="roundRect">
            <a:avLst>
              <a:gd name="adj" fmla="val 10870"/>
            </a:avLst>
          </a:prstGeom>
          <a:solidFill>
            <a:srgbClr val="FBFAF6"/>
          </a:solidFill>
          <a:ln w="12700">
            <a:solidFill>
              <a:srgbClr val="E4DCC9"/>
            </a:solidFill>
            <a:prstDash val="solid"/>
          </a:ln>
        </p:spPr>
      </p:sp>
      <p:sp>
        <p:nvSpPr>
          <p:cNvPr id="43" name="Shape 41"/>
          <p:cNvSpPr/>
          <p:nvPr/>
        </p:nvSpPr>
        <p:spPr>
          <a:xfrm>
            <a:off x="7443216" y="3584448"/>
            <a:ext cx="91440" cy="91440"/>
          </a:xfrm>
          <a:prstGeom prst="ellipse">
            <a:avLst/>
          </a:prstGeom>
          <a:solidFill>
            <a:srgbClr val="E1306C"/>
          </a:solidFill>
          <a:ln/>
        </p:spPr>
      </p:sp>
      <p:sp>
        <p:nvSpPr>
          <p:cNvPr id="44" name="Text 42"/>
          <p:cNvSpPr txBox="1"/>
          <p:nvPr/>
        </p:nvSpPr>
        <p:spPr>
          <a:xfrm>
            <a:off x="7662672" y="3419856"/>
            <a:ext cx="2596896" cy="420624"/>
          </a:xfrm>
          <a:prstGeom prst="rect">
            <a:avLst/>
          </a:prstGeom>
          <a:noFill/>
          <a:ln/>
        </p:spPr>
        <p:txBody>
          <a:bodyPr wrap="square" lIns="0" tIns="0" rIns="0" bIns="0" rtlCol="0" anchor="ctr"/>
          <a:lstStyle/>
          <a:p>
            <a:pPr indent="0" marL="0">
              <a:buNone/>
            </a:pPr>
            <a:r>
              <a:rPr lang="en-US" sz="800" dirty="0">
                <a:solidFill>
                  <a:srgbClr val="1D1A15"/>
                </a:solidFill>
                <a:latin typeface="Calibri" pitchFamily="34" charset="0"/>
                <a:ea typeface="Calibri" pitchFamily="34" charset="-122"/>
                <a:cs typeface="Calibri" pitchFamily="34" charset="-120"/>
              </a:rPr>
              <a:t>New unit spotlight</a:t>
            </a:r>
            <a:endParaRPr lang="en-US" sz="800" dirty="0"/>
          </a:p>
        </p:txBody>
      </p:sp>
      <p:sp>
        <p:nvSpPr>
          <p:cNvPr id="45" name="Shape 43"/>
          <p:cNvSpPr/>
          <p:nvPr/>
        </p:nvSpPr>
        <p:spPr>
          <a:xfrm>
            <a:off x="10287000" y="3511296"/>
            <a:ext cx="868680" cy="237744"/>
          </a:xfrm>
          <a:prstGeom prst="roundRect">
            <a:avLst>
              <a:gd name="adj" fmla="val 50000"/>
            </a:avLst>
          </a:prstGeom>
          <a:solidFill>
            <a:srgbClr val="FFFFFF"/>
          </a:solidFill>
          <a:ln w="12700">
            <a:solidFill>
              <a:srgbClr val="E4DCC9"/>
            </a:solidFill>
            <a:prstDash val="solid"/>
          </a:ln>
        </p:spPr>
      </p:sp>
      <p:sp>
        <p:nvSpPr>
          <p:cNvPr id="46" name="Text 44"/>
          <p:cNvSpPr txBox="1"/>
          <p:nvPr/>
        </p:nvSpPr>
        <p:spPr>
          <a:xfrm>
            <a:off x="10287000" y="3502152"/>
            <a:ext cx="868680" cy="246888"/>
          </a:xfrm>
          <a:prstGeom prst="rect">
            <a:avLst/>
          </a:prstGeom>
          <a:noFill/>
          <a:ln/>
        </p:spPr>
        <p:txBody>
          <a:bodyPr wrap="square" lIns="0" tIns="0" rIns="0" bIns="0" rtlCol="0" anchor="ctr"/>
          <a:lstStyle/>
          <a:p>
            <a:pPr algn="ctr" indent="0" marL="0">
              <a:buNone/>
            </a:pPr>
            <a:r>
              <a:rPr lang="en-US" sz="650" dirty="0">
                <a:solidFill>
                  <a:srgbClr val="7A7266"/>
                </a:solidFill>
                <a:latin typeface="Calibri" pitchFamily="34" charset="0"/>
                <a:ea typeface="Calibri" pitchFamily="34" charset="-122"/>
                <a:cs typeface="Calibri" pitchFamily="34" charset="-120"/>
              </a:rPr>
              <a:t>scheduled Tue 9:00</a:t>
            </a:r>
            <a:endParaRPr lang="en-US" sz="650" dirty="0"/>
          </a:p>
        </p:txBody>
      </p:sp>
      <p:sp>
        <p:nvSpPr>
          <p:cNvPr id="47" name="Shape 45"/>
          <p:cNvSpPr/>
          <p:nvPr/>
        </p:nvSpPr>
        <p:spPr>
          <a:xfrm>
            <a:off x="7296912" y="3950208"/>
            <a:ext cx="3968496" cy="420624"/>
          </a:xfrm>
          <a:prstGeom prst="roundRect">
            <a:avLst>
              <a:gd name="adj" fmla="val 10870"/>
            </a:avLst>
          </a:prstGeom>
          <a:solidFill>
            <a:srgbClr val="FBFAF6"/>
          </a:solidFill>
          <a:ln w="12700">
            <a:solidFill>
              <a:srgbClr val="E4DCC9"/>
            </a:solidFill>
            <a:prstDash val="solid"/>
          </a:ln>
        </p:spPr>
      </p:sp>
      <p:sp>
        <p:nvSpPr>
          <p:cNvPr id="48" name="Shape 46"/>
          <p:cNvSpPr/>
          <p:nvPr/>
        </p:nvSpPr>
        <p:spPr>
          <a:xfrm>
            <a:off x="7443216" y="4114800"/>
            <a:ext cx="91440" cy="91440"/>
          </a:xfrm>
          <a:prstGeom prst="ellipse">
            <a:avLst/>
          </a:prstGeom>
          <a:solidFill>
            <a:srgbClr val="1877F2"/>
          </a:solidFill>
          <a:ln/>
        </p:spPr>
      </p:sp>
      <p:sp>
        <p:nvSpPr>
          <p:cNvPr id="49" name="Text 47"/>
          <p:cNvSpPr txBox="1"/>
          <p:nvPr/>
        </p:nvSpPr>
        <p:spPr>
          <a:xfrm>
            <a:off x="7662672" y="3950208"/>
            <a:ext cx="2596896" cy="420624"/>
          </a:xfrm>
          <a:prstGeom prst="rect">
            <a:avLst/>
          </a:prstGeom>
          <a:noFill/>
          <a:ln/>
        </p:spPr>
        <p:txBody>
          <a:bodyPr wrap="square" lIns="0" tIns="0" rIns="0" bIns="0" rtlCol="0" anchor="ctr"/>
          <a:lstStyle/>
          <a:p>
            <a:pPr indent="0" marL="0">
              <a:buNone/>
            </a:pPr>
            <a:r>
              <a:rPr lang="en-US" sz="800" dirty="0">
                <a:solidFill>
                  <a:srgbClr val="1D1A15"/>
                </a:solidFill>
                <a:latin typeface="Calibri" pitchFamily="34" charset="0"/>
                <a:ea typeface="Calibri" pitchFamily="34" charset="-122"/>
                <a:cs typeface="Calibri" pitchFamily="34" charset="-120"/>
              </a:rPr>
              <a:t>Parent tip of the week</a:t>
            </a:r>
            <a:endParaRPr lang="en-US" sz="800" dirty="0"/>
          </a:p>
        </p:txBody>
      </p:sp>
      <p:sp>
        <p:nvSpPr>
          <p:cNvPr id="50" name="Shape 48"/>
          <p:cNvSpPr/>
          <p:nvPr/>
        </p:nvSpPr>
        <p:spPr>
          <a:xfrm>
            <a:off x="10287000" y="4041648"/>
            <a:ext cx="868680" cy="237744"/>
          </a:xfrm>
          <a:prstGeom prst="roundRect">
            <a:avLst>
              <a:gd name="adj" fmla="val 50000"/>
            </a:avLst>
          </a:prstGeom>
          <a:solidFill>
            <a:srgbClr val="FFFFFF"/>
          </a:solidFill>
          <a:ln w="12700">
            <a:solidFill>
              <a:srgbClr val="E4DCC9"/>
            </a:solidFill>
            <a:prstDash val="solid"/>
          </a:ln>
        </p:spPr>
      </p:sp>
      <p:sp>
        <p:nvSpPr>
          <p:cNvPr id="51" name="Text 49"/>
          <p:cNvSpPr txBox="1"/>
          <p:nvPr/>
        </p:nvSpPr>
        <p:spPr>
          <a:xfrm>
            <a:off x="10287000" y="4032504"/>
            <a:ext cx="868680" cy="246888"/>
          </a:xfrm>
          <a:prstGeom prst="rect">
            <a:avLst/>
          </a:prstGeom>
          <a:noFill/>
          <a:ln/>
        </p:spPr>
        <p:txBody>
          <a:bodyPr wrap="square" lIns="0" tIns="0" rIns="0" bIns="0" rtlCol="0" anchor="ctr"/>
          <a:lstStyle/>
          <a:p>
            <a:pPr algn="ctr" indent="0" marL="0">
              <a:buNone/>
            </a:pPr>
            <a:r>
              <a:rPr lang="en-US" sz="650" dirty="0">
                <a:solidFill>
                  <a:srgbClr val="7A7266"/>
                </a:solidFill>
                <a:latin typeface="Calibri" pitchFamily="34" charset="0"/>
                <a:ea typeface="Calibri" pitchFamily="34" charset="-122"/>
                <a:cs typeface="Calibri" pitchFamily="34" charset="-120"/>
              </a:rPr>
              <a:t>scheduled Wed 12:00</a:t>
            </a:r>
            <a:endParaRPr lang="en-US" sz="650" dirty="0"/>
          </a:p>
        </p:txBody>
      </p:sp>
      <p:sp>
        <p:nvSpPr>
          <p:cNvPr id="52" name="Shape 50"/>
          <p:cNvSpPr/>
          <p:nvPr/>
        </p:nvSpPr>
        <p:spPr>
          <a:xfrm>
            <a:off x="7296912" y="4480560"/>
            <a:ext cx="3968496" cy="420624"/>
          </a:xfrm>
          <a:prstGeom prst="roundRect">
            <a:avLst>
              <a:gd name="adj" fmla="val 10870"/>
            </a:avLst>
          </a:prstGeom>
          <a:solidFill>
            <a:srgbClr val="FBFAF6"/>
          </a:solidFill>
          <a:ln w="12700">
            <a:solidFill>
              <a:srgbClr val="E4DCC9"/>
            </a:solidFill>
            <a:prstDash val="solid"/>
          </a:ln>
        </p:spPr>
      </p:sp>
      <p:sp>
        <p:nvSpPr>
          <p:cNvPr id="53" name="Shape 51"/>
          <p:cNvSpPr/>
          <p:nvPr/>
        </p:nvSpPr>
        <p:spPr>
          <a:xfrm>
            <a:off x="7443216" y="4645152"/>
            <a:ext cx="91440" cy="91440"/>
          </a:xfrm>
          <a:prstGeom prst="ellipse">
            <a:avLst/>
          </a:prstGeom>
          <a:solidFill>
            <a:srgbClr val="FF0000"/>
          </a:solidFill>
          <a:ln/>
        </p:spPr>
      </p:sp>
      <p:sp>
        <p:nvSpPr>
          <p:cNvPr id="54" name="Text 52"/>
          <p:cNvSpPr txBox="1"/>
          <p:nvPr/>
        </p:nvSpPr>
        <p:spPr>
          <a:xfrm>
            <a:off x="7662672" y="4480560"/>
            <a:ext cx="2596896" cy="420624"/>
          </a:xfrm>
          <a:prstGeom prst="rect">
            <a:avLst/>
          </a:prstGeom>
          <a:noFill/>
          <a:ln/>
        </p:spPr>
        <p:txBody>
          <a:bodyPr wrap="square" lIns="0" tIns="0" rIns="0" bIns="0" rtlCol="0" anchor="ctr"/>
          <a:lstStyle/>
          <a:p>
            <a:pPr indent="0" marL="0">
              <a:buNone/>
            </a:pPr>
            <a:r>
              <a:rPr lang="en-US" sz="800" dirty="0">
                <a:solidFill>
                  <a:srgbClr val="1D1A15"/>
                </a:solidFill>
                <a:latin typeface="Calibri" pitchFamily="34" charset="0"/>
                <a:ea typeface="Calibri" pitchFamily="34" charset="-122"/>
                <a:cs typeface="Calibri" pitchFamily="34" charset="-120"/>
              </a:rPr>
              <a:t>Classroom highlight</a:t>
            </a:r>
            <a:endParaRPr lang="en-US" sz="800" dirty="0"/>
          </a:p>
        </p:txBody>
      </p:sp>
      <p:sp>
        <p:nvSpPr>
          <p:cNvPr id="55" name="Shape 53"/>
          <p:cNvSpPr/>
          <p:nvPr/>
        </p:nvSpPr>
        <p:spPr>
          <a:xfrm>
            <a:off x="10287000" y="4572000"/>
            <a:ext cx="868680" cy="237744"/>
          </a:xfrm>
          <a:prstGeom prst="roundRect">
            <a:avLst>
              <a:gd name="adj" fmla="val 50000"/>
            </a:avLst>
          </a:prstGeom>
          <a:solidFill>
            <a:srgbClr val="FFFFFF"/>
          </a:solidFill>
          <a:ln w="12700">
            <a:solidFill>
              <a:srgbClr val="E4DCC9"/>
            </a:solidFill>
            <a:prstDash val="solid"/>
          </a:ln>
        </p:spPr>
      </p:sp>
      <p:sp>
        <p:nvSpPr>
          <p:cNvPr id="56" name="Text 54"/>
          <p:cNvSpPr txBox="1"/>
          <p:nvPr/>
        </p:nvSpPr>
        <p:spPr>
          <a:xfrm>
            <a:off x="10287000" y="4562856"/>
            <a:ext cx="868680" cy="246888"/>
          </a:xfrm>
          <a:prstGeom prst="rect">
            <a:avLst/>
          </a:prstGeom>
          <a:noFill/>
          <a:ln/>
        </p:spPr>
        <p:txBody>
          <a:bodyPr wrap="square" lIns="0" tIns="0" rIns="0" bIns="0" rtlCol="0" anchor="ctr"/>
          <a:lstStyle/>
          <a:p>
            <a:pPr algn="ctr" indent="0" marL="0">
              <a:buNone/>
            </a:pPr>
            <a:r>
              <a:rPr lang="en-US" sz="650" dirty="0">
                <a:solidFill>
                  <a:srgbClr val="7A7266"/>
                </a:solidFill>
                <a:latin typeface="Calibri" pitchFamily="34" charset="0"/>
                <a:ea typeface="Calibri" pitchFamily="34" charset="-122"/>
                <a:cs typeface="Calibri" pitchFamily="34" charset="-120"/>
              </a:rPr>
              <a:t>scheduled Thu 3:00</a:t>
            </a:r>
            <a:endParaRPr lang="en-US" sz="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822960" y="777240"/>
            <a:ext cx="7315200" cy="274320"/>
          </a:xfrm>
          <a:prstGeom prst="rect">
            <a:avLst/>
          </a:prstGeom>
          <a:noFill/>
          <a:ln/>
        </p:spPr>
        <p:txBody>
          <a:bodyPr wrap="square" lIns="0" tIns="0" rIns="0" bIns="0" rtlCol="0" anchor="ctr"/>
          <a:lstStyle/>
          <a:p>
            <a:pPr indent="0" marL="0">
              <a:buNone/>
            </a:pPr>
            <a:r>
              <a:rPr lang="en-US" sz="1100" b="1" spc="300" kern="0" dirty="0">
                <a:solidFill>
                  <a:srgbClr val="9C7C2E"/>
                </a:solidFill>
                <a:latin typeface="Calibri" pitchFamily="34" charset="0"/>
                <a:ea typeface="Calibri" pitchFamily="34" charset="-122"/>
                <a:cs typeface="Calibri" pitchFamily="34" charset="-120"/>
              </a:rPr>
              <a:t>STAFF PORTAL · SUPPORT</a:t>
            </a:r>
            <a:endParaRPr lang="en-US" sz="1100" dirty="0"/>
          </a:p>
        </p:txBody>
      </p:sp>
      <p:sp>
        <p:nvSpPr>
          <p:cNvPr id="3" name="Shape 1"/>
          <p:cNvSpPr/>
          <p:nvPr/>
        </p:nvSpPr>
        <p:spPr>
          <a:xfrm>
            <a:off x="10314432" y="731520"/>
            <a:ext cx="1051560" cy="310896"/>
          </a:xfrm>
          <a:prstGeom prst="roundRect">
            <a:avLst>
              <a:gd name="adj" fmla="val 50000"/>
            </a:avLst>
          </a:prstGeom>
          <a:solidFill>
            <a:srgbClr val="F3E7C8"/>
          </a:solidFill>
          <a:ln w="9525">
            <a:solidFill>
              <a:srgbClr val="9C7C2E"/>
            </a:solidFill>
            <a:prstDash val="solid"/>
          </a:ln>
        </p:spPr>
      </p:sp>
      <p:sp>
        <p:nvSpPr>
          <p:cNvPr id="4" name="Text 2"/>
          <p:cNvSpPr txBox="1"/>
          <p:nvPr/>
        </p:nvSpPr>
        <p:spPr>
          <a:xfrm>
            <a:off x="10314432" y="722376"/>
            <a:ext cx="1051560" cy="320040"/>
          </a:xfrm>
          <a:prstGeom prst="rect">
            <a:avLst/>
          </a:prstGeom>
          <a:noFill/>
          <a:ln/>
        </p:spPr>
        <p:txBody>
          <a:bodyPr wrap="square" lIns="0" tIns="0" rIns="0" bIns="0" rtlCol="0" anchor="ctr"/>
          <a:lstStyle/>
          <a:p>
            <a:pPr algn="ctr" indent="0" marL="0">
              <a:buNone/>
            </a:pPr>
            <a:r>
              <a:rPr lang="en-US" sz="850" b="1" spc="100" kern="0" dirty="0">
                <a:solidFill>
                  <a:srgbClr val="7A5A12"/>
                </a:solidFill>
                <a:latin typeface="Calibri" pitchFamily="34" charset="0"/>
                <a:ea typeface="Calibri" pitchFamily="34" charset="-122"/>
                <a:cs typeface="Calibri" pitchFamily="34" charset="-120"/>
              </a:rPr>
              <a:t>PHASE 2</a:t>
            </a:r>
            <a:endParaRPr lang="en-US" sz="850" dirty="0"/>
          </a:p>
        </p:txBody>
      </p:sp>
      <p:sp>
        <p:nvSpPr>
          <p:cNvPr id="5" name="Text 3"/>
          <p:cNvSpPr txBox="1"/>
          <p:nvPr/>
        </p:nvSpPr>
        <p:spPr>
          <a:xfrm>
            <a:off x="822960" y="1097280"/>
            <a:ext cx="5760720" cy="1371600"/>
          </a:xfrm>
          <a:prstGeom prst="rect">
            <a:avLst/>
          </a:prstGeom>
          <a:noFill/>
          <a:ln/>
        </p:spPr>
        <p:txBody>
          <a:bodyPr wrap="square" lIns="0" tIns="0" rIns="0" bIns="0" rtlCol="0" anchor="t"/>
          <a:lstStyle/>
          <a:p>
            <a:pPr indent="0" marL="0">
              <a:lnSpc>
                <a:spcPct val="98000"/>
              </a:lnSpc>
              <a:buNone/>
            </a:pPr>
            <a:r>
              <a:rPr lang="en-US" sz="3200" b="1" dirty="0">
                <a:solidFill>
                  <a:srgbClr val="1D1A15"/>
                </a:solidFill>
                <a:latin typeface="Georgia" pitchFamily="34" charset="0"/>
                <a:ea typeface="Georgia" pitchFamily="34" charset="-122"/>
                <a:cs typeface="Georgia" pitchFamily="34" charset="-120"/>
              </a:rPr>
              <a:t>Customer Service hub</a:t>
            </a:r>
            <a:endParaRPr lang="en-US" sz="3200" dirty="0"/>
          </a:p>
        </p:txBody>
      </p:sp>
      <p:sp>
        <p:nvSpPr>
          <p:cNvPr id="6" name="Text 4"/>
          <p:cNvSpPr txBox="1"/>
          <p:nvPr/>
        </p:nvSpPr>
        <p:spPr>
          <a:xfrm>
            <a:off x="822960" y="2286000"/>
            <a:ext cx="5760720" cy="1371600"/>
          </a:xfrm>
          <a:prstGeom prst="rect">
            <a:avLst/>
          </a:prstGeom>
          <a:noFill/>
          <a:ln/>
        </p:spPr>
        <p:txBody>
          <a:bodyPr wrap="square" lIns="0" tIns="0" rIns="0" bIns="0" rtlCol="0" anchor="t"/>
          <a:lstStyle/>
          <a:p>
            <a:pPr indent="0" marL="0">
              <a:lnSpc>
                <a:spcPct val="115000"/>
              </a:lnSpc>
              <a:buNone/>
            </a:pPr>
            <a:r>
              <a:rPr lang="en-US" sz="1500" dirty="0">
                <a:solidFill>
                  <a:srgbClr val="7A7266"/>
                </a:solidFill>
                <a:latin typeface="Calibri" pitchFamily="34" charset="0"/>
                <a:ea typeface="Calibri" pitchFamily="34" charset="-122"/>
                <a:cs typeface="Calibri" pitchFamily="34" charset="-120"/>
              </a:rPr>
              <a:t>A ticket queue right in the Support hub body, so the team could work incoming issues without leaving the operating picture.</a:t>
            </a:r>
            <a:endParaRPr lang="en-US" sz="1500" dirty="0"/>
          </a:p>
        </p:txBody>
      </p:sp>
      <p:sp>
        <p:nvSpPr>
          <p:cNvPr id="7" name="Shape 5"/>
          <p:cNvSpPr/>
          <p:nvPr/>
        </p:nvSpPr>
        <p:spPr>
          <a:xfrm>
            <a:off x="822960" y="3657600"/>
            <a:ext cx="2108606" cy="384048"/>
          </a:xfrm>
          <a:prstGeom prst="roundRect">
            <a:avLst>
              <a:gd name="adj" fmla="val 50000"/>
            </a:avLst>
          </a:prstGeom>
          <a:solidFill>
            <a:srgbClr val="FFFFFF"/>
          </a:solidFill>
          <a:ln w="12700">
            <a:solidFill>
              <a:srgbClr val="E4DCC9"/>
            </a:solidFill>
            <a:prstDash val="solid"/>
          </a:ln>
        </p:spPr>
      </p:sp>
      <p:sp>
        <p:nvSpPr>
          <p:cNvPr id="8" name="Text 6"/>
          <p:cNvSpPr txBox="1"/>
          <p:nvPr/>
        </p:nvSpPr>
        <p:spPr>
          <a:xfrm>
            <a:off x="969264" y="3639312"/>
            <a:ext cx="1834286" cy="420624"/>
          </a:xfrm>
          <a:prstGeom prst="rect">
            <a:avLst/>
          </a:prstGeom>
          <a:noFill/>
          <a:ln/>
        </p:spPr>
        <p:txBody>
          <a:bodyPr wrap="square" lIns="0" tIns="0" rIns="0" bIns="0" rtlCol="0" anchor="ctr"/>
          <a:lstStyle/>
          <a:p>
            <a:pPr indent="0" marL="0">
              <a:buNone/>
            </a:pPr>
            <a:r>
              <a:rPr lang="en-US" sz="1050" dirty="0">
                <a:solidFill>
                  <a:srgbClr val="1D1A15"/>
                </a:solidFill>
                <a:latin typeface="Calibri" pitchFamily="34" charset="0"/>
                <a:ea typeface="Calibri" pitchFamily="34" charset="-122"/>
                <a:cs typeface="Calibri" pitchFamily="34" charset="-120"/>
              </a:rPr>
              <a:t>Sorted support requests</a:t>
            </a:r>
            <a:endParaRPr lang="en-US" sz="1050" dirty="0"/>
          </a:p>
        </p:txBody>
      </p:sp>
      <p:sp>
        <p:nvSpPr>
          <p:cNvPr id="9" name="Shape 7"/>
          <p:cNvSpPr/>
          <p:nvPr/>
        </p:nvSpPr>
        <p:spPr>
          <a:xfrm>
            <a:off x="3096158" y="3657600"/>
            <a:ext cx="1097280" cy="384048"/>
          </a:xfrm>
          <a:prstGeom prst="roundRect">
            <a:avLst>
              <a:gd name="adj" fmla="val 50000"/>
            </a:avLst>
          </a:prstGeom>
          <a:solidFill>
            <a:srgbClr val="FFFFFF"/>
          </a:solidFill>
          <a:ln w="12700">
            <a:solidFill>
              <a:srgbClr val="E4DCC9"/>
            </a:solidFill>
            <a:prstDash val="solid"/>
          </a:ln>
        </p:spPr>
      </p:sp>
      <p:sp>
        <p:nvSpPr>
          <p:cNvPr id="10" name="Shape 8"/>
          <p:cNvSpPr/>
          <p:nvPr/>
        </p:nvSpPr>
        <p:spPr>
          <a:xfrm>
            <a:off x="3242462" y="3799332"/>
            <a:ext cx="100584" cy="100584"/>
          </a:xfrm>
          <a:prstGeom prst="ellipse">
            <a:avLst/>
          </a:prstGeom>
          <a:solidFill>
            <a:srgbClr val="B0842F"/>
          </a:solidFill>
          <a:ln/>
        </p:spPr>
      </p:sp>
      <p:sp>
        <p:nvSpPr>
          <p:cNvPr id="11" name="Text 9"/>
          <p:cNvSpPr txBox="1"/>
          <p:nvPr/>
        </p:nvSpPr>
        <p:spPr>
          <a:xfrm>
            <a:off x="3407054" y="3639312"/>
            <a:ext cx="822960" cy="420624"/>
          </a:xfrm>
          <a:prstGeom prst="rect">
            <a:avLst/>
          </a:prstGeom>
          <a:noFill/>
          <a:ln/>
        </p:spPr>
        <p:txBody>
          <a:bodyPr wrap="square" lIns="0" tIns="0" rIns="0" bIns="0" rtlCol="0" anchor="ctr"/>
          <a:lstStyle/>
          <a:p>
            <a:pPr indent="0" marL="0">
              <a:buNone/>
            </a:pPr>
            <a:r>
              <a:rPr lang="en-US" sz="1050" dirty="0">
                <a:solidFill>
                  <a:srgbClr val="1D1A15"/>
                </a:solidFill>
                <a:latin typeface="Calibri" pitchFamily="34" charset="0"/>
                <a:ea typeface="Calibri" pitchFamily="34" charset="-122"/>
                <a:cs typeface="Calibri" pitchFamily="34" charset="-120"/>
              </a:rPr>
              <a:t>Proposed</a:t>
            </a:r>
            <a:endParaRPr lang="en-US" sz="1050" dirty="0"/>
          </a:p>
        </p:txBody>
      </p:sp>
      <p:sp>
        <p:nvSpPr>
          <p:cNvPr id="12" name="Shape 10"/>
          <p:cNvSpPr/>
          <p:nvPr/>
        </p:nvSpPr>
        <p:spPr>
          <a:xfrm>
            <a:off x="6565392" y="1231580"/>
            <a:ext cx="5385816" cy="4394840"/>
          </a:xfrm>
          <a:prstGeom prst="roundRect">
            <a:avLst>
              <a:gd name="adj" fmla="val 1248"/>
            </a:avLst>
          </a:prstGeom>
          <a:solidFill>
            <a:srgbClr val="FFFFFF"/>
          </a:solidFill>
          <a:ln w="12700">
            <a:solidFill>
              <a:srgbClr val="E4DCC9"/>
            </a:solidFill>
            <a:prstDash val="solid"/>
          </a:ln>
          <a:effectLst>
            <a:outerShdw sx="100000" sy="100000" kx="0" ky="0" algn="bl" rotWithShape="0" blurRad="127000" dist="38100" dir="5400000">
              <a:srgbClr val="6B6252">
                <a:alpha val="35000"/>
              </a:srgbClr>
            </a:outerShdw>
          </a:effectLst>
        </p:spPr>
      </p:sp>
      <p:pic>
        <p:nvPicPr>
          <p:cNvPr id="13" name="Image 0" descr="/private/tmp/claude-502/-Users-DRBTroy-Documents-Projects-DeepRoots/3b403855-4530-4100-a3e2-ac51fe60ce6e/scratchpad/screens/support.png">    </p:cNvPr>
          <p:cNvPicPr>
            <a:picLocks noChangeAspect="1"/>
          </p:cNvPicPr>
          <p:nvPr/>
        </p:nvPicPr>
        <p:blipFill>
          <a:blip r:embed="rId1"/>
          <a:stretch>
            <a:fillRect/>
          </a:stretch>
        </p:blipFill>
        <p:spPr>
          <a:xfrm>
            <a:off x="6629400" y="1295588"/>
            <a:ext cx="5257800" cy="426682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822960" y="777240"/>
            <a:ext cx="7315200" cy="274320"/>
          </a:xfrm>
          <a:prstGeom prst="rect">
            <a:avLst/>
          </a:prstGeom>
          <a:noFill/>
          <a:ln/>
        </p:spPr>
        <p:txBody>
          <a:bodyPr wrap="square" lIns="0" tIns="0" rIns="0" bIns="0" rtlCol="0" anchor="ctr"/>
          <a:lstStyle/>
          <a:p>
            <a:pPr indent="0" marL="0">
              <a:buNone/>
            </a:pPr>
            <a:r>
              <a:rPr lang="en-US" sz="1100" b="1" spc="300" kern="0" dirty="0">
                <a:solidFill>
                  <a:srgbClr val="9C7C2E"/>
                </a:solidFill>
                <a:latin typeface="Calibri" pitchFamily="34" charset="0"/>
                <a:ea typeface="Calibri" pitchFamily="34" charset="-122"/>
                <a:cs typeface="Calibri" pitchFamily="34" charset="-120"/>
              </a:rPr>
              <a:t>STAFF PORTAL · INBOX</a:t>
            </a:r>
            <a:endParaRPr lang="en-US" sz="1100" dirty="0"/>
          </a:p>
        </p:txBody>
      </p:sp>
      <p:sp>
        <p:nvSpPr>
          <p:cNvPr id="3" name="Shape 1"/>
          <p:cNvSpPr/>
          <p:nvPr/>
        </p:nvSpPr>
        <p:spPr>
          <a:xfrm>
            <a:off x="10314432" y="731520"/>
            <a:ext cx="1051560" cy="310896"/>
          </a:xfrm>
          <a:prstGeom prst="roundRect">
            <a:avLst>
              <a:gd name="adj" fmla="val 50000"/>
            </a:avLst>
          </a:prstGeom>
          <a:solidFill>
            <a:srgbClr val="F3E7C8"/>
          </a:solidFill>
          <a:ln w="9525">
            <a:solidFill>
              <a:srgbClr val="9C7C2E"/>
            </a:solidFill>
            <a:prstDash val="solid"/>
          </a:ln>
        </p:spPr>
      </p:sp>
      <p:sp>
        <p:nvSpPr>
          <p:cNvPr id="4" name="Text 2"/>
          <p:cNvSpPr txBox="1"/>
          <p:nvPr/>
        </p:nvSpPr>
        <p:spPr>
          <a:xfrm>
            <a:off x="10314432" y="722376"/>
            <a:ext cx="1051560" cy="320040"/>
          </a:xfrm>
          <a:prstGeom prst="rect">
            <a:avLst/>
          </a:prstGeom>
          <a:noFill/>
          <a:ln/>
        </p:spPr>
        <p:txBody>
          <a:bodyPr wrap="square" lIns="0" tIns="0" rIns="0" bIns="0" rtlCol="0" anchor="ctr"/>
          <a:lstStyle/>
          <a:p>
            <a:pPr algn="ctr" indent="0" marL="0">
              <a:buNone/>
            </a:pPr>
            <a:r>
              <a:rPr lang="en-US" sz="850" b="1" spc="100" kern="0" dirty="0">
                <a:solidFill>
                  <a:srgbClr val="7A5A12"/>
                </a:solidFill>
                <a:latin typeface="Calibri" pitchFamily="34" charset="0"/>
                <a:ea typeface="Calibri" pitchFamily="34" charset="-122"/>
                <a:cs typeface="Calibri" pitchFamily="34" charset="-120"/>
              </a:rPr>
              <a:t>PHASE 2</a:t>
            </a:r>
            <a:endParaRPr lang="en-US" sz="850" dirty="0"/>
          </a:p>
        </p:txBody>
      </p:sp>
      <p:sp>
        <p:nvSpPr>
          <p:cNvPr id="5" name="Text 3"/>
          <p:cNvSpPr txBox="1"/>
          <p:nvPr/>
        </p:nvSpPr>
        <p:spPr>
          <a:xfrm>
            <a:off x="822960" y="1097280"/>
            <a:ext cx="5760720" cy="1371600"/>
          </a:xfrm>
          <a:prstGeom prst="rect">
            <a:avLst/>
          </a:prstGeom>
          <a:noFill/>
          <a:ln/>
        </p:spPr>
        <p:txBody>
          <a:bodyPr wrap="square" lIns="0" tIns="0" rIns="0" bIns="0" rtlCol="0" anchor="t"/>
          <a:lstStyle/>
          <a:p>
            <a:pPr indent="0" marL="0">
              <a:lnSpc>
                <a:spcPct val="98000"/>
              </a:lnSpc>
              <a:buNone/>
            </a:pPr>
            <a:r>
              <a:rPr lang="en-US" sz="3200" b="1" dirty="0">
                <a:solidFill>
                  <a:srgbClr val="1D1A15"/>
                </a:solidFill>
                <a:latin typeface="Georgia" pitchFamily="34" charset="0"/>
                <a:ea typeface="Georgia" pitchFamily="34" charset="-122"/>
                <a:cs typeface="Georgia" pitchFamily="34" charset="-120"/>
              </a:rPr>
              <a:t>Inbox &amp; messaging</a:t>
            </a:r>
            <a:endParaRPr lang="en-US" sz="3200" dirty="0"/>
          </a:p>
        </p:txBody>
      </p:sp>
      <p:sp>
        <p:nvSpPr>
          <p:cNvPr id="6" name="Text 4"/>
          <p:cNvSpPr txBox="1"/>
          <p:nvPr/>
        </p:nvSpPr>
        <p:spPr>
          <a:xfrm>
            <a:off x="822960" y="2286000"/>
            <a:ext cx="5760720" cy="1371600"/>
          </a:xfrm>
          <a:prstGeom prst="rect">
            <a:avLst/>
          </a:prstGeom>
          <a:noFill/>
          <a:ln/>
        </p:spPr>
        <p:txBody>
          <a:bodyPr wrap="square" lIns="0" tIns="0" rIns="0" bIns="0" rtlCol="0" anchor="t"/>
          <a:lstStyle/>
          <a:p>
            <a:pPr indent="0" marL="0">
              <a:lnSpc>
                <a:spcPct val="115000"/>
              </a:lnSpc>
              <a:buNone/>
            </a:pPr>
            <a:r>
              <a:rPr lang="en-US" sz="1500" dirty="0">
                <a:solidFill>
                  <a:srgbClr val="7A7266"/>
                </a:solidFill>
                <a:latin typeface="Calibri" pitchFamily="34" charset="0"/>
                <a:ea typeface="Calibri" pitchFamily="34" charset="-122"/>
                <a:cs typeface="Calibri" pitchFamily="34" charset="-120"/>
              </a:rPr>
              <a:t>Conversations with each school kept in one place and sorted automatically, so a tech issue goes to tech and a content note goes to editorial.</a:t>
            </a:r>
            <a:endParaRPr lang="en-US" sz="1500" dirty="0"/>
          </a:p>
        </p:txBody>
      </p:sp>
      <p:sp>
        <p:nvSpPr>
          <p:cNvPr id="7" name="Shape 5"/>
          <p:cNvSpPr/>
          <p:nvPr/>
        </p:nvSpPr>
        <p:spPr>
          <a:xfrm>
            <a:off x="822960" y="3657600"/>
            <a:ext cx="1883664" cy="384048"/>
          </a:xfrm>
          <a:prstGeom prst="roundRect">
            <a:avLst>
              <a:gd name="adj" fmla="val 50000"/>
            </a:avLst>
          </a:prstGeom>
          <a:solidFill>
            <a:srgbClr val="FFFFFF"/>
          </a:solidFill>
          <a:ln w="12700">
            <a:solidFill>
              <a:srgbClr val="E4DCC9"/>
            </a:solidFill>
            <a:prstDash val="solid"/>
          </a:ln>
        </p:spPr>
      </p:sp>
      <p:sp>
        <p:nvSpPr>
          <p:cNvPr id="8" name="Text 6"/>
          <p:cNvSpPr txBox="1"/>
          <p:nvPr/>
        </p:nvSpPr>
        <p:spPr>
          <a:xfrm>
            <a:off x="969264" y="3639312"/>
            <a:ext cx="1609344" cy="420624"/>
          </a:xfrm>
          <a:prstGeom prst="rect">
            <a:avLst/>
          </a:prstGeom>
          <a:noFill/>
          <a:ln/>
        </p:spPr>
        <p:txBody>
          <a:bodyPr wrap="square" lIns="0" tIns="0" rIns="0" bIns="0" rtlCol="0" anchor="ctr"/>
          <a:lstStyle/>
          <a:p>
            <a:pPr indent="0" marL="0">
              <a:buNone/>
            </a:pPr>
            <a:r>
              <a:rPr lang="en-US" sz="1050" dirty="0">
                <a:solidFill>
                  <a:srgbClr val="1D1A15"/>
                </a:solidFill>
                <a:latin typeface="Calibri" pitchFamily="34" charset="0"/>
                <a:ea typeface="Calibri" pitchFamily="34" charset="-122"/>
                <a:cs typeface="Calibri" pitchFamily="34" charset="-120"/>
              </a:rPr>
              <a:t>Auto-sorted &amp; routed</a:t>
            </a:r>
            <a:endParaRPr lang="en-US" sz="1050" dirty="0"/>
          </a:p>
        </p:txBody>
      </p:sp>
      <p:sp>
        <p:nvSpPr>
          <p:cNvPr id="9" name="Shape 7"/>
          <p:cNvSpPr/>
          <p:nvPr/>
        </p:nvSpPr>
        <p:spPr>
          <a:xfrm>
            <a:off x="6565392" y="2248950"/>
            <a:ext cx="5385816" cy="2360101"/>
          </a:xfrm>
          <a:prstGeom prst="roundRect">
            <a:avLst>
              <a:gd name="adj" fmla="val 2325"/>
            </a:avLst>
          </a:prstGeom>
          <a:solidFill>
            <a:srgbClr val="FFFFFF"/>
          </a:solidFill>
          <a:ln w="12700">
            <a:solidFill>
              <a:srgbClr val="E4DCC9"/>
            </a:solidFill>
            <a:prstDash val="solid"/>
          </a:ln>
          <a:effectLst>
            <a:outerShdw sx="100000" sy="100000" kx="0" ky="0" algn="bl" rotWithShape="0" blurRad="127000" dist="38100" dir="5400000">
              <a:srgbClr val="6B6252">
                <a:alpha val="35000"/>
              </a:srgbClr>
            </a:outerShdw>
          </a:effectLst>
        </p:spPr>
      </p:sp>
      <p:pic>
        <p:nvPicPr>
          <p:cNvPr id="10" name="Image 0" descr="/private/tmp/claude-502/-Users-DRBTroy-Documents-Projects-DeepRoots/3b403855-4530-4100-a3e2-ac51fe60ce6e/scratchpad/screens/inbox.png">    </p:cNvPr>
          <p:cNvPicPr>
            <a:picLocks noChangeAspect="1"/>
          </p:cNvPicPr>
          <p:nvPr/>
        </p:nvPicPr>
        <p:blipFill>
          <a:blip r:embed="rId1"/>
          <a:stretch>
            <a:fillRect/>
          </a:stretch>
        </p:blipFill>
        <p:spPr>
          <a:xfrm>
            <a:off x="6629400" y="2312958"/>
            <a:ext cx="5257800" cy="223208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822960" y="777240"/>
            <a:ext cx="7315200" cy="274320"/>
          </a:xfrm>
          <a:prstGeom prst="rect">
            <a:avLst/>
          </a:prstGeom>
          <a:noFill/>
          <a:ln/>
        </p:spPr>
        <p:txBody>
          <a:bodyPr wrap="square" lIns="0" tIns="0" rIns="0" bIns="0" rtlCol="0" anchor="ctr"/>
          <a:lstStyle/>
          <a:p>
            <a:pPr indent="0" marL="0">
              <a:buNone/>
            </a:pPr>
            <a:r>
              <a:rPr lang="en-US" sz="1100" b="1" spc="300" kern="0" dirty="0">
                <a:solidFill>
                  <a:srgbClr val="9C7C2E"/>
                </a:solidFill>
                <a:latin typeface="Calibri" pitchFamily="34" charset="0"/>
                <a:ea typeface="Calibri" pitchFamily="34" charset="-122"/>
                <a:cs typeface="Calibri" pitchFamily="34" charset="-120"/>
              </a:rPr>
              <a:t>STAFF PORTAL · WORKFLOWS</a:t>
            </a:r>
            <a:endParaRPr lang="en-US" sz="1100" dirty="0"/>
          </a:p>
        </p:txBody>
      </p:sp>
      <p:sp>
        <p:nvSpPr>
          <p:cNvPr id="3" name="Shape 1"/>
          <p:cNvSpPr/>
          <p:nvPr/>
        </p:nvSpPr>
        <p:spPr>
          <a:xfrm>
            <a:off x="10314432" y="731520"/>
            <a:ext cx="1051560" cy="310896"/>
          </a:xfrm>
          <a:prstGeom prst="roundRect">
            <a:avLst>
              <a:gd name="adj" fmla="val 50000"/>
            </a:avLst>
          </a:prstGeom>
          <a:solidFill>
            <a:srgbClr val="F3E7C8"/>
          </a:solidFill>
          <a:ln w="9525">
            <a:solidFill>
              <a:srgbClr val="9C7C2E"/>
            </a:solidFill>
            <a:prstDash val="solid"/>
          </a:ln>
        </p:spPr>
      </p:sp>
      <p:sp>
        <p:nvSpPr>
          <p:cNvPr id="4" name="Text 2"/>
          <p:cNvSpPr txBox="1"/>
          <p:nvPr/>
        </p:nvSpPr>
        <p:spPr>
          <a:xfrm>
            <a:off x="10314432" y="722376"/>
            <a:ext cx="1051560" cy="320040"/>
          </a:xfrm>
          <a:prstGeom prst="rect">
            <a:avLst/>
          </a:prstGeom>
          <a:noFill/>
          <a:ln/>
        </p:spPr>
        <p:txBody>
          <a:bodyPr wrap="square" lIns="0" tIns="0" rIns="0" bIns="0" rtlCol="0" anchor="ctr"/>
          <a:lstStyle/>
          <a:p>
            <a:pPr algn="ctr" indent="0" marL="0">
              <a:buNone/>
            </a:pPr>
            <a:r>
              <a:rPr lang="en-US" sz="850" b="1" spc="100" kern="0" dirty="0">
                <a:solidFill>
                  <a:srgbClr val="7A5A12"/>
                </a:solidFill>
                <a:latin typeface="Calibri" pitchFamily="34" charset="0"/>
                <a:ea typeface="Calibri" pitchFamily="34" charset="-122"/>
                <a:cs typeface="Calibri" pitchFamily="34" charset="-120"/>
              </a:rPr>
              <a:t>PHASE 2</a:t>
            </a:r>
            <a:endParaRPr lang="en-US" sz="850" dirty="0"/>
          </a:p>
        </p:txBody>
      </p:sp>
      <p:sp>
        <p:nvSpPr>
          <p:cNvPr id="5" name="Text 3"/>
          <p:cNvSpPr txBox="1"/>
          <p:nvPr/>
        </p:nvSpPr>
        <p:spPr>
          <a:xfrm>
            <a:off x="822960" y="1097280"/>
            <a:ext cx="5760720" cy="1371600"/>
          </a:xfrm>
          <a:prstGeom prst="rect">
            <a:avLst/>
          </a:prstGeom>
          <a:noFill/>
          <a:ln/>
        </p:spPr>
        <p:txBody>
          <a:bodyPr wrap="square" lIns="0" tIns="0" rIns="0" bIns="0" rtlCol="0" anchor="t"/>
          <a:lstStyle/>
          <a:p>
            <a:pPr indent="0" marL="0">
              <a:lnSpc>
                <a:spcPct val="98000"/>
              </a:lnSpc>
              <a:buNone/>
            </a:pPr>
            <a:r>
              <a:rPr lang="en-US" sz="2800" b="1" dirty="0">
                <a:solidFill>
                  <a:srgbClr val="1D1A15"/>
                </a:solidFill>
                <a:latin typeface="Georgia" pitchFamily="34" charset="0"/>
                <a:ea typeface="Georgia" pitchFamily="34" charset="-122"/>
                <a:cs typeface="Georgia" pitchFamily="34" charset="-120"/>
              </a:rPr>
              <a:t>Workflows: the “pizza-tracker” engine</a:t>
            </a:r>
            <a:endParaRPr lang="en-US" sz="2800" dirty="0"/>
          </a:p>
        </p:txBody>
      </p:sp>
      <p:sp>
        <p:nvSpPr>
          <p:cNvPr id="6" name="Text 4"/>
          <p:cNvSpPr txBox="1"/>
          <p:nvPr/>
        </p:nvSpPr>
        <p:spPr>
          <a:xfrm>
            <a:off x="822960" y="2286000"/>
            <a:ext cx="5760720" cy="1371600"/>
          </a:xfrm>
          <a:prstGeom prst="rect">
            <a:avLst/>
          </a:prstGeom>
          <a:noFill/>
          <a:ln/>
        </p:spPr>
        <p:txBody>
          <a:bodyPr wrap="square" lIns="0" tIns="0" rIns="0" bIns="0" rtlCol="0" anchor="t"/>
          <a:lstStyle/>
          <a:p>
            <a:pPr indent="0" marL="0">
              <a:lnSpc>
                <a:spcPct val="115000"/>
              </a:lnSpc>
              <a:buNone/>
            </a:pPr>
            <a:r>
              <a:rPr lang="en-US" sz="1500" dirty="0">
                <a:solidFill>
                  <a:srgbClr val="7A7266"/>
                </a:solidFill>
                <a:latin typeface="Calibri" pitchFamily="34" charset="0"/>
                <a:ea typeface="Calibri" pitchFamily="34" charset="-122"/>
                <a:cs typeface="Calibri" pitchFamily="34" charset="-120"/>
              </a:rPr>
              <a:t>Every process runs as a simple step-by-step tracker (think pizza tracker) that nudges the next person automatically, across onboarding, offboarding, hiring, and new-school sign-ups.</a:t>
            </a:r>
            <a:endParaRPr lang="en-US" sz="1500" dirty="0"/>
          </a:p>
        </p:txBody>
      </p:sp>
      <p:sp>
        <p:nvSpPr>
          <p:cNvPr id="7" name="Shape 5"/>
          <p:cNvSpPr/>
          <p:nvPr/>
        </p:nvSpPr>
        <p:spPr>
          <a:xfrm>
            <a:off x="822960" y="3657600"/>
            <a:ext cx="1958645" cy="384048"/>
          </a:xfrm>
          <a:prstGeom prst="roundRect">
            <a:avLst>
              <a:gd name="adj" fmla="val 50000"/>
            </a:avLst>
          </a:prstGeom>
          <a:solidFill>
            <a:srgbClr val="FFFFFF"/>
          </a:solidFill>
          <a:ln w="12700">
            <a:solidFill>
              <a:srgbClr val="E4DCC9"/>
            </a:solidFill>
            <a:prstDash val="solid"/>
          </a:ln>
        </p:spPr>
      </p:sp>
      <p:sp>
        <p:nvSpPr>
          <p:cNvPr id="8" name="Text 6"/>
          <p:cNvSpPr txBox="1"/>
          <p:nvPr/>
        </p:nvSpPr>
        <p:spPr>
          <a:xfrm>
            <a:off x="969264" y="3639312"/>
            <a:ext cx="1684325" cy="420624"/>
          </a:xfrm>
          <a:prstGeom prst="rect">
            <a:avLst/>
          </a:prstGeom>
          <a:noFill/>
          <a:ln/>
        </p:spPr>
        <p:txBody>
          <a:bodyPr wrap="square" lIns="0" tIns="0" rIns="0" bIns="0" rtlCol="0" anchor="ctr"/>
          <a:lstStyle/>
          <a:p>
            <a:pPr indent="0" marL="0">
              <a:buNone/>
            </a:pPr>
            <a:r>
              <a:rPr lang="en-US" sz="1050" dirty="0">
                <a:solidFill>
                  <a:srgbClr val="1D1A15"/>
                </a:solidFill>
                <a:latin typeface="Calibri" pitchFamily="34" charset="0"/>
                <a:ea typeface="Calibri" pitchFamily="34" charset="-122"/>
                <a:cs typeface="Calibri" pitchFamily="34" charset="-120"/>
              </a:rPr>
              <a:t>Step-by-step tracking</a:t>
            </a:r>
            <a:endParaRPr lang="en-US" sz="1050" dirty="0"/>
          </a:p>
        </p:txBody>
      </p:sp>
      <p:sp>
        <p:nvSpPr>
          <p:cNvPr id="9" name="Shape 7"/>
          <p:cNvSpPr/>
          <p:nvPr/>
        </p:nvSpPr>
        <p:spPr>
          <a:xfrm>
            <a:off x="2946197" y="3657600"/>
            <a:ext cx="1097280" cy="384048"/>
          </a:xfrm>
          <a:prstGeom prst="roundRect">
            <a:avLst>
              <a:gd name="adj" fmla="val 50000"/>
            </a:avLst>
          </a:prstGeom>
          <a:solidFill>
            <a:srgbClr val="FFFFFF"/>
          </a:solidFill>
          <a:ln w="12700">
            <a:solidFill>
              <a:srgbClr val="E4DCC9"/>
            </a:solidFill>
            <a:prstDash val="solid"/>
          </a:ln>
        </p:spPr>
      </p:sp>
      <p:sp>
        <p:nvSpPr>
          <p:cNvPr id="10" name="Shape 8"/>
          <p:cNvSpPr/>
          <p:nvPr/>
        </p:nvSpPr>
        <p:spPr>
          <a:xfrm>
            <a:off x="3092501" y="3799332"/>
            <a:ext cx="100584" cy="100584"/>
          </a:xfrm>
          <a:prstGeom prst="ellipse">
            <a:avLst/>
          </a:prstGeom>
          <a:solidFill>
            <a:srgbClr val="B0842F"/>
          </a:solidFill>
          <a:ln/>
        </p:spPr>
      </p:sp>
      <p:sp>
        <p:nvSpPr>
          <p:cNvPr id="11" name="Text 9"/>
          <p:cNvSpPr txBox="1"/>
          <p:nvPr/>
        </p:nvSpPr>
        <p:spPr>
          <a:xfrm>
            <a:off x="3257093" y="3639312"/>
            <a:ext cx="822960" cy="420624"/>
          </a:xfrm>
          <a:prstGeom prst="rect">
            <a:avLst/>
          </a:prstGeom>
          <a:noFill/>
          <a:ln/>
        </p:spPr>
        <p:txBody>
          <a:bodyPr wrap="square" lIns="0" tIns="0" rIns="0" bIns="0" rtlCol="0" anchor="ctr"/>
          <a:lstStyle/>
          <a:p>
            <a:pPr indent="0" marL="0">
              <a:buNone/>
            </a:pPr>
            <a:r>
              <a:rPr lang="en-US" sz="1050" dirty="0">
                <a:solidFill>
                  <a:srgbClr val="1D1A15"/>
                </a:solidFill>
                <a:latin typeface="Calibri" pitchFamily="34" charset="0"/>
                <a:ea typeface="Calibri" pitchFamily="34" charset="-122"/>
                <a:cs typeface="Calibri" pitchFamily="34" charset="-120"/>
              </a:rPr>
              <a:t>Proposed</a:t>
            </a:r>
            <a:endParaRPr lang="en-US" sz="1050" dirty="0"/>
          </a:p>
        </p:txBody>
      </p:sp>
      <p:sp>
        <p:nvSpPr>
          <p:cNvPr id="12" name="Shape 10"/>
          <p:cNvSpPr/>
          <p:nvPr/>
        </p:nvSpPr>
        <p:spPr>
          <a:xfrm>
            <a:off x="6565392" y="1231046"/>
            <a:ext cx="5385816" cy="4395908"/>
          </a:xfrm>
          <a:prstGeom prst="roundRect">
            <a:avLst>
              <a:gd name="adj" fmla="val 1248"/>
            </a:avLst>
          </a:prstGeom>
          <a:solidFill>
            <a:srgbClr val="FFFFFF"/>
          </a:solidFill>
          <a:ln w="12700">
            <a:solidFill>
              <a:srgbClr val="E4DCC9"/>
            </a:solidFill>
            <a:prstDash val="solid"/>
          </a:ln>
          <a:effectLst>
            <a:outerShdw sx="100000" sy="100000" kx="0" ky="0" algn="bl" rotWithShape="0" blurRad="127000" dist="38100" dir="5400000">
              <a:srgbClr val="6B6252">
                <a:alpha val="35000"/>
              </a:srgbClr>
            </a:outerShdw>
          </a:effectLst>
        </p:spPr>
      </p:sp>
      <p:pic>
        <p:nvPicPr>
          <p:cNvPr id="13" name="Image 0" descr="/private/tmp/claude-502/-Users-DRBTroy-Documents-Projects-DeepRoots/3b403855-4530-4100-a3e2-ac51fe60ce6e/scratchpad/screens/workflow-tracker.png">    </p:cNvPr>
          <p:cNvPicPr>
            <a:picLocks noChangeAspect="1"/>
          </p:cNvPicPr>
          <p:nvPr/>
        </p:nvPicPr>
        <p:blipFill>
          <a:blip r:embed="rId1"/>
          <a:stretch>
            <a:fillRect/>
          </a:stretch>
        </p:blipFill>
        <p:spPr>
          <a:xfrm>
            <a:off x="6629400" y="1295054"/>
            <a:ext cx="5257800" cy="426789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822960" y="777240"/>
            <a:ext cx="7315200" cy="274320"/>
          </a:xfrm>
          <a:prstGeom prst="rect">
            <a:avLst/>
          </a:prstGeom>
          <a:noFill/>
          <a:ln/>
        </p:spPr>
        <p:txBody>
          <a:bodyPr wrap="square" lIns="0" tIns="0" rIns="0" bIns="0" rtlCol="0" anchor="ctr"/>
          <a:lstStyle/>
          <a:p>
            <a:pPr indent="0" marL="0">
              <a:buNone/>
            </a:pPr>
            <a:r>
              <a:rPr lang="en-US" sz="1100" b="1" spc="300" kern="0" dirty="0">
                <a:solidFill>
                  <a:srgbClr val="9C7C2E"/>
                </a:solidFill>
                <a:latin typeface="Calibri" pitchFamily="34" charset="0"/>
                <a:ea typeface="Calibri" pitchFamily="34" charset="-122"/>
                <a:cs typeface="Calibri" pitchFamily="34" charset="-120"/>
              </a:rPr>
              <a:t>STAFF PORTAL · HAND-OFFS</a:t>
            </a:r>
            <a:endParaRPr lang="en-US" sz="1100" dirty="0"/>
          </a:p>
        </p:txBody>
      </p:sp>
      <p:sp>
        <p:nvSpPr>
          <p:cNvPr id="3" name="Shape 1"/>
          <p:cNvSpPr/>
          <p:nvPr/>
        </p:nvSpPr>
        <p:spPr>
          <a:xfrm>
            <a:off x="10314432" y="731520"/>
            <a:ext cx="1051560" cy="310896"/>
          </a:xfrm>
          <a:prstGeom prst="roundRect">
            <a:avLst>
              <a:gd name="adj" fmla="val 50000"/>
            </a:avLst>
          </a:prstGeom>
          <a:solidFill>
            <a:srgbClr val="F3E7C8"/>
          </a:solidFill>
          <a:ln w="9525">
            <a:solidFill>
              <a:srgbClr val="9C7C2E"/>
            </a:solidFill>
            <a:prstDash val="solid"/>
          </a:ln>
        </p:spPr>
      </p:sp>
      <p:sp>
        <p:nvSpPr>
          <p:cNvPr id="4" name="Text 2"/>
          <p:cNvSpPr txBox="1"/>
          <p:nvPr/>
        </p:nvSpPr>
        <p:spPr>
          <a:xfrm>
            <a:off x="10314432" y="722376"/>
            <a:ext cx="1051560" cy="320040"/>
          </a:xfrm>
          <a:prstGeom prst="rect">
            <a:avLst/>
          </a:prstGeom>
          <a:noFill/>
          <a:ln/>
        </p:spPr>
        <p:txBody>
          <a:bodyPr wrap="square" lIns="0" tIns="0" rIns="0" bIns="0" rtlCol="0" anchor="ctr"/>
          <a:lstStyle/>
          <a:p>
            <a:pPr algn="ctr" indent="0" marL="0">
              <a:buNone/>
            </a:pPr>
            <a:r>
              <a:rPr lang="en-US" sz="850" b="1" spc="100" kern="0" dirty="0">
                <a:solidFill>
                  <a:srgbClr val="7A5A12"/>
                </a:solidFill>
                <a:latin typeface="Calibri" pitchFamily="34" charset="0"/>
                <a:ea typeface="Calibri" pitchFamily="34" charset="-122"/>
                <a:cs typeface="Calibri" pitchFamily="34" charset="-120"/>
              </a:rPr>
              <a:t>PHASE 2</a:t>
            </a:r>
            <a:endParaRPr lang="en-US" sz="850" dirty="0"/>
          </a:p>
        </p:txBody>
      </p:sp>
      <p:sp>
        <p:nvSpPr>
          <p:cNvPr id="5" name="Text 3"/>
          <p:cNvSpPr txBox="1"/>
          <p:nvPr/>
        </p:nvSpPr>
        <p:spPr>
          <a:xfrm>
            <a:off x="822960" y="1097280"/>
            <a:ext cx="5760720" cy="1371600"/>
          </a:xfrm>
          <a:prstGeom prst="rect">
            <a:avLst/>
          </a:prstGeom>
          <a:noFill/>
          <a:ln/>
        </p:spPr>
        <p:txBody>
          <a:bodyPr wrap="square" lIns="0" tIns="0" rIns="0" bIns="0" rtlCol="0" anchor="t"/>
          <a:lstStyle/>
          <a:p>
            <a:pPr indent="0" marL="0">
              <a:lnSpc>
                <a:spcPct val="98000"/>
              </a:lnSpc>
              <a:buNone/>
            </a:pPr>
            <a:r>
              <a:rPr lang="en-US" sz="3200" b="1" dirty="0">
                <a:solidFill>
                  <a:srgbClr val="1D1A15"/>
                </a:solidFill>
                <a:latin typeface="Georgia" pitchFamily="34" charset="0"/>
                <a:ea typeface="Georgia" pitchFamily="34" charset="-122"/>
                <a:cs typeface="Georgia" pitchFamily="34" charset="-120"/>
              </a:rPr>
              <a:t>Workflow hand-offs</a:t>
            </a:r>
            <a:endParaRPr lang="en-US" sz="3200" dirty="0"/>
          </a:p>
        </p:txBody>
      </p:sp>
      <p:sp>
        <p:nvSpPr>
          <p:cNvPr id="6" name="Text 4"/>
          <p:cNvSpPr txBox="1"/>
          <p:nvPr/>
        </p:nvSpPr>
        <p:spPr>
          <a:xfrm>
            <a:off x="822960" y="2286000"/>
            <a:ext cx="5760720" cy="1371600"/>
          </a:xfrm>
          <a:prstGeom prst="rect">
            <a:avLst/>
          </a:prstGeom>
          <a:noFill/>
          <a:ln/>
        </p:spPr>
        <p:txBody>
          <a:bodyPr wrap="square" lIns="0" tIns="0" rIns="0" bIns="0" rtlCol="0" anchor="t"/>
          <a:lstStyle/>
          <a:p>
            <a:pPr indent="0" marL="0">
              <a:lnSpc>
                <a:spcPct val="115000"/>
              </a:lnSpc>
              <a:buNone/>
            </a:pPr>
            <a:r>
              <a:rPr lang="en-US" sz="1500" dirty="0">
                <a:solidFill>
                  <a:srgbClr val="7A7266"/>
                </a:solidFill>
                <a:latin typeface="Calibri" pitchFamily="34" charset="0"/>
                <a:ea typeface="Calibri" pitchFamily="34" charset="-122"/>
                <a:cs typeface="Calibri" pitchFamily="34" charset="-120"/>
              </a:rPr>
              <a:t>The relay between departments: when one workflow finishes it hands the baton to the next, so work crosses teams without falling through the cracks.</a:t>
            </a:r>
            <a:endParaRPr lang="en-US" sz="1500" dirty="0"/>
          </a:p>
        </p:txBody>
      </p:sp>
      <p:sp>
        <p:nvSpPr>
          <p:cNvPr id="7" name="Shape 5"/>
          <p:cNvSpPr/>
          <p:nvPr/>
        </p:nvSpPr>
        <p:spPr>
          <a:xfrm>
            <a:off x="822960" y="3657600"/>
            <a:ext cx="2258568" cy="384048"/>
          </a:xfrm>
          <a:prstGeom prst="roundRect">
            <a:avLst>
              <a:gd name="adj" fmla="val 50000"/>
            </a:avLst>
          </a:prstGeom>
          <a:solidFill>
            <a:srgbClr val="FFFFFF"/>
          </a:solidFill>
          <a:ln w="12700">
            <a:solidFill>
              <a:srgbClr val="E4DCC9"/>
            </a:solidFill>
            <a:prstDash val="solid"/>
          </a:ln>
        </p:spPr>
      </p:sp>
      <p:sp>
        <p:nvSpPr>
          <p:cNvPr id="8" name="Text 6"/>
          <p:cNvSpPr txBox="1"/>
          <p:nvPr/>
        </p:nvSpPr>
        <p:spPr>
          <a:xfrm>
            <a:off x="969264" y="3639312"/>
            <a:ext cx="1984248" cy="420624"/>
          </a:xfrm>
          <a:prstGeom prst="rect">
            <a:avLst/>
          </a:prstGeom>
          <a:noFill/>
          <a:ln/>
        </p:spPr>
        <p:txBody>
          <a:bodyPr wrap="square" lIns="0" tIns="0" rIns="0" bIns="0" rtlCol="0" anchor="ctr"/>
          <a:lstStyle/>
          <a:p>
            <a:pPr indent="0" marL="0">
              <a:buNone/>
            </a:pPr>
            <a:r>
              <a:rPr lang="en-US" sz="1050" dirty="0">
                <a:solidFill>
                  <a:srgbClr val="1D1A15"/>
                </a:solidFill>
                <a:latin typeface="Calibri" pitchFamily="34" charset="0"/>
                <a:ea typeface="Calibri" pitchFamily="34" charset="-122"/>
                <a:cs typeface="Calibri" pitchFamily="34" charset="-120"/>
              </a:rPr>
              <a:t>Sales → Success → Finance</a:t>
            </a:r>
            <a:endParaRPr lang="en-US" sz="1050" dirty="0"/>
          </a:p>
        </p:txBody>
      </p:sp>
      <p:sp>
        <p:nvSpPr>
          <p:cNvPr id="9" name="Shape 7"/>
          <p:cNvSpPr/>
          <p:nvPr/>
        </p:nvSpPr>
        <p:spPr>
          <a:xfrm>
            <a:off x="3246120" y="3657600"/>
            <a:ext cx="1733702" cy="384048"/>
          </a:xfrm>
          <a:prstGeom prst="roundRect">
            <a:avLst>
              <a:gd name="adj" fmla="val 50000"/>
            </a:avLst>
          </a:prstGeom>
          <a:solidFill>
            <a:srgbClr val="FFFFFF"/>
          </a:solidFill>
          <a:ln w="12700">
            <a:solidFill>
              <a:srgbClr val="E4DCC9"/>
            </a:solidFill>
            <a:prstDash val="solid"/>
          </a:ln>
        </p:spPr>
      </p:sp>
      <p:sp>
        <p:nvSpPr>
          <p:cNvPr id="10" name="Shape 8"/>
          <p:cNvSpPr/>
          <p:nvPr/>
        </p:nvSpPr>
        <p:spPr>
          <a:xfrm>
            <a:off x="3392424" y="3799332"/>
            <a:ext cx="100584" cy="100584"/>
          </a:xfrm>
          <a:prstGeom prst="ellipse">
            <a:avLst/>
          </a:prstGeom>
          <a:solidFill>
            <a:srgbClr val="B0842F"/>
          </a:solidFill>
          <a:ln/>
        </p:spPr>
      </p:sp>
      <p:sp>
        <p:nvSpPr>
          <p:cNvPr id="11" name="Text 9"/>
          <p:cNvSpPr txBox="1"/>
          <p:nvPr/>
        </p:nvSpPr>
        <p:spPr>
          <a:xfrm>
            <a:off x="3557016" y="3639312"/>
            <a:ext cx="1459382" cy="420624"/>
          </a:xfrm>
          <a:prstGeom prst="rect">
            <a:avLst/>
          </a:prstGeom>
          <a:noFill/>
          <a:ln/>
        </p:spPr>
        <p:txBody>
          <a:bodyPr wrap="square" lIns="0" tIns="0" rIns="0" bIns="0" rtlCol="0" anchor="ctr"/>
          <a:lstStyle/>
          <a:p>
            <a:pPr indent="0" marL="0">
              <a:buNone/>
            </a:pPr>
            <a:r>
              <a:rPr lang="en-US" sz="1050" dirty="0">
                <a:solidFill>
                  <a:srgbClr val="1D1A15"/>
                </a:solidFill>
                <a:latin typeface="Calibri" pitchFamily="34" charset="0"/>
                <a:ea typeface="Calibri" pitchFamily="34" charset="-122"/>
                <a:cs typeface="Calibri" pitchFamily="34" charset="-120"/>
              </a:rPr>
              <a:t>Automatic hand-off</a:t>
            </a:r>
            <a:endParaRPr lang="en-US" sz="1050" dirty="0"/>
          </a:p>
        </p:txBody>
      </p:sp>
      <p:sp>
        <p:nvSpPr>
          <p:cNvPr id="12" name="Shape 10"/>
          <p:cNvSpPr/>
          <p:nvPr/>
        </p:nvSpPr>
        <p:spPr>
          <a:xfrm>
            <a:off x="6565392" y="1668019"/>
            <a:ext cx="5385816" cy="3521963"/>
          </a:xfrm>
          <a:prstGeom prst="roundRect">
            <a:avLst>
              <a:gd name="adj" fmla="val 1558"/>
            </a:avLst>
          </a:prstGeom>
          <a:solidFill>
            <a:srgbClr val="FFFFFF"/>
          </a:solidFill>
          <a:ln w="12700">
            <a:solidFill>
              <a:srgbClr val="E4DCC9"/>
            </a:solidFill>
            <a:prstDash val="solid"/>
          </a:ln>
          <a:effectLst>
            <a:outerShdw sx="100000" sy="100000" kx="0" ky="0" algn="bl" rotWithShape="0" blurRad="127000" dist="38100" dir="5400000">
              <a:srgbClr val="6B6252">
                <a:alpha val="35000"/>
              </a:srgbClr>
            </a:outerShdw>
          </a:effectLst>
        </p:spPr>
      </p:sp>
      <p:pic>
        <p:nvPicPr>
          <p:cNvPr id="13" name="Image 0" descr="/private/tmp/claude-502/-Users-DRBTroy-Documents-Projects-DeepRoots/3b403855-4530-4100-a3e2-ac51fe60ce6e/scratchpad/screens/handoffs.png">    </p:cNvPr>
          <p:cNvPicPr>
            <a:picLocks noChangeAspect="1"/>
          </p:cNvPicPr>
          <p:nvPr/>
        </p:nvPicPr>
        <p:blipFill>
          <a:blip r:embed="rId1"/>
          <a:stretch>
            <a:fillRect/>
          </a:stretch>
        </p:blipFill>
        <p:spPr>
          <a:xfrm>
            <a:off x="6629400" y="1732027"/>
            <a:ext cx="5257800" cy="339394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822960" y="777240"/>
            <a:ext cx="7315200" cy="274320"/>
          </a:xfrm>
          <a:prstGeom prst="rect">
            <a:avLst/>
          </a:prstGeom>
          <a:noFill/>
          <a:ln/>
        </p:spPr>
        <p:txBody>
          <a:bodyPr wrap="square" lIns="0" tIns="0" rIns="0" bIns="0" rtlCol="0" anchor="ctr"/>
          <a:lstStyle/>
          <a:p>
            <a:pPr indent="0" marL="0">
              <a:buNone/>
            </a:pPr>
            <a:r>
              <a:rPr lang="en-US" sz="1100" b="1" spc="300" kern="0" dirty="0">
                <a:solidFill>
                  <a:srgbClr val="9C7C2E"/>
                </a:solidFill>
                <a:latin typeface="Calibri" pitchFamily="34" charset="0"/>
                <a:ea typeface="Calibri" pitchFamily="34" charset="-122"/>
                <a:cs typeface="Calibri" pitchFamily="34" charset="-120"/>
              </a:rPr>
              <a:t>STAFF PORTAL · PEOPLE &amp; HR</a:t>
            </a:r>
            <a:endParaRPr lang="en-US" sz="1100" dirty="0"/>
          </a:p>
        </p:txBody>
      </p:sp>
      <p:sp>
        <p:nvSpPr>
          <p:cNvPr id="3" name="Shape 1"/>
          <p:cNvSpPr/>
          <p:nvPr/>
        </p:nvSpPr>
        <p:spPr>
          <a:xfrm>
            <a:off x="10314432" y="731520"/>
            <a:ext cx="1051560" cy="310896"/>
          </a:xfrm>
          <a:prstGeom prst="roundRect">
            <a:avLst>
              <a:gd name="adj" fmla="val 50000"/>
            </a:avLst>
          </a:prstGeom>
          <a:solidFill>
            <a:srgbClr val="F3E7C8"/>
          </a:solidFill>
          <a:ln w="9525">
            <a:solidFill>
              <a:srgbClr val="9C7C2E"/>
            </a:solidFill>
            <a:prstDash val="solid"/>
          </a:ln>
        </p:spPr>
      </p:sp>
      <p:sp>
        <p:nvSpPr>
          <p:cNvPr id="4" name="Text 2"/>
          <p:cNvSpPr txBox="1"/>
          <p:nvPr/>
        </p:nvSpPr>
        <p:spPr>
          <a:xfrm>
            <a:off x="10314432" y="722376"/>
            <a:ext cx="1051560" cy="320040"/>
          </a:xfrm>
          <a:prstGeom prst="rect">
            <a:avLst/>
          </a:prstGeom>
          <a:noFill/>
          <a:ln/>
        </p:spPr>
        <p:txBody>
          <a:bodyPr wrap="square" lIns="0" tIns="0" rIns="0" bIns="0" rtlCol="0" anchor="ctr"/>
          <a:lstStyle/>
          <a:p>
            <a:pPr algn="ctr" indent="0" marL="0">
              <a:buNone/>
            </a:pPr>
            <a:r>
              <a:rPr lang="en-US" sz="850" b="1" spc="100" kern="0" dirty="0">
                <a:solidFill>
                  <a:srgbClr val="7A5A12"/>
                </a:solidFill>
                <a:latin typeface="Calibri" pitchFamily="34" charset="0"/>
                <a:ea typeface="Calibri" pitchFamily="34" charset="-122"/>
                <a:cs typeface="Calibri" pitchFamily="34" charset="-120"/>
              </a:rPr>
              <a:t>PHASE 2</a:t>
            </a:r>
            <a:endParaRPr lang="en-US" sz="850" dirty="0"/>
          </a:p>
        </p:txBody>
      </p:sp>
      <p:sp>
        <p:nvSpPr>
          <p:cNvPr id="5" name="Text 3"/>
          <p:cNvSpPr txBox="1"/>
          <p:nvPr/>
        </p:nvSpPr>
        <p:spPr>
          <a:xfrm>
            <a:off x="822960" y="1097280"/>
            <a:ext cx="5760720" cy="1371600"/>
          </a:xfrm>
          <a:prstGeom prst="rect">
            <a:avLst/>
          </a:prstGeom>
          <a:noFill/>
          <a:ln/>
        </p:spPr>
        <p:txBody>
          <a:bodyPr wrap="square" lIns="0" tIns="0" rIns="0" bIns="0" rtlCol="0" anchor="t"/>
          <a:lstStyle/>
          <a:p>
            <a:pPr indent="0" marL="0">
              <a:lnSpc>
                <a:spcPct val="98000"/>
              </a:lnSpc>
              <a:buNone/>
            </a:pPr>
            <a:r>
              <a:rPr lang="en-US" sz="3200" b="1" dirty="0">
                <a:solidFill>
                  <a:srgbClr val="1D1A15"/>
                </a:solidFill>
                <a:latin typeface="Georgia" pitchFamily="34" charset="0"/>
                <a:ea typeface="Georgia" pitchFamily="34" charset="-122"/>
                <a:cs typeface="Georgia" pitchFamily="34" charset="-120"/>
              </a:rPr>
              <a:t>People &amp; HR</a:t>
            </a:r>
            <a:endParaRPr lang="en-US" sz="3200" dirty="0"/>
          </a:p>
        </p:txBody>
      </p:sp>
      <p:sp>
        <p:nvSpPr>
          <p:cNvPr id="6" name="Text 4"/>
          <p:cNvSpPr txBox="1"/>
          <p:nvPr/>
        </p:nvSpPr>
        <p:spPr>
          <a:xfrm>
            <a:off x="822960" y="2286000"/>
            <a:ext cx="5760720" cy="1371600"/>
          </a:xfrm>
          <a:prstGeom prst="rect">
            <a:avLst/>
          </a:prstGeom>
          <a:noFill/>
          <a:ln/>
        </p:spPr>
        <p:txBody>
          <a:bodyPr wrap="square" lIns="0" tIns="0" rIns="0" bIns="0" rtlCol="0" anchor="t"/>
          <a:lstStyle/>
          <a:p>
            <a:pPr indent="0" marL="0">
              <a:lnSpc>
                <a:spcPct val="115000"/>
              </a:lnSpc>
              <a:buNone/>
            </a:pPr>
            <a:r>
              <a:rPr lang="en-US" sz="1500" dirty="0">
                <a:solidFill>
                  <a:srgbClr val="7A7266"/>
                </a:solidFill>
                <a:latin typeface="Calibri" pitchFamily="34" charset="0"/>
                <a:ea typeface="Calibri" pitchFamily="34" charset="-122"/>
                <a:cs typeface="Calibri" pitchFamily="34" charset="-120"/>
              </a:rPr>
              <a:t>New-hire onboarding and offboarding run as guided, step-by-step checklists in the portal, with a simple applicant list for hiring.</a:t>
            </a:r>
            <a:endParaRPr lang="en-US" sz="1500" dirty="0"/>
          </a:p>
        </p:txBody>
      </p:sp>
      <p:sp>
        <p:nvSpPr>
          <p:cNvPr id="7" name="Shape 5"/>
          <p:cNvSpPr/>
          <p:nvPr/>
        </p:nvSpPr>
        <p:spPr>
          <a:xfrm>
            <a:off x="822960" y="3657600"/>
            <a:ext cx="1808683" cy="384048"/>
          </a:xfrm>
          <a:prstGeom prst="roundRect">
            <a:avLst>
              <a:gd name="adj" fmla="val 50000"/>
            </a:avLst>
          </a:prstGeom>
          <a:solidFill>
            <a:srgbClr val="FFFFFF"/>
          </a:solidFill>
          <a:ln w="12700">
            <a:solidFill>
              <a:srgbClr val="E4DCC9"/>
            </a:solidFill>
            <a:prstDash val="solid"/>
          </a:ln>
        </p:spPr>
      </p:sp>
      <p:sp>
        <p:nvSpPr>
          <p:cNvPr id="8" name="Text 6"/>
          <p:cNvSpPr txBox="1"/>
          <p:nvPr/>
        </p:nvSpPr>
        <p:spPr>
          <a:xfrm>
            <a:off x="969264" y="3639312"/>
            <a:ext cx="1534363" cy="420624"/>
          </a:xfrm>
          <a:prstGeom prst="rect">
            <a:avLst/>
          </a:prstGeom>
          <a:noFill/>
          <a:ln/>
        </p:spPr>
        <p:txBody>
          <a:bodyPr wrap="square" lIns="0" tIns="0" rIns="0" bIns="0" rtlCol="0" anchor="ctr"/>
          <a:lstStyle/>
          <a:p>
            <a:pPr indent="0" marL="0">
              <a:buNone/>
            </a:pPr>
            <a:r>
              <a:rPr lang="en-US" sz="1050" dirty="0">
                <a:solidFill>
                  <a:srgbClr val="1D1A15"/>
                </a:solidFill>
                <a:latin typeface="Calibri" pitchFamily="34" charset="0"/>
                <a:ea typeface="Calibri" pitchFamily="34" charset="-122"/>
                <a:cs typeface="Calibri" pitchFamily="34" charset="-120"/>
              </a:rPr>
              <a:t>Guided step-by-step</a:t>
            </a:r>
            <a:endParaRPr lang="en-US" sz="1050" dirty="0"/>
          </a:p>
        </p:txBody>
      </p:sp>
      <p:sp>
        <p:nvSpPr>
          <p:cNvPr id="9" name="Shape 7"/>
          <p:cNvSpPr/>
          <p:nvPr/>
        </p:nvSpPr>
        <p:spPr>
          <a:xfrm>
            <a:off x="2796235" y="3657600"/>
            <a:ext cx="3158338" cy="384048"/>
          </a:xfrm>
          <a:prstGeom prst="roundRect">
            <a:avLst>
              <a:gd name="adj" fmla="val 50000"/>
            </a:avLst>
          </a:prstGeom>
          <a:solidFill>
            <a:srgbClr val="FFFFFF"/>
          </a:solidFill>
          <a:ln w="12700">
            <a:solidFill>
              <a:srgbClr val="E4DCC9"/>
            </a:solidFill>
            <a:prstDash val="solid"/>
          </a:ln>
        </p:spPr>
      </p:sp>
      <p:sp>
        <p:nvSpPr>
          <p:cNvPr id="10" name="Shape 8"/>
          <p:cNvSpPr/>
          <p:nvPr/>
        </p:nvSpPr>
        <p:spPr>
          <a:xfrm>
            <a:off x="2942539" y="3799332"/>
            <a:ext cx="100584" cy="100584"/>
          </a:xfrm>
          <a:prstGeom prst="ellipse">
            <a:avLst/>
          </a:prstGeom>
          <a:solidFill>
            <a:srgbClr val="B0842F"/>
          </a:solidFill>
          <a:ln/>
        </p:spPr>
      </p:sp>
      <p:sp>
        <p:nvSpPr>
          <p:cNvPr id="11" name="Text 9"/>
          <p:cNvSpPr txBox="1"/>
          <p:nvPr/>
        </p:nvSpPr>
        <p:spPr>
          <a:xfrm>
            <a:off x="3107131" y="3639312"/>
            <a:ext cx="2884018" cy="420624"/>
          </a:xfrm>
          <a:prstGeom prst="rect">
            <a:avLst/>
          </a:prstGeom>
          <a:noFill/>
          <a:ln/>
        </p:spPr>
        <p:txBody>
          <a:bodyPr wrap="square" lIns="0" tIns="0" rIns="0" bIns="0" rtlCol="0" anchor="ctr"/>
          <a:lstStyle/>
          <a:p>
            <a:pPr indent="0" marL="0">
              <a:buNone/>
            </a:pPr>
            <a:r>
              <a:rPr lang="en-US" sz="1050" dirty="0">
                <a:solidFill>
                  <a:srgbClr val="1D1A15"/>
                </a:solidFill>
                <a:latin typeface="Calibri" pitchFamily="34" charset="0"/>
                <a:ea typeface="Calibri" pitchFamily="34" charset="-122"/>
                <a:cs typeface="Calibri" pitchFamily="34" charset="-120"/>
              </a:rPr>
              <a:t>Onboarding · Offboarding · Recruiting</a:t>
            </a:r>
            <a:endParaRPr lang="en-US" sz="1050" dirty="0"/>
          </a:p>
        </p:txBody>
      </p:sp>
      <p:sp>
        <p:nvSpPr>
          <p:cNvPr id="12" name="Shape 10"/>
          <p:cNvSpPr/>
          <p:nvPr/>
        </p:nvSpPr>
        <p:spPr>
          <a:xfrm>
            <a:off x="7040880" y="1645920"/>
            <a:ext cx="4480560" cy="3566160"/>
          </a:xfrm>
          <a:prstGeom prst="roundRect">
            <a:avLst>
              <a:gd name="adj" fmla="val 3077"/>
            </a:avLst>
          </a:prstGeom>
          <a:solidFill>
            <a:srgbClr val="FFFFFF"/>
          </a:solidFill>
          <a:ln w="12700">
            <a:solidFill>
              <a:srgbClr val="E4DCC9"/>
            </a:solidFill>
            <a:prstDash val="solid"/>
          </a:ln>
          <a:effectLst>
            <a:outerShdw sx="100000" sy="100000" kx="0" ky="0" algn="bl" rotWithShape="0" blurRad="127000" dist="38100" dir="5400000">
              <a:srgbClr val="6B6252">
                <a:alpha val="35000"/>
              </a:srgbClr>
            </a:outerShdw>
          </a:effectLst>
        </p:spPr>
      </p:sp>
      <p:sp>
        <p:nvSpPr>
          <p:cNvPr id="13" name="Shape 11"/>
          <p:cNvSpPr/>
          <p:nvPr/>
        </p:nvSpPr>
        <p:spPr>
          <a:xfrm>
            <a:off x="7040880" y="1645920"/>
            <a:ext cx="4480560" cy="384048"/>
          </a:xfrm>
          <a:prstGeom prst="roundRect">
            <a:avLst>
              <a:gd name="adj" fmla="val 28571"/>
            </a:avLst>
          </a:prstGeom>
          <a:solidFill>
            <a:srgbClr val="FBFAF6"/>
          </a:solidFill>
          <a:ln/>
        </p:spPr>
      </p:sp>
      <p:sp>
        <p:nvSpPr>
          <p:cNvPr id="14" name="Shape 12"/>
          <p:cNvSpPr/>
          <p:nvPr/>
        </p:nvSpPr>
        <p:spPr>
          <a:xfrm>
            <a:off x="7040880" y="1901952"/>
            <a:ext cx="4480560" cy="128016"/>
          </a:xfrm>
          <a:prstGeom prst="rect">
            <a:avLst/>
          </a:prstGeom>
          <a:solidFill>
            <a:srgbClr val="FBFAF6"/>
          </a:solidFill>
          <a:ln/>
        </p:spPr>
      </p:sp>
      <p:sp>
        <p:nvSpPr>
          <p:cNvPr id="15" name="Shape 13"/>
          <p:cNvSpPr/>
          <p:nvPr/>
        </p:nvSpPr>
        <p:spPr>
          <a:xfrm>
            <a:off x="7205472" y="1783080"/>
            <a:ext cx="100584" cy="100584"/>
          </a:xfrm>
          <a:prstGeom prst="ellipse">
            <a:avLst/>
          </a:prstGeom>
          <a:solidFill>
            <a:srgbClr val="C9BFA9"/>
          </a:solidFill>
          <a:ln/>
        </p:spPr>
      </p:sp>
      <p:sp>
        <p:nvSpPr>
          <p:cNvPr id="16" name="Shape 14"/>
          <p:cNvSpPr/>
          <p:nvPr/>
        </p:nvSpPr>
        <p:spPr>
          <a:xfrm>
            <a:off x="7388352" y="1783080"/>
            <a:ext cx="100584" cy="100584"/>
          </a:xfrm>
          <a:prstGeom prst="ellipse">
            <a:avLst/>
          </a:prstGeom>
          <a:solidFill>
            <a:srgbClr val="C9BFA9"/>
          </a:solidFill>
          <a:ln/>
        </p:spPr>
      </p:sp>
      <p:sp>
        <p:nvSpPr>
          <p:cNvPr id="17" name="Shape 15"/>
          <p:cNvSpPr/>
          <p:nvPr/>
        </p:nvSpPr>
        <p:spPr>
          <a:xfrm>
            <a:off x="7571232" y="1783080"/>
            <a:ext cx="100584" cy="100584"/>
          </a:xfrm>
          <a:prstGeom prst="ellipse">
            <a:avLst/>
          </a:prstGeom>
          <a:solidFill>
            <a:srgbClr val="C9BFA9"/>
          </a:solidFill>
          <a:ln/>
        </p:spPr>
      </p:sp>
      <p:sp>
        <p:nvSpPr>
          <p:cNvPr id="18" name="Text 16"/>
          <p:cNvSpPr txBox="1"/>
          <p:nvPr/>
        </p:nvSpPr>
        <p:spPr>
          <a:xfrm>
            <a:off x="7818120" y="1673352"/>
            <a:ext cx="3566160" cy="329184"/>
          </a:xfrm>
          <a:prstGeom prst="rect">
            <a:avLst/>
          </a:prstGeom>
          <a:noFill/>
          <a:ln/>
        </p:spPr>
        <p:txBody>
          <a:bodyPr wrap="square" lIns="0" tIns="0" rIns="0" bIns="0" rtlCol="0" anchor="ctr"/>
          <a:lstStyle/>
          <a:p>
            <a:pPr indent="0" marL="0">
              <a:buNone/>
            </a:pPr>
            <a:r>
              <a:rPr lang="en-US" sz="900" dirty="0">
                <a:solidFill>
                  <a:srgbClr val="7A7266"/>
                </a:solidFill>
                <a:latin typeface="Calibri" pitchFamily="34" charset="0"/>
                <a:ea typeface="Calibri" pitchFamily="34" charset="-122"/>
                <a:cs typeface="Calibri" pitchFamily="34" charset="-120"/>
              </a:rPr>
              <a:t>people · onboarding</a:t>
            </a:r>
            <a:endParaRPr lang="en-US" sz="900" dirty="0"/>
          </a:p>
        </p:txBody>
      </p:sp>
      <p:sp>
        <p:nvSpPr>
          <p:cNvPr id="19" name="Shape 17"/>
          <p:cNvSpPr/>
          <p:nvPr/>
        </p:nvSpPr>
        <p:spPr>
          <a:xfrm>
            <a:off x="7040880" y="2029968"/>
            <a:ext cx="4480560" cy="0"/>
          </a:xfrm>
          <a:prstGeom prst="line">
            <a:avLst/>
          </a:prstGeom>
          <a:noFill/>
          <a:ln w="12700">
            <a:solidFill>
              <a:srgbClr val="E4DCC9"/>
            </a:solidFill>
            <a:prstDash val="solid"/>
          </a:ln>
        </p:spPr>
      </p:sp>
      <p:sp>
        <p:nvSpPr>
          <p:cNvPr id="20" name="Shape 18"/>
          <p:cNvSpPr/>
          <p:nvPr/>
        </p:nvSpPr>
        <p:spPr>
          <a:xfrm>
            <a:off x="7296912" y="2212848"/>
            <a:ext cx="3968496" cy="566928"/>
          </a:xfrm>
          <a:prstGeom prst="roundRect">
            <a:avLst>
              <a:gd name="adj" fmla="val 8065"/>
            </a:avLst>
          </a:prstGeom>
          <a:solidFill>
            <a:srgbClr val="FBFAF6"/>
          </a:solidFill>
          <a:ln w="12700">
            <a:solidFill>
              <a:srgbClr val="E4DCC9"/>
            </a:solidFill>
            <a:prstDash val="solid"/>
          </a:ln>
        </p:spPr>
      </p:sp>
      <p:sp>
        <p:nvSpPr>
          <p:cNvPr id="21" name="Shape 19"/>
          <p:cNvSpPr/>
          <p:nvPr/>
        </p:nvSpPr>
        <p:spPr>
          <a:xfrm>
            <a:off x="7443216" y="2446020"/>
            <a:ext cx="100584" cy="100584"/>
          </a:xfrm>
          <a:prstGeom prst="ellipse">
            <a:avLst/>
          </a:prstGeom>
          <a:solidFill>
            <a:srgbClr val="5B7C46"/>
          </a:solidFill>
          <a:ln/>
        </p:spPr>
      </p:sp>
      <p:sp>
        <p:nvSpPr>
          <p:cNvPr id="22" name="Shape 20"/>
          <p:cNvSpPr/>
          <p:nvPr/>
        </p:nvSpPr>
        <p:spPr>
          <a:xfrm>
            <a:off x="7680960" y="2455164"/>
            <a:ext cx="1825508" cy="82296"/>
          </a:xfrm>
          <a:prstGeom prst="roundRect">
            <a:avLst>
              <a:gd name="adj" fmla="val 50000"/>
            </a:avLst>
          </a:prstGeom>
          <a:solidFill>
            <a:srgbClr val="E4DCC9"/>
          </a:solidFill>
          <a:ln/>
        </p:spPr>
      </p:sp>
      <p:sp>
        <p:nvSpPr>
          <p:cNvPr id="23" name="Shape 21"/>
          <p:cNvSpPr/>
          <p:nvPr/>
        </p:nvSpPr>
        <p:spPr>
          <a:xfrm>
            <a:off x="7680960" y="2455164"/>
            <a:ext cx="1314366" cy="82296"/>
          </a:xfrm>
          <a:prstGeom prst="roundRect">
            <a:avLst>
              <a:gd name="adj" fmla="val 50000"/>
            </a:avLst>
          </a:prstGeom>
          <a:solidFill>
            <a:srgbClr val="9C7C2E"/>
          </a:solidFill>
          <a:ln/>
        </p:spPr>
      </p:sp>
      <p:sp>
        <p:nvSpPr>
          <p:cNvPr id="24" name="Shape 22"/>
          <p:cNvSpPr/>
          <p:nvPr/>
        </p:nvSpPr>
        <p:spPr>
          <a:xfrm>
            <a:off x="10268712" y="2350008"/>
            <a:ext cx="868680" cy="292608"/>
          </a:xfrm>
          <a:prstGeom prst="roundRect">
            <a:avLst>
              <a:gd name="adj" fmla="val 50000"/>
            </a:avLst>
          </a:prstGeom>
          <a:solidFill>
            <a:srgbClr val="FFFFFF"/>
          </a:solidFill>
          <a:ln w="12700">
            <a:solidFill>
              <a:srgbClr val="E4DCC9"/>
            </a:solidFill>
            <a:prstDash val="solid"/>
          </a:ln>
        </p:spPr>
      </p:sp>
      <p:sp>
        <p:nvSpPr>
          <p:cNvPr id="25" name="Text 23"/>
          <p:cNvSpPr txBox="1"/>
          <p:nvPr/>
        </p:nvSpPr>
        <p:spPr>
          <a:xfrm>
            <a:off x="10268712" y="2340864"/>
            <a:ext cx="868680" cy="310896"/>
          </a:xfrm>
          <a:prstGeom prst="rect">
            <a:avLst/>
          </a:prstGeom>
          <a:noFill/>
          <a:ln/>
        </p:spPr>
        <p:txBody>
          <a:bodyPr wrap="square" lIns="0" tIns="0" rIns="0" bIns="0" rtlCol="0" anchor="ctr"/>
          <a:lstStyle/>
          <a:p>
            <a:pPr algn="ctr" indent="0" marL="0">
              <a:buNone/>
            </a:pPr>
            <a:r>
              <a:rPr lang="en-US" sz="850" dirty="0">
                <a:solidFill>
                  <a:srgbClr val="7A7266"/>
                </a:solidFill>
                <a:latin typeface="Calibri" pitchFamily="34" charset="0"/>
                <a:ea typeface="Calibri" pitchFamily="34" charset="-122"/>
                <a:cs typeface="Calibri" pitchFamily="34" charset="-120"/>
              </a:rPr>
              <a:t>day 2/10</a:t>
            </a:r>
            <a:endParaRPr lang="en-US" sz="850" dirty="0"/>
          </a:p>
        </p:txBody>
      </p:sp>
      <p:sp>
        <p:nvSpPr>
          <p:cNvPr id="26" name="Shape 24"/>
          <p:cNvSpPr/>
          <p:nvPr/>
        </p:nvSpPr>
        <p:spPr>
          <a:xfrm>
            <a:off x="7296912" y="2907792"/>
            <a:ext cx="3968496" cy="566928"/>
          </a:xfrm>
          <a:prstGeom prst="roundRect">
            <a:avLst>
              <a:gd name="adj" fmla="val 8065"/>
            </a:avLst>
          </a:prstGeom>
          <a:solidFill>
            <a:srgbClr val="FBFAF6"/>
          </a:solidFill>
          <a:ln w="12700">
            <a:solidFill>
              <a:srgbClr val="E4DCC9"/>
            </a:solidFill>
            <a:prstDash val="solid"/>
          </a:ln>
        </p:spPr>
      </p:sp>
      <p:sp>
        <p:nvSpPr>
          <p:cNvPr id="27" name="Shape 25"/>
          <p:cNvSpPr/>
          <p:nvPr/>
        </p:nvSpPr>
        <p:spPr>
          <a:xfrm>
            <a:off x="7443216" y="3140964"/>
            <a:ext cx="100584" cy="100584"/>
          </a:xfrm>
          <a:prstGeom prst="ellipse">
            <a:avLst/>
          </a:prstGeom>
          <a:solidFill>
            <a:srgbClr val="B0842F"/>
          </a:solidFill>
          <a:ln/>
        </p:spPr>
      </p:sp>
      <p:sp>
        <p:nvSpPr>
          <p:cNvPr id="28" name="Shape 26"/>
          <p:cNvSpPr/>
          <p:nvPr/>
        </p:nvSpPr>
        <p:spPr>
          <a:xfrm>
            <a:off x="7680960" y="3150108"/>
            <a:ext cx="1825508" cy="82296"/>
          </a:xfrm>
          <a:prstGeom prst="roundRect">
            <a:avLst>
              <a:gd name="adj" fmla="val 50000"/>
            </a:avLst>
          </a:prstGeom>
          <a:solidFill>
            <a:srgbClr val="E4DCC9"/>
          </a:solidFill>
          <a:ln/>
        </p:spPr>
      </p:sp>
      <p:sp>
        <p:nvSpPr>
          <p:cNvPr id="29" name="Shape 27"/>
          <p:cNvSpPr/>
          <p:nvPr/>
        </p:nvSpPr>
        <p:spPr>
          <a:xfrm>
            <a:off x="7680960" y="3150108"/>
            <a:ext cx="839734" cy="82296"/>
          </a:xfrm>
          <a:prstGeom prst="roundRect">
            <a:avLst>
              <a:gd name="adj" fmla="val 50000"/>
            </a:avLst>
          </a:prstGeom>
          <a:solidFill>
            <a:srgbClr val="9C7C2E"/>
          </a:solidFill>
          <a:ln/>
        </p:spPr>
      </p:sp>
      <p:sp>
        <p:nvSpPr>
          <p:cNvPr id="30" name="Shape 28"/>
          <p:cNvSpPr/>
          <p:nvPr/>
        </p:nvSpPr>
        <p:spPr>
          <a:xfrm>
            <a:off x="10337292" y="3044952"/>
            <a:ext cx="800100" cy="292608"/>
          </a:xfrm>
          <a:prstGeom prst="roundRect">
            <a:avLst>
              <a:gd name="adj" fmla="val 50000"/>
            </a:avLst>
          </a:prstGeom>
          <a:solidFill>
            <a:srgbClr val="FFFFFF"/>
          </a:solidFill>
          <a:ln w="12700">
            <a:solidFill>
              <a:srgbClr val="E4DCC9"/>
            </a:solidFill>
            <a:prstDash val="solid"/>
          </a:ln>
        </p:spPr>
      </p:sp>
      <p:sp>
        <p:nvSpPr>
          <p:cNvPr id="31" name="Text 29"/>
          <p:cNvSpPr txBox="1"/>
          <p:nvPr/>
        </p:nvSpPr>
        <p:spPr>
          <a:xfrm>
            <a:off x="10337292" y="3035808"/>
            <a:ext cx="800100" cy="310896"/>
          </a:xfrm>
          <a:prstGeom prst="rect">
            <a:avLst/>
          </a:prstGeom>
          <a:noFill/>
          <a:ln/>
        </p:spPr>
        <p:txBody>
          <a:bodyPr wrap="square" lIns="0" tIns="0" rIns="0" bIns="0" rtlCol="0" anchor="ctr"/>
          <a:lstStyle/>
          <a:p>
            <a:pPr algn="ctr" indent="0" marL="0">
              <a:buNone/>
            </a:pPr>
            <a:r>
              <a:rPr lang="en-US" sz="850" dirty="0">
                <a:solidFill>
                  <a:srgbClr val="7A7266"/>
                </a:solidFill>
                <a:latin typeface="Calibri" pitchFamily="34" charset="0"/>
                <a:ea typeface="Calibri" pitchFamily="34" charset="-122"/>
                <a:cs typeface="Calibri" pitchFamily="34" charset="-120"/>
              </a:rPr>
              <a:t>blocked</a:t>
            </a:r>
            <a:endParaRPr lang="en-US" sz="850" dirty="0"/>
          </a:p>
        </p:txBody>
      </p:sp>
      <p:sp>
        <p:nvSpPr>
          <p:cNvPr id="32" name="Shape 30"/>
          <p:cNvSpPr/>
          <p:nvPr/>
        </p:nvSpPr>
        <p:spPr>
          <a:xfrm>
            <a:off x="7296912" y="3602736"/>
            <a:ext cx="3968496" cy="566928"/>
          </a:xfrm>
          <a:prstGeom prst="roundRect">
            <a:avLst>
              <a:gd name="adj" fmla="val 8065"/>
            </a:avLst>
          </a:prstGeom>
          <a:solidFill>
            <a:srgbClr val="FBFAF6"/>
          </a:solidFill>
          <a:ln w="12700">
            <a:solidFill>
              <a:srgbClr val="E4DCC9"/>
            </a:solidFill>
            <a:prstDash val="solid"/>
          </a:ln>
        </p:spPr>
      </p:sp>
      <p:sp>
        <p:nvSpPr>
          <p:cNvPr id="33" name="Shape 31"/>
          <p:cNvSpPr/>
          <p:nvPr/>
        </p:nvSpPr>
        <p:spPr>
          <a:xfrm>
            <a:off x="7443216" y="3835908"/>
            <a:ext cx="100584" cy="100584"/>
          </a:xfrm>
          <a:prstGeom prst="ellipse">
            <a:avLst/>
          </a:prstGeom>
          <a:solidFill>
            <a:srgbClr val="5B7C46"/>
          </a:solidFill>
          <a:ln/>
        </p:spPr>
      </p:sp>
      <p:sp>
        <p:nvSpPr>
          <p:cNvPr id="34" name="Shape 32"/>
          <p:cNvSpPr/>
          <p:nvPr/>
        </p:nvSpPr>
        <p:spPr>
          <a:xfrm>
            <a:off x="7680960" y="3845052"/>
            <a:ext cx="1825508" cy="82296"/>
          </a:xfrm>
          <a:prstGeom prst="roundRect">
            <a:avLst>
              <a:gd name="adj" fmla="val 50000"/>
            </a:avLst>
          </a:prstGeom>
          <a:solidFill>
            <a:srgbClr val="E4DCC9"/>
          </a:solidFill>
          <a:ln/>
        </p:spPr>
      </p:sp>
      <p:sp>
        <p:nvSpPr>
          <p:cNvPr id="35" name="Shape 33"/>
          <p:cNvSpPr/>
          <p:nvPr/>
        </p:nvSpPr>
        <p:spPr>
          <a:xfrm>
            <a:off x="7680960" y="3845052"/>
            <a:ext cx="1606447" cy="82296"/>
          </a:xfrm>
          <a:prstGeom prst="roundRect">
            <a:avLst>
              <a:gd name="adj" fmla="val 50000"/>
            </a:avLst>
          </a:prstGeom>
          <a:solidFill>
            <a:srgbClr val="9C7C2E"/>
          </a:solidFill>
          <a:ln/>
        </p:spPr>
      </p:sp>
      <p:sp>
        <p:nvSpPr>
          <p:cNvPr id="36" name="Shape 34"/>
          <p:cNvSpPr/>
          <p:nvPr/>
        </p:nvSpPr>
        <p:spPr>
          <a:xfrm>
            <a:off x="10405872" y="3739896"/>
            <a:ext cx="731520" cy="292608"/>
          </a:xfrm>
          <a:prstGeom prst="roundRect">
            <a:avLst>
              <a:gd name="adj" fmla="val 50000"/>
            </a:avLst>
          </a:prstGeom>
          <a:solidFill>
            <a:srgbClr val="FFFFFF"/>
          </a:solidFill>
          <a:ln w="12700">
            <a:solidFill>
              <a:srgbClr val="E4DCC9"/>
            </a:solidFill>
            <a:prstDash val="solid"/>
          </a:ln>
        </p:spPr>
      </p:sp>
      <p:sp>
        <p:nvSpPr>
          <p:cNvPr id="37" name="Text 35"/>
          <p:cNvSpPr txBox="1"/>
          <p:nvPr/>
        </p:nvSpPr>
        <p:spPr>
          <a:xfrm>
            <a:off x="10405872" y="3730752"/>
            <a:ext cx="731520" cy="310896"/>
          </a:xfrm>
          <a:prstGeom prst="rect">
            <a:avLst/>
          </a:prstGeom>
          <a:noFill/>
          <a:ln/>
        </p:spPr>
        <p:txBody>
          <a:bodyPr wrap="square" lIns="0" tIns="0" rIns="0" bIns="0" rtlCol="0" anchor="ctr"/>
          <a:lstStyle/>
          <a:p>
            <a:pPr algn="ctr" indent="0" marL="0">
              <a:buNone/>
            </a:pPr>
            <a:r>
              <a:rPr lang="en-US" sz="850" dirty="0">
                <a:solidFill>
                  <a:srgbClr val="7A7266"/>
                </a:solidFill>
                <a:latin typeface="Calibri" pitchFamily="34" charset="0"/>
                <a:ea typeface="Calibri" pitchFamily="34" charset="-122"/>
                <a:cs typeface="Calibri" pitchFamily="34" charset="-120"/>
              </a:rPr>
              <a:t>queued</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822960" y="777240"/>
            <a:ext cx="7315200" cy="274320"/>
          </a:xfrm>
          <a:prstGeom prst="rect">
            <a:avLst/>
          </a:prstGeom>
          <a:noFill/>
          <a:ln/>
        </p:spPr>
        <p:txBody>
          <a:bodyPr wrap="square" lIns="0" tIns="0" rIns="0" bIns="0" rtlCol="0" anchor="ctr"/>
          <a:lstStyle/>
          <a:p>
            <a:pPr indent="0" marL="0">
              <a:buNone/>
            </a:pPr>
            <a:r>
              <a:rPr lang="en-US" sz="1100" b="1" spc="300" kern="0" dirty="0">
                <a:solidFill>
                  <a:srgbClr val="9C7C2E"/>
                </a:solidFill>
                <a:latin typeface="Calibri" pitchFamily="34" charset="0"/>
                <a:ea typeface="Calibri" pitchFamily="34" charset="-122"/>
                <a:cs typeface="Calibri" pitchFamily="34" charset="-120"/>
              </a:rPr>
              <a:t>STAFF PORTAL · KNOWLEDGE BASE</a:t>
            </a:r>
            <a:endParaRPr lang="en-US" sz="1100" dirty="0"/>
          </a:p>
        </p:txBody>
      </p:sp>
      <p:sp>
        <p:nvSpPr>
          <p:cNvPr id="3" name="Shape 1"/>
          <p:cNvSpPr/>
          <p:nvPr/>
        </p:nvSpPr>
        <p:spPr>
          <a:xfrm>
            <a:off x="10314432" y="731520"/>
            <a:ext cx="1051560" cy="310896"/>
          </a:xfrm>
          <a:prstGeom prst="roundRect">
            <a:avLst>
              <a:gd name="adj" fmla="val 50000"/>
            </a:avLst>
          </a:prstGeom>
          <a:solidFill>
            <a:srgbClr val="F3E7C8"/>
          </a:solidFill>
          <a:ln w="9525">
            <a:solidFill>
              <a:srgbClr val="9C7C2E"/>
            </a:solidFill>
            <a:prstDash val="solid"/>
          </a:ln>
        </p:spPr>
      </p:sp>
      <p:sp>
        <p:nvSpPr>
          <p:cNvPr id="4" name="Text 2"/>
          <p:cNvSpPr txBox="1"/>
          <p:nvPr/>
        </p:nvSpPr>
        <p:spPr>
          <a:xfrm>
            <a:off x="10314432" y="722376"/>
            <a:ext cx="1051560" cy="320040"/>
          </a:xfrm>
          <a:prstGeom prst="rect">
            <a:avLst/>
          </a:prstGeom>
          <a:noFill/>
          <a:ln/>
        </p:spPr>
        <p:txBody>
          <a:bodyPr wrap="square" lIns="0" tIns="0" rIns="0" bIns="0" rtlCol="0" anchor="ctr"/>
          <a:lstStyle/>
          <a:p>
            <a:pPr algn="ctr" indent="0" marL="0">
              <a:buNone/>
            </a:pPr>
            <a:r>
              <a:rPr lang="en-US" sz="850" b="1" spc="100" kern="0" dirty="0">
                <a:solidFill>
                  <a:srgbClr val="7A5A12"/>
                </a:solidFill>
                <a:latin typeface="Calibri" pitchFamily="34" charset="0"/>
                <a:ea typeface="Calibri" pitchFamily="34" charset="-122"/>
                <a:cs typeface="Calibri" pitchFamily="34" charset="-120"/>
              </a:rPr>
              <a:t>PHASE 2</a:t>
            </a:r>
            <a:endParaRPr lang="en-US" sz="850" dirty="0"/>
          </a:p>
        </p:txBody>
      </p:sp>
      <p:sp>
        <p:nvSpPr>
          <p:cNvPr id="5" name="Text 3"/>
          <p:cNvSpPr txBox="1"/>
          <p:nvPr/>
        </p:nvSpPr>
        <p:spPr>
          <a:xfrm>
            <a:off x="822960" y="1097280"/>
            <a:ext cx="5760720" cy="1371600"/>
          </a:xfrm>
          <a:prstGeom prst="rect">
            <a:avLst/>
          </a:prstGeom>
          <a:noFill/>
          <a:ln/>
        </p:spPr>
        <p:txBody>
          <a:bodyPr wrap="square" lIns="0" tIns="0" rIns="0" bIns="0" rtlCol="0" anchor="t"/>
          <a:lstStyle/>
          <a:p>
            <a:pPr indent="0" marL="0">
              <a:lnSpc>
                <a:spcPct val="98000"/>
              </a:lnSpc>
              <a:buNone/>
            </a:pPr>
            <a:r>
              <a:rPr lang="en-US" sz="2800" b="1" dirty="0">
                <a:solidFill>
                  <a:srgbClr val="1D1A15"/>
                </a:solidFill>
                <a:latin typeface="Georgia" pitchFamily="34" charset="0"/>
                <a:ea typeface="Georgia" pitchFamily="34" charset="-122"/>
                <a:cs typeface="Georgia" pitchFamily="34" charset="-120"/>
              </a:rPr>
              <a:t>The Rooted Knowledge Base Wiki</a:t>
            </a:r>
            <a:endParaRPr lang="en-US" sz="2800" dirty="0"/>
          </a:p>
        </p:txBody>
      </p:sp>
      <p:sp>
        <p:nvSpPr>
          <p:cNvPr id="6" name="Text 4"/>
          <p:cNvSpPr txBox="1"/>
          <p:nvPr/>
        </p:nvSpPr>
        <p:spPr>
          <a:xfrm>
            <a:off x="822960" y="2286000"/>
            <a:ext cx="5760720" cy="1371600"/>
          </a:xfrm>
          <a:prstGeom prst="rect">
            <a:avLst/>
          </a:prstGeom>
          <a:noFill/>
          <a:ln/>
        </p:spPr>
        <p:txBody>
          <a:bodyPr wrap="square" lIns="0" tIns="0" rIns="0" bIns="0" rtlCol="0" anchor="t"/>
          <a:lstStyle/>
          <a:p>
            <a:pPr indent="0" marL="0">
              <a:lnSpc>
                <a:spcPct val="115000"/>
              </a:lnSpc>
              <a:buNone/>
            </a:pPr>
            <a:r>
              <a:rPr lang="en-US" sz="1500" dirty="0">
                <a:solidFill>
                  <a:srgbClr val="7A7266"/>
                </a:solidFill>
                <a:latin typeface="Calibri" pitchFamily="34" charset="0"/>
                <a:ea typeface="Calibri" pitchFamily="34" charset="-122"/>
                <a:cs typeface="Calibri" pitchFamily="34" charset="-120"/>
              </a:rPr>
              <a:t>One place to capture the company’s tribal knowledge: the how-tos, answers, and hard-won lessons that usually live in people’s heads. Any employee can add an article, search everything, and find the answer fast.</a:t>
            </a:r>
            <a:endParaRPr lang="en-US" sz="1500" dirty="0"/>
          </a:p>
        </p:txBody>
      </p:sp>
      <p:sp>
        <p:nvSpPr>
          <p:cNvPr id="7" name="Text 5"/>
          <p:cNvSpPr txBox="1"/>
          <p:nvPr/>
        </p:nvSpPr>
        <p:spPr>
          <a:xfrm>
            <a:off x="822960" y="3657600"/>
            <a:ext cx="5760720" cy="1426464"/>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1D1A15"/>
                </a:solidFill>
                <a:latin typeface="Calibri" pitchFamily="34" charset="0"/>
                <a:ea typeface="Calibri" pitchFamily="34" charset="-122"/>
                <a:cs typeface="Calibri" pitchFamily="34" charset="-120"/>
              </a:rPr>
              <a:t>Anyone can add or edit an article</a:t>
            </a:r>
            <a:endParaRPr lang="en-US" sz="1350" dirty="0"/>
          </a:p>
          <a:p>
            <a:pPr marL="177800" indent="-177800">
              <a:spcAft>
                <a:spcPts val="800"/>
              </a:spcAft>
              <a:buSzPct val="100000"/>
              <a:buChar char="•"/>
            </a:pPr>
            <a:r>
              <a:rPr lang="en-US" sz="1350" dirty="0">
                <a:solidFill>
                  <a:srgbClr val="1D1A15"/>
                </a:solidFill>
                <a:latin typeface="Calibri" pitchFamily="34" charset="0"/>
                <a:ea typeface="Calibri" pitchFamily="34" charset="-122"/>
                <a:cs typeface="Calibri" pitchFamily="34" charset="-120"/>
              </a:rPr>
              <a:t>Search across every how-to and answer</a:t>
            </a:r>
            <a:endParaRPr lang="en-US" sz="1350" dirty="0"/>
          </a:p>
          <a:p>
            <a:pPr marL="177800" indent="-177800">
              <a:spcAft>
                <a:spcPts val="800"/>
              </a:spcAft>
              <a:buSzPct val="100000"/>
              <a:buChar char="•"/>
            </a:pPr>
            <a:r>
              <a:rPr lang="en-US" sz="1350" dirty="0">
                <a:solidFill>
                  <a:srgbClr val="1D1A15"/>
                </a:solidFill>
                <a:latin typeface="Calibri" pitchFamily="34" charset="0"/>
                <a:ea typeface="Calibri" pitchFamily="34" charset="-122"/>
                <a:cs typeface="Calibri" pitchFamily="34" charset="-120"/>
              </a:rPr>
              <a:t>Seeded with your existing team Q&amp;A and FAQ content</a:t>
            </a:r>
            <a:endParaRPr lang="en-US" sz="1350" dirty="0"/>
          </a:p>
          <a:p>
            <a:pPr marL="177800" indent="-177800">
              <a:spcAft>
                <a:spcPts val="800"/>
              </a:spcAft>
              <a:buSzPct val="100000"/>
              <a:buChar char="•"/>
            </a:pPr>
            <a:r>
              <a:rPr lang="en-US" sz="1350" dirty="0">
                <a:solidFill>
                  <a:srgbClr val="1D1A15"/>
                </a:solidFill>
                <a:latin typeface="Calibri" pitchFamily="34" charset="0"/>
                <a:ea typeface="Calibri" pitchFamily="34" charset="-122"/>
                <a:cs typeface="Calibri" pitchFamily="34" charset="-120"/>
              </a:rPr>
              <a:t>Turns tribal knowledge into a shared, searchable library</a:t>
            </a:r>
            <a:endParaRPr lang="en-US" sz="1350" dirty="0"/>
          </a:p>
        </p:txBody>
      </p:sp>
      <p:sp>
        <p:nvSpPr>
          <p:cNvPr id="8" name="Shape 6"/>
          <p:cNvSpPr/>
          <p:nvPr/>
        </p:nvSpPr>
        <p:spPr>
          <a:xfrm>
            <a:off x="822960" y="5266944"/>
            <a:ext cx="1883664" cy="384048"/>
          </a:xfrm>
          <a:prstGeom prst="roundRect">
            <a:avLst>
              <a:gd name="adj" fmla="val 50000"/>
            </a:avLst>
          </a:prstGeom>
          <a:solidFill>
            <a:srgbClr val="FFFFFF"/>
          </a:solidFill>
          <a:ln w="12700">
            <a:solidFill>
              <a:srgbClr val="E4DCC9"/>
            </a:solidFill>
            <a:prstDash val="solid"/>
          </a:ln>
        </p:spPr>
      </p:sp>
      <p:sp>
        <p:nvSpPr>
          <p:cNvPr id="9" name="Text 7"/>
          <p:cNvSpPr txBox="1"/>
          <p:nvPr/>
        </p:nvSpPr>
        <p:spPr>
          <a:xfrm>
            <a:off x="969264" y="5248656"/>
            <a:ext cx="1609344" cy="420624"/>
          </a:xfrm>
          <a:prstGeom prst="rect">
            <a:avLst/>
          </a:prstGeom>
          <a:noFill/>
          <a:ln/>
        </p:spPr>
        <p:txBody>
          <a:bodyPr wrap="square" lIns="0" tIns="0" rIns="0" bIns="0" rtlCol="0" anchor="ctr"/>
          <a:lstStyle/>
          <a:p>
            <a:pPr indent="0" marL="0">
              <a:buNone/>
            </a:pPr>
            <a:r>
              <a:rPr lang="en-US" sz="1050" dirty="0">
                <a:solidFill>
                  <a:srgbClr val="1D1A15"/>
                </a:solidFill>
                <a:latin typeface="Calibri" pitchFamily="34" charset="0"/>
                <a:ea typeface="Calibri" pitchFamily="34" charset="-122"/>
                <a:cs typeface="Calibri" pitchFamily="34" charset="-120"/>
              </a:rPr>
              <a:t>Everyone contributes</a:t>
            </a:r>
            <a:endParaRPr lang="en-US" sz="1050" dirty="0"/>
          </a:p>
        </p:txBody>
      </p:sp>
      <p:sp>
        <p:nvSpPr>
          <p:cNvPr id="10" name="Shape 8"/>
          <p:cNvSpPr/>
          <p:nvPr/>
        </p:nvSpPr>
        <p:spPr>
          <a:xfrm>
            <a:off x="2871216" y="5266944"/>
            <a:ext cx="1097280" cy="384048"/>
          </a:xfrm>
          <a:prstGeom prst="roundRect">
            <a:avLst>
              <a:gd name="adj" fmla="val 50000"/>
            </a:avLst>
          </a:prstGeom>
          <a:solidFill>
            <a:srgbClr val="FFFFFF"/>
          </a:solidFill>
          <a:ln w="12700">
            <a:solidFill>
              <a:srgbClr val="E4DCC9"/>
            </a:solidFill>
            <a:prstDash val="solid"/>
          </a:ln>
        </p:spPr>
      </p:sp>
      <p:sp>
        <p:nvSpPr>
          <p:cNvPr id="11" name="Shape 9"/>
          <p:cNvSpPr/>
          <p:nvPr/>
        </p:nvSpPr>
        <p:spPr>
          <a:xfrm>
            <a:off x="3017520" y="5408676"/>
            <a:ext cx="100584" cy="100584"/>
          </a:xfrm>
          <a:prstGeom prst="ellipse">
            <a:avLst/>
          </a:prstGeom>
          <a:solidFill>
            <a:srgbClr val="B0842F"/>
          </a:solidFill>
          <a:ln/>
        </p:spPr>
      </p:sp>
      <p:sp>
        <p:nvSpPr>
          <p:cNvPr id="12" name="Text 10"/>
          <p:cNvSpPr txBox="1"/>
          <p:nvPr/>
        </p:nvSpPr>
        <p:spPr>
          <a:xfrm>
            <a:off x="3182112" y="5248656"/>
            <a:ext cx="822960" cy="420624"/>
          </a:xfrm>
          <a:prstGeom prst="rect">
            <a:avLst/>
          </a:prstGeom>
          <a:noFill/>
          <a:ln/>
        </p:spPr>
        <p:txBody>
          <a:bodyPr wrap="square" lIns="0" tIns="0" rIns="0" bIns="0" rtlCol="0" anchor="ctr"/>
          <a:lstStyle/>
          <a:p>
            <a:pPr indent="0" marL="0">
              <a:buNone/>
            </a:pPr>
            <a:r>
              <a:rPr lang="en-US" sz="1050" dirty="0">
                <a:solidFill>
                  <a:srgbClr val="1D1A15"/>
                </a:solidFill>
                <a:latin typeface="Calibri" pitchFamily="34" charset="0"/>
                <a:ea typeface="Calibri" pitchFamily="34" charset="-122"/>
                <a:cs typeface="Calibri" pitchFamily="34" charset="-120"/>
              </a:rPr>
              <a:t>Planned</a:t>
            </a:r>
            <a:endParaRPr lang="en-US" sz="1050" dirty="0"/>
          </a:p>
        </p:txBody>
      </p:sp>
      <p:sp>
        <p:nvSpPr>
          <p:cNvPr id="13" name="Shape 11"/>
          <p:cNvSpPr/>
          <p:nvPr/>
        </p:nvSpPr>
        <p:spPr>
          <a:xfrm>
            <a:off x="7040880" y="1645920"/>
            <a:ext cx="4480560" cy="3566160"/>
          </a:xfrm>
          <a:prstGeom prst="roundRect">
            <a:avLst>
              <a:gd name="adj" fmla="val 3077"/>
            </a:avLst>
          </a:prstGeom>
          <a:solidFill>
            <a:srgbClr val="FFFFFF"/>
          </a:solidFill>
          <a:ln w="12700">
            <a:solidFill>
              <a:srgbClr val="E4DCC9"/>
            </a:solidFill>
            <a:prstDash val="solid"/>
          </a:ln>
          <a:effectLst>
            <a:outerShdw sx="100000" sy="100000" kx="0" ky="0" algn="bl" rotWithShape="0" blurRad="127000" dist="38100" dir="5400000">
              <a:srgbClr val="6B6252">
                <a:alpha val="35000"/>
              </a:srgbClr>
            </a:outerShdw>
          </a:effectLst>
        </p:spPr>
      </p:sp>
      <p:sp>
        <p:nvSpPr>
          <p:cNvPr id="14" name="Shape 12"/>
          <p:cNvSpPr/>
          <p:nvPr/>
        </p:nvSpPr>
        <p:spPr>
          <a:xfrm>
            <a:off x="7040880" y="1645920"/>
            <a:ext cx="4480560" cy="384048"/>
          </a:xfrm>
          <a:prstGeom prst="roundRect">
            <a:avLst>
              <a:gd name="adj" fmla="val 28571"/>
            </a:avLst>
          </a:prstGeom>
          <a:solidFill>
            <a:srgbClr val="FBFAF6"/>
          </a:solidFill>
          <a:ln/>
        </p:spPr>
      </p:sp>
      <p:sp>
        <p:nvSpPr>
          <p:cNvPr id="15" name="Shape 13"/>
          <p:cNvSpPr/>
          <p:nvPr/>
        </p:nvSpPr>
        <p:spPr>
          <a:xfrm>
            <a:off x="7040880" y="1901952"/>
            <a:ext cx="4480560" cy="128016"/>
          </a:xfrm>
          <a:prstGeom prst="rect">
            <a:avLst/>
          </a:prstGeom>
          <a:solidFill>
            <a:srgbClr val="FBFAF6"/>
          </a:solidFill>
          <a:ln/>
        </p:spPr>
      </p:sp>
      <p:sp>
        <p:nvSpPr>
          <p:cNvPr id="16" name="Shape 14"/>
          <p:cNvSpPr/>
          <p:nvPr/>
        </p:nvSpPr>
        <p:spPr>
          <a:xfrm>
            <a:off x="7205472" y="1783080"/>
            <a:ext cx="100584" cy="100584"/>
          </a:xfrm>
          <a:prstGeom prst="ellipse">
            <a:avLst/>
          </a:prstGeom>
          <a:solidFill>
            <a:srgbClr val="C9BFA9"/>
          </a:solidFill>
          <a:ln/>
        </p:spPr>
      </p:sp>
      <p:sp>
        <p:nvSpPr>
          <p:cNvPr id="17" name="Shape 15"/>
          <p:cNvSpPr/>
          <p:nvPr/>
        </p:nvSpPr>
        <p:spPr>
          <a:xfrm>
            <a:off x="7388352" y="1783080"/>
            <a:ext cx="100584" cy="100584"/>
          </a:xfrm>
          <a:prstGeom prst="ellipse">
            <a:avLst/>
          </a:prstGeom>
          <a:solidFill>
            <a:srgbClr val="C9BFA9"/>
          </a:solidFill>
          <a:ln/>
        </p:spPr>
      </p:sp>
      <p:sp>
        <p:nvSpPr>
          <p:cNvPr id="18" name="Shape 16"/>
          <p:cNvSpPr/>
          <p:nvPr/>
        </p:nvSpPr>
        <p:spPr>
          <a:xfrm>
            <a:off x="7571232" y="1783080"/>
            <a:ext cx="100584" cy="100584"/>
          </a:xfrm>
          <a:prstGeom prst="ellipse">
            <a:avLst/>
          </a:prstGeom>
          <a:solidFill>
            <a:srgbClr val="C9BFA9"/>
          </a:solidFill>
          <a:ln/>
        </p:spPr>
      </p:sp>
      <p:sp>
        <p:nvSpPr>
          <p:cNvPr id="19" name="Text 17"/>
          <p:cNvSpPr txBox="1"/>
          <p:nvPr/>
        </p:nvSpPr>
        <p:spPr>
          <a:xfrm>
            <a:off x="7818120" y="1673352"/>
            <a:ext cx="3566160" cy="329184"/>
          </a:xfrm>
          <a:prstGeom prst="rect">
            <a:avLst/>
          </a:prstGeom>
          <a:noFill/>
          <a:ln/>
        </p:spPr>
        <p:txBody>
          <a:bodyPr wrap="square" lIns="0" tIns="0" rIns="0" bIns="0" rtlCol="0" anchor="ctr"/>
          <a:lstStyle/>
          <a:p>
            <a:pPr indent="0" marL="0">
              <a:buNone/>
            </a:pPr>
            <a:r>
              <a:rPr lang="en-US" sz="900" dirty="0">
                <a:solidFill>
                  <a:srgbClr val="7A7266"/>
                </a:solidFill>
                <a:latin typeface="Calibri" pitchFamily="34" charset="0"/>
                <a:ea typeface="Calibri" pitchFamily="34" charset="-122"/>
                <a:cs typeface="Calibri" pitchFamily="34" charset="-120"/>
              </a:rPr>
              <a:t>Rooted Knowledge Base</a:t>
            </a:r>
            <a:endParaRPr lang="en-US" sz="900" dirty="0"/>
          </a:p>
        </p:txBody>
      </p:sp>
      <p:sp>
        <p:nvSpPr>
          <p:cNvPr id="20" name="Shape 18"/>
          <p:cNvSpPr/>
          <p:nvPr/>
        </p:nvSpPr>
        <p:spPr>
          <a:xfrm>
            <a:off x="7040880" y="2029968"/>
            <a:ext cx="4480560" cy="0"/>
          </a:xfrm>
          <a:prstGeom prst="line">
            <a:avLst/>
          </a:prstGeom>
          <a:noFill/>
          <a:ln w="12700">
            <a:solidFill>
              <a:srgbClr val="E4DCC9"/>
            </a:solidFill>
            <a:prstDash val="solid"/>
          </a:ln>
        </p:spPr>
      </p:sp>
      <p:sp>
        <p:nvSpPr>
          <p:cNvPr id="21" name="Shape 19"/>
          <p:cNvSpPr/>
          <p:nvPr/>
        </p:nvSpPr>
        <p:spPr>
          <a:xfrm>
            <a:off x="7296912" y="2212848"/>
            <a:ext cx="3968496" cy="365760"/>
          </a:xfrm>
          <a:prstGeom prst="roundRect">
            <a:avLst>
              <a:gd name="adj" fmla="val 50000"/>
            </a:avLst>
          </a:prstGeom>
          <a:solidFill>
            <a:srgbClr val="FBFAF6"/>
          </a:solidFill>
          <a:ln w="12700">
            <a:solidFill>
              <a:srgbClr val="E4DCC9"/>
            </a:solidFill>
            <a:prstDash val="solid"/>
          </a:ln>
        </p:spPr>
      </p:sp>
      <p:sp>
        <p:nvSpPr>
          <p:cNvPr id="22" name="Shape 20"/>
          <p:cNvSpPr/>
          <p:nvPr/>
        </p:nvSpPr>
        <p:spPr>
          <a:xfrm>
            <a:off x="7479792" y="2322576"/>
            <a:ext cx="137160" cy="137160"/>
          </a:xfrm>
          <a:prstGeom prst="ellipse">
            <a:avLst/>
          </a:prstGeom>
          <a:ln w="15875">
            <a:solidFill>
              <a:srgbClr val="7A7266"/>
            </a:solidFill>
            <a:prstDash val="solid"/>
          </a:ln>
        </p:spPr>
      </p:sp>
      <p:sp>
        <p:nvSpPr>
          <p:cNvPr id="23" name="Shape 21"/>
          <p:cNvSpPr/>
          <p:nvPr/>
        </p:nvSpPr>
        <p:spPr>
          <a:xfrm>
            <a:off x="7589520" y="2432304"/>
            <a:ext cx="54864" cy="54864"/>
          </a:xfrm>
          <a:prstGeom prst="line">
            <a:avLst/>
          </a:prstGeom>
          <a:noFill/>
          <a:ln w="15875">
            <a:solidFill>
              <a:srgbClr val="7A7266"/>
            </a:solidFill>
            <a:prstDash val="solid"/>
          </a:ln>
        </p:spPr>
      </p:sp>
      <p:sp>
        <p:nvSpPr>
          <p:cNvPr id="24" name="Text 22"/>
          <p:cNvSpPr txBox="1"/>
          <p:nvPr/>
        </p:nvSpPr>
        <p:spPr>
          <a:xfrm>
            <a:off x="7717536" y="2212848"/>
            <a:ext cx="3419856" cy="365760"/>
          </a:xfrm>
          <a:prstGeom prst="rect">
            <a:avLst/>
          </a:prstGeom>
          <a:noFill/>
          <a:ln/>
        </p:spPr>
        <p:txBody>
          <a:bodyPr wrap="square" lIns="0" tIns="0" rIns="0" bIns="0" rtlCol="0" anchor="ctr"/>
          <a:lstStyle/>
          <a:p>
            <a:pPr indent="0" marL="0">
              <a:buNone/>
            </a:pPr>
            <a:r>
              <a:rPr lang="en-US" sz="850" dirty="0">
                <a:solidFill>
                  <a:srgbClr val="7A7266"/>
                </a:solidFill>
                <a:latin typeface="Calibri" pitchFamily="34" charset="0"/>
                <a:ea typeface="Calibri" pitchFamily="34" charset="-122"/>
                <a:cs typeface="Calibri" pitchFamily="34" charset="-120"/>
              </a:rPr>
              <a:t>Search the knowledge base…</a:t>
            </a:r>
            <a:endParaRPr lang="en-US" sz="850" dirty="0"/>
          </a:p>
        </p:txBody>
      </p:sp>
      <p:sp>
        <p:nvSpPr>
          <p:cNvPr id="25" name="Shape 23"/>
          <p:cNvSpPr/>
          <p:nvPr/>
        </p:nvSpPr>
        <p:spPr>
          <a:xfrm>
            <a:off x="7296912" y="2688336"/>
            <a:ext cx="877824" cy="256032"/>
          </a:xfrm>
          <a:prstGeom prst="roundRect">
            <a:avLst>
              <a:gd name="adj" fmla="val 50000"/>
            </a:avLst>
          </a:prstGeom>
          <a:solidFill>
            <a:srgbClr val="FFFFFF"/>
          </a:solidFill>
          <a:ln w="12700">
            <a:solidFill>
              <a:srgbClr val="E4DCC9"/>
            </a:solidFill>
            <a:prstDash val="solid"/>
          </a:ln>
        </p:spPr>
      </p:sp>
      <p:sp>
        <p:nvSpPr>
          <p:cNvPr id="26" name="Text 24"/>
          <p:cNvSpPr txBox="1"/>
          <p:nvPr/>
        </p:nvSpPr>
        <p:spPr>
          <a:xfrm>
            <a:off x="7296912" y="2679192"/>
            <a:ext cx="877824" cy="265176"/>
          </a:xfrm>
          <a:prstGeom prst="rect">
            <a:avLst/>
          </a:prstGeom>
          <a:noFill/>
          <a:ln/>
        </p:spPr>
        <p:txBody>
          <a:bodyPr wrap="square" lIns="0" tIns="0" rIns="0" bIns="0" rtlCol="0" anchor="ctr"/>
          <a:lstStyle/>
          <a:p>
            <a:pPr algn="ctr" indent="0" marL="0">
              <a:buNone/>
            </a:pPr>
            <a:r>
              <a:rPr lang="en-US" sz="750" dirty="0">
                <a:solidFill>
                  <a:srgbClr val="1D1A15"/>
                </a:solidFill>
                <a:latin typeface="Calibri" pitchFamily="34" charset="0"/>
                <a:ea typeface="Calibri" pitchFamily="34" charset="-122"/>
                <a:cs typeface="Calibri" pitchFamily="34" charset="-120"/>
              </a:rPr>
              <a:t>Onboarding</a:t>
            </a:r>
            <a:endParaRPr lang="en-US" sz="750" dirty="0"/>
          </a:p>
        </p:txBody>
      </p:sp>
      <p:sp>
        <p:nvSpPr>
          <p:cNvPr id="27" name="Shape 25"/>
          <p:cNvSpPr/>
          <p:nvPr/>
        </p:nvSpPr>
        <p:spPr>
          <a:xfrm>
            <a:off x="8266176" y="2688336"/>
            <a:ext cx="594360" cy="256032"/>
          </a:xfrm>
          <a:prstGeom prst="roundRect">
            <a:avLst>
              <a:gd name="adj" fmla="val 50000"/>
            </a:avLst>
          </a:prstGeom>
          <a:solidFill>
            <a:srgbClr val="FFFFFF"/>
          </a:solidFill>
          <a:ln w="12700">
            <a:solidFill>
              <a:srgbClr val="E4DCC9"/>
            </a:solidFill>
            <a:prstDash val="solid"/>
          </a:ln>
        </p:spPr>
      </p:sp>
      <p:sp>
        <p:nvSpPr>
          <p:cNvPr id="28" name="Text 26"/>
          <p:cNvSpPr txBox="1"/>
          <p:nvPr/>
        </p:nvSpPr>
        <p:spPr>
          <a:xfrm>
            <a:off x="8266176" y="2679192"/>
            <a:ext cx="594360" cy="265176"/>
          </a:xfrm>
          <a:prstGeom prst="rect">
            <a:avLst/>
          </a:prstGeom>
          <a:noFill/>
          <a:ln/>
        </p:spPr>
        <p:txBody>
          <a:bodyPr wrap="square" lIns="0" tIns="0" rIns="0" bIns="0" rtlCol="0" anchor="ctr"/>
          <a:lstStyle/>
          <a:p>
            <a:pPr algn="ctr" indent="0" marL="0">
              <a:buNone/>
            </a:pPr>
            <a:r>
              <a:rPr lang="en-US" sz="750" dirty="0">
                <a:solidFill>
                  <a:srgbClr val="1D1A15"/>
                </a:solidFill>
                <a:latin typeface="Calibri" pitchFamily="34" charset="0"/>
                <a:ea typeface="Calibri" pitchFamily="34" charset="-122"/>
                <a:cs typeface="Calibri" pitchFamily="34" charset="-120"/>
              </a:rPr>
              <a:t>Sales</a:t>
            </a:r>
            <a:endParaRPr lang="en-US" sz="750" dirty="0"/>
          </a:p>
        </p:txBody>
      </p:sp>
      <p:sp>
        <p:nvSpPr>
          <p:cNvPr id="29" name="Shape 27"/>
          <p:cNvSpPr/>
          <p:nvPr/>
        </p:nvSpPr>
        <p:spPr>
          <a:xfrm>
            <a:off x="8951976" y="2688336"/>
            <a:ext cx="537667" cy="256032"/>
          </a:xfrm>
          <a:prstGeom prst="roundRect">
            <a:avLst>
              <a:gd name="adj" fmla="val 50000"/>
            </a:avLst>
          </a:prstGeom>
          <a:solidFill>
            <a:srgbClr val="FFFFFF"/>
          </a:solidFill>
          <a:ln w="12700">
            <a:solidFill>
              <a:srgbClr val="E4DCC9"/>
            </a:solidFill>
            <a:prstDash val="solid"/>
          </a:ln>
        </p:spPr>
      </p:sp>
      <p:sp>
        <p:nvSpPr>
          <p:cNvPr id="30" name="Text 28"/>
          <p:cNvSpPr txBox="1"/>
          <p:nvPr/>
        </p:nvSpPr>
        <p:spPr>
          <a:xfrm>
            <a:off x="8951976" y="2679192"/>
            <a:ext cx="537667" cy="265176"/>
          </a:xfrm>
          <a:prstGeom prst="rect">
            <a:avLst/>
          </a:prstGeom>
          <a:noFill/>
          <a:ln/>
        </p:spPr>
        <p:txBody>
          <a:bodyPr wrap="square" lIns="0" tIns="0" rIns="0" bIns="0" rtlCol="0" anchor="ctr"/>
          <a:lstStyle/>
          <a:p>
            <a:pPr algn="ctr" indent="0" marL="0">
              <a:buNone/>
            </a:pPr>
            <a:r>
              <a:rPr lang="en-US" sz="750" dirty="0">
                <a:solidFill>
                  <a:srgbClr val="1D1A15"/>
                </a:solidFill>
                <a:latin typeface="Calibri" pitchFamily="34" charset="0"/>
                <a:ea typeface="Calibri" pitchFamily="34" charset="-122"/>
                <a:cs typeface="Calibri" pitchFamily="34" charset="-120"/>
              </a:rPr>
              <a:t>Tech</a:t>
            </a:r>
            <a:endParaRPr lang="en-US" sz="750" dirty="0"/>
          </a:p>
        </p:txBody>
      </p:sp>
      <p:sp>
        <p:nvSpPr>
          <p:cNvPr id="31" name="Shape 29"/>
          <p:cNvSpPr/>
          <p:nvPr/>
        </p:nvSpPr>
        <p:spPr>
          <a:xfrm>
            <a:off x="9581083" y="2688336"/>
            <a:ext cx="877824" cy="256032"/>
          </a:xfrm>
          <a:prstGeom prst="roundRect">
            <a:avLst>
              <a:gd name="adj" fmla="val 50000"/>
            </a:avLst>
          </a:prstGeom>
          <a:solidFill>
            <a:srgbClr val="FFFFFF"/>
          </a:solidFill>
          <a:ln w="12700">
            <a:solidFill>
              <a:srgbClr val="E4DCC9"/>
            </a:solidFill>
            <a:prstDash val="solid"/>
          </a:ln>
        </p:spPr>
      </p:sp>
      <p:sp>
        <p:nvSpPr>
          <p:cNvPr id="32" name="Text 30"/>
          <p:cNvSpPr txBox="1"/>
          <p:nvPr/>
        </p:nvSpPr>
        <p:spPr>
          <a:xfrm>
            <a:off x="9581083" y="2679192"/>
            <a:ext cx="877824" cy="265176"/>
          </a:xfrm>
          <a:prstGeom prst="rect">
            <a:avLst/>
          </a:prstGeom>
          <a:noFill/>
          <a:ln/>
        </p:spPr>
        <p:txBody>
          <a:bodyPr wrap="square" lIns="0" tIns="0" rIns="0" bIns="0" rtlCol="0" anchor="ctr"/>
          <a:lstStyle/>
          <a:p>
            <a:pPr algn="ctr" indent="0" marL="0">
              <a:buNone/>
            </a:pPr>
            <a:r>
              <a:rPr lang="en-US" sz="750" dirty="0">
                <a:solidFill>
                  <a:srgbClr val="1D1A15"/>
                </a:solidFill>
                <a:latin typeface="Calibri" pitchFamily="34" charset="0"/>
                <a:ea typeface="Calibri" pitchFamily="34" charset="-122"/>
                <a:cs typeface="Calibri" pitchFamily="34" charset="-120"/>
              </a:rPr>
              <a:t>Curriculum</a:t>
            </a:r>
            <a:endParaRPr lang="en-US" sz="750" dirty="0"/>
          </a:p>
        </p:txBody>
      </p:sp>
      <p:sp>
        <p:nvSpPr>
          <p:cNvPr id="33" name="Shape 31"/>
          <p:cNvSpPr/>
          <p:nvPr/>
        </p:nvSpPr>
        <p:spPr>
          <a:xfrm>
            <a:off x="7296912" y="3108960"/>
            <a:ext cx="3968496" cy="402336"/>
          </a:xfrm>
          <a:prstGeom prst="roundRect">
            <a:avLst>
              <a:gd name="adj" fmla="val 11364"/>
            </a:avLst>
          </a:prstGeom>
          <a:solidFill>
            <a:srgbClr val="FBFAF6"/>
          </a:solidFill>
          <a:ln w="12700">
            <a:solidFill>
              <a:srgbClr val="E4DCC9"/>
            </a:solidFill>
            <a:prstDash val="solid"/>
          </a:ln>
        </p:spPr>
      </p:sp>
      <p:sp>
        <p:nvSpPr>
          <p:cNvPr id="34" name="Shape 32"/>
          <p:cNvSpPr/>
          <p:nvPr/>
        </p:nvSpPr>
        <p:spPr>
          <a:xfrm>
            <a:off x="7443216" y="3264408"/>
            <a:ext cx="91440" cy="91440"/>
          </a:xfrm>
          <a:prstGeom prst="ellipse">
            <a:avLst/>
          </a:prstGeom>
          <a:solidFill>
            <a:srgbClr val="9C7C2E"/>
          </a:solidFill>
          <a:ln/>
        </p:spPr>
      </p:sp>
      <p:sp>
        <p:nvSpPr>
          <p:cNvPr id="35" name="Text 33"/>
          <p:cNvSpPr txBox="1"/>
          <p:nvPr/>
        </p:nvSpPr>
        <p:spPr>
          <a:xfrm>
            <a:off x="7662672" y="3108960"/>
            <a:ext cx="2596896" cy="402336"/>
          </a:xfrm>
          <a:prstGeom prst="rect">
            <a:avLst/>
          </a:prstGeom>
          <a:noFill/>
          <a:ln/>
        </p:spPr>
        <p:txBody>
          <a:bodyPr wrap="square" lIns="0" tIns="0" rIns="0" bIns="0" rtlCol="0" anchor="ctr"/>
          <a:lstStyle/>
          <a:p>
            <a:pPr indent="0" marL="0">
              <a:buNone/>
            </a:pPr>
            <a:r>
              <a:rPr lang="en-US" sz="850" dirty="0">
                <a:solidFill>
                  <a:srgbClr val="1D1A15"/>
                </a:solidFill>
                <a:latin typeface="Calibri" pitchFamily="34" charset="0"/>
                <a:ea typeface="Calibri" pitchFamily="34" charset="-122"/>
                <a:cs typeface="Calibri" pitchFamily="34" charset="-120"/>
              </a:rPr>
              <a:t>Reset a student login</a:t>
            </a:r>
            <a:endParaRPr lang="en-US" sz="850" dirty="0"/>
          </a:p>
        </p:txBody>
      </p:sp>
      <p:sp>
        <p:nvSpPr>
          <p:cNvPr id="36" name="Shape 34"/>
          <p:cNvSpPr/>
          <p:nvPr/>
        </p:nvSpPr>
        <p:spPr>
          <a:xfrm>
            <a:off x="10356494" y="3191256"/>
            <a:ext cx="780898" cy="237744"/>
          </a:xfrm>
          <a:prstGeom prst="roundRect">
            <a:avLst>
              <a:gd name="adj" fmla="val 50000"/>
            </a:avLst>
          </a:prstGeom>
          <a:solidFill>
            <a:srgbClr val="FFFFFF"/>
          </a:solidFill>
          <a:ln w="12700">
            <a:solidFill>
              <a:srgbClr val="E4DCC9"/>
            </a:solidFill>
            <a:prstDash val="solid"/>
          </a:ln>
        </p:spPr>
      </p:sp>
      <p:sp>
        <p:nvSpPr>
          <p:cNvPr id="37" name="Text 35"/>
          <p:cNvSpPr txBox="1"/>
          <p:nvPr/>
        </p:nvSpPr>
        <p:spPr>
          <a:xfrm>
            <a:off x="10356494" y="3182112"/>
            <a:ext cx="780898" cy="246888"/>
          </a:xfrm>
          <a:prstGeom prst="rect">
            <a:avLst/>
          </a:prstGeom>
          <a:noFill/>
          <a:ln/>
        </p:spPr>
        <p:txBody>
          <a:bodyPr wrap="square" lIns="0" tIns="0" rIns="0" bIns="0" rtlCol="0" anchor="ctr"/>
          <a:lstStyle/>
          <a:p>
            <a:pPr algn="ctr" indent="0" marL="0">
              <a:buNone/>
            </a:pPr>
            <a:r>
              <a:rPr lang="en-US" sz="700" dirty="0">
                <a:solidFill>
                  <a:srgbClr val="7A7266"/>
                </a:solidFill>
                <a:latin typeface="Calibri" pitchFamily="34" charset="0"/>
                <a:ea typeface="Calibri" pitchFamily="34" charset="-122"/>
                <a:cs typeface="Calibri" pitchFamily="34" charset="-120"/>
              </a:rPr>
              <a:t>Support</a:t>
            </a:r>
            <a:endParaRPr lang="en-US" sz="700" dirty="0"/>
          </a:p>
        </p:txBody>
      </p:sp>
      <p:sp>
        <p:nvSpPr>
          <p:cNvPr id="38" name="Shape 36"/>
          <p:cNvSpPr/>
          <p:nvPr/>
        </p:nvSpPr>
        <p:spPr>
          <a:xfrm>
            <a:off x="7296912" y="3602736"/>
            <a:ext cx="3968496" cy="402336"/>
          </a:xfrm>
          <a:prstGeom prst="roundRect">
            <a:avLst>
              <a:gd name="adj" fmla="val 11364"/>
            </a:avLst>
          </a:prstGeom>
          <a:solidFill>
            <a:srgbClr val="FBFAF6"/>
          </a:solidFill>
          <a:ln w="12700">
            <a:solidFill>
              <a:srgbClr val="E4DCC9"/>
            </a:solidFill>
            <a:prstDash val="solid"/>
          </a:ln>
        </p:spPr>
      </p:sp>
      <p:sp>
        <p:nvSpPr>
          <p:cNvPr id="39" name="Shape 37"/>
          <p:cNvSpPr/>
          <p:nvPr/>
        </p:nvSpPr>
        <p:spPr>
          <a:xfrm>
            <a:off x="7443216" y="3758184"/>
            <a:ext cx="91440" cy="91440"/>
          </a:xfrm>
          <a:prstGeom prst="ellipse">
            <a:avLst/>
          </a:prstGeom>
          <a:solidFill>
            <a:srgbClr val="9C7C2E"/>
          </a:solidFill>
          <a:ln/>
        </p:spPr>
      </p:sp>
      <p:sp>
        <p:nvSpPr>
          <p:cNvPr id="40" name="Text 38"/>
          <p:cNvSpPr txBox="1"/>
          <p:nvPr/>
        </p:nvSpPr>
        <p:spPr>
          <a:xfrm>
            <a:off x="7662672" y="3602736"/>
            <a:ext cx="2596896" cy="402336"/>
          </a:xfrm>
          <a:prstGeom prst="rect">
            <a:avLst/>
          </a:prstGeom>
          <a:noFill/>
          <a:ln/>
        </p:spPr>
        <p:txBody>
          <a:bodyPr wrap="square" lIns="0" tIns="0" rIns="0" bIns="0" rtlCol="0" anchor="ctr"/>
          <a:lstStyle/>
          <a:p>
            <a:pPr indent="0" marL="0">
              <a:buNone/>
            </a:pPr>
            <a:r>
              <a:rPr lang="en-US" sz="850" dirty="0">
                <a:solidFill>
                  <a:srgbClr val="1D1A15"/>
                </a:solidFill>
                <a:latin typeface="Calibri" pitchFamily="34" charset="0"/>
                <a:ea typeface="Calibri" pitchFamily="34" charset="-122"/>
                <a:cs typeface="Calibri" pitchFamily="34" charset="-120"/>
              </a:rPr>
              <a:t>New-school setup checklist</a:t>
            </a:r>
            <a:endParaRPr lang="en-US" sz="850" dirty="0"/>
          </a:p>
        </p:txBody>
      </p:sp>
      <p:sp>
        <p:nvSpPr>
          <p:cNvPr id="41" name="Shape 39"/>
          <p:cNvSpPr/>
          <p:nvPr/>
        </p:nvSpPr>
        <p:spPr>
          <a:xfrm>
            <a:off x="10356494" y="3685032"/>
            <a:ext cx="780898" cy="237744"/>
          </a:xfrm>
          <a:prstGeom prst="roundRect">
            <a:avLst>
              <a:gd name="adj" fmla="val 50000"/>
            </a:avLst>
          </a:prstGeom>
          <a:solidFill>
            <a:srgbClr val="FFFFFF"/>
          </a:solidFill>
          <a:ln w="12700">
            <a:solidFill>
              <a:srgbClr val="E4DCC9"/>
            </a:solidFill>
            <a:prstDash val="solid"/>
          </a:ln>
        </p:spPr>
      </p:sp>
      <p:sp>
        <p:nvSpPr>
          <p:cNvPr id="42" name="Text 40"/>
          <p:cNvSpPr txBox="1"/>
          <p:nvPr/>
        </p:nvSpPr>
        <p:spPr>
          <a:xfrm>
            <a:off x="10356494" y="3675888"/>
            <a:ext cx="780898" cy="246888"/>
          </a:xfrm>
          <a:prstGeom prst="rect">
            <a:avLst/>
          </a:prstGeom>
          <a:noFill/>
          <a:ln/>
        </p:spPr>
        <p:txBody>
          <a:bodyPr wrap="square" lIns="0" tIns="0" rIns="0" bIns="0" rtlCol="0" anchor="ctr"/>
          <a:lstStyle/>
          <a:p>
            <a:pPr algn="ctr" indent="0" marL="0">
              <a:buNone/>
            </a:pPr>
            <a:r>
              <a:rPr lang="en-US" sz="700" dirty="0">
                <a:solidFill>
                  <a:srgbClr val="7A7266"/>
                </a:solidFill>
                <a:latin typeface="Calibri" pitchFamily="34" charset="0"/>
                <a:ea typeface="Calibri" pitchFamily="34" charset="-122"/>
                <a:cs typeface="Calibri" pitchFamily="34" charset="-120"/>
              </a:rPr>
              <a:t>Success</a:t>
            </a:r>
            <a:endParaRPr lang="en-US" sz="700" dirty="0"/>
          </a:p>
        </p:txBody>
      </p:sp>
      <p:sp>
        <p:nvSpPr>
          <p:cNvPr id="43" name="Shape 41"/>
          <p:cNvSpPr/>
          <p:nvPr/>
        </p:nvSpPr>
        <p:spPr>
          <a:xfrm>
            <a:off x="7296912" y="4096512"/>
            <a:ext cx="3968496" cy="402336"/>
          </a:xfrm>
          <a:prstGeom prst="roundRect">
            <a:avLst>
              <a:gd name="adj" fmla="val 11364"/>
            </a:avLst>
          </a:prstGeom>
          <a:solidFill>
            <a:srgbClr val="FBFAF6"/>
          </a:solidFill>
          <a:ln w="12700">
            <a:solidFill>
              <a:srgbClr val="E4DCC9"/>
            </a:solidFill>
            <a:prstDash val="solid"/>
          </a:ln>
        </p:spPr>
      </p:sp>
      <p:sp>
        <p:nvSpPr>
          <p:cNvPr id="44" name="Shape 42"/>
          <p:cNvSpPr/>
          <p:nvPr/>
        </p:nvSpPr>
        <p:spPr>
          <a:xfrm>
            <a:off x="7443216" y="4251960"/>
            <a:ext cx="91440" cy="91440"/>
          </a:xfrm>
          <a:prstGeom prst="ellipse">
            <a:avLst/>
          </a:prstGeom>
          <a:solidFill>
            <a:srgbClr val="9C7C2E"/>
          </a:solidFill>
          <a:ln/>
        </p:spPr>
      </p:sp>
      <p:sp>
        <p:nvSpPr>
          <p:cNvPr id="45" name="Text 43"/>
          <p:cNvSpPr txBox="1"/>
          <p:nvPr/>
        </p:nvSpPr>
        <p:spPr>
          <a:xfrm>
            <a:off x="7662672" y="4096512"/>
            <a:ext cx="2596896" cy="402336"/>
          </a:xfrm>
          <a:prstGeom prst="rect">
            <a:avLst/>
          </a:prstGeom>
          <a:noFill/>
          <a:ln/>
        </p:spPr>
        <p:txBody>
          <a:bodyPr wrap="square" lIns="0" tIns="0" rIns="0" bIns="0" rtlCol="0" anchor="ctr"/>
          <a:lstStyle/>
          <a:p>
            <a:pPr indent="0" marL="0">
              <a:buNone/>
            </a:pPr>
            <a:r>
              <a:rPr lang="en-US" sz="850" dirty="0">
                <a:solidFill>
                  <a:srgbClr val="1D1A15"/>
                </a:solidFill>
                <a:latin typeface="Calibri" pitchFamily="34" charset="0"/>
                <a:ea typeface="Calibri" pitchFamily="34" charset="-122"/>
                <a:cs typeface="Calibri" pitchFamily="34" charset="-120"/>
              </a:rPr>
              <a:t>Refund &amp; billing policy</a:t>
            </a:r>
            <a:endParaRPr lang="en-US" sz="850" dirty="0"/>
          </a:p>
        </p:txBody>
      </p:sp>
      <p:sp>
        <p:nvSpPr>
          <p:cNvPr id="46" name="Shape 44"/>
          <p:cNvSpPr/>
          <p:nvPr/>
        </p:nvSpPr>
        <p:spPr>
          <a:xfrm>
            <a:off x="10356494" y="4178808"/>
            <a:ext cx="780898" cy="237744"/>
          </a:xfrm>
          <a:prstGeom prst="roundRect">
            <a:avLst>
              <a:gd name="adj" fmla="val 50000"/>
            </a:avLst>
          </a:prstGeom>
          <a:solidFill>
            <a:srgbClr val="FFFFFF"/>
          </a:solidFill>
          <a:ln w="12700">
            <a:solidFill>
              <a:srgbClr val="E4DCC9"/>
            </a:solidFill>
            <a:prstDash val="solid"/>
          </a:ln>
        </p:spPr>
      </p:sp>
      <p:sp>
        <p:nvSpPr>
          <p:cNvPr id="47" name="Text 45"/>
          <p:cNvSpPr txBox="1"/>
          <p:nvPr/>
        </p:nvSpPr>
        <p:spPr>
          <a:xfrm>
            <a:off x="10356494" y="4169664"/>
            <a:ext cx="780898" cy="246888"/>
          </a:xfrm>
          <a:prstGeom prst="rect">
            <a:avLst/>
          </a:prstGeom>
          <a:noFill/>
          <a:ln/>
        </p:spPr>
        <p:txBody>
          <a:bodyPr wrap="square" lIns="0" tIns="0" rIns="0" bIns="0" rtlCol="0" anchor="ctr"/>
          <a:lstStyle/>
          <a:p>
            <a:pPr algn="ctr" indent="0" marL="0">
              <a:buNone/>
            </a:pPr>
            <a:r>
              <a:rPr lang="en-US" sz="700" dirty="0">
                <a:solidFill>
                  <a:srgbClr val="7A7266"/>
                </a:solidFill>
                <a:latin typeface="Calibri" pitchFamily="34" charset="0"/>
                <a:ea typeface="Calibri" pitchFamily="34" charset="-122"/>
                <a:cs typeface="Calibri" pitchFamily="34" charset="-120"/>
              </a:rPr>
              <a:t>Finance</a:t>
            </a:r>
            <a:endParaRPr lang="en-US" sz="700" dirty="0"/>
          </a:p>
        </p:txBody>
      </p:sp>
      <p:sp>
        <p:nvSpPr>
          <p:cNvPr id="48" name="Shape 46"/>
          <p:cNvSpPr/>
          <p:nvPr/>
        </p:nvSpPr>
        <p:spPr>
          <a:xfrm>
            <a:off x="7296912" y="4590288"/>
            <a:ext cx="1417320" cy="347472"/>
          </a:xfrm>
          <a:prstGeom prst="roundRect">
            <a:avLst>
              <a:gd name="adj" fmla="val 50000"/>
            </a:avLst>
          </a:prstGeom>
          <a:solidFill>
            <a:srgbClr val="9C7C2E"/>
          </a:solidFill>
          <a:ln/>
        </p:spPr>
      </p:sp>
      <p:sp>
        <p:nvSpPr>
          <p:cNvPr id="49" name="Text 47"/>
          <p:cNvSpPr txBox="1"/>
          <p:nvPr/>
        </p:nvSpPr>
        <p:spPr>
          <a:xfrm>
            <a:off x="7296912" y="4581144"/>
            <a:ext cx="1417320" cy="35661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 Add article</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822960" y="777240"/>
            <a:ext cx="7315200" cy="274320"/>
          </a:xfrm>
          <a:prstGeom prst="rect">
            <a:avLst/>
          </a:prstGeom>
          <a:noFill/>
          <a:ln/>
        </p:spPr>
        <p:txBody>
          <a:bodyPr wrap="square" lIns="0" tIns="0" rIns="0" bIns="0" rtlCol="0" anchor="ctr"/>
          <a:lstStyle/>
          <a:p>
            <a:pPr indent="0" marL="0">
              <a:buNone/>
            </a:pPr>
            <a:r>
              <a:rPr lang="en-US" sz="1100" b="1" spc="300" kern="0" dirty="0">
                <a:solidFill>
                  <a:srgbClr val="9C7C2E"/>
                </a:solidFill>
                <a:latin typeface="Calibri" pitchFamily="34" charset="0"/>
                <a:ea typeface="Calibri" pitchFamily="34" charset="-122"/>
                <a:cs typeface="Calibri" pitchFamily="34" charset="-120"/>
              </a:rPr>
              <a:t>STAFF PORTAL · SETTINGS</a:t>
            </a:r>
            <a:endParaRPr lang="en-US" sz="1100" dirty="0"/>
          </a:p>
        </p:txBody>
      </p:sp>
      <p:sp>
        <p:nvSpPr>
          <p:cNvPr id="3" name="Shape 1"/>
          <p:cNvSpPr/>
          <p:nvPr/>
        </p:nvSpPr>
        <p:spPr>
          <a:xfrm>
            <a:off x="10314432" y="731520"/>
            <a:ext cx="1051560" cy="310896"/>
          </a:xfrm>
          <a:prstGeom prst="roundRect">
            <a:avLst>
              <a:gd name="adj" fmla="val 50000"/>
            </a:avLst>
          </a:prstGeom>
          <a:solidFill>
            <a:srgbClr val="F3E7C8"/>
          </a:solidFill>
          <a:ln w="9525">
            <a:solidFill>
              <a:srgbClr val="9C7C2E"/>
            </a:solidFill>
            <a:prstDash val="solid"/>
          </a:ln>
        </p:spPr>
      </p:sp>
      <p:sp>
        <p:nvSpPr>
          <p:cNvPr id="4" name="Text 2"/>
          <p:cNvSpPr txBox="1"/>
          <p:nvPr/>
        </p:nvSpPr>
        <p:spPr>
          <a:xfrm>
            <a:off x="10314432" y="722376"/>
            <a:ext cx="1051560" cy="320040"/>
          </a:xfrm>
          <a:prstGeom prst="rect">
            <a:avLst/>
          </a:prstGeom>
          <a:noFill/>
          <a:ln/>
        </p:spPr>
        <p:txBody>
          <a:bodyPr wrap="square" lIns="0" tIns="0" rIns="0" bIns="0" rtlCol="0" anchor="ctr"/>
          <a:lstStyle/>
          <a:p>
            <a:pPr algn="ctr" indent="0" marL="0">
              <a:buNone/>
            </a:pPr>
            <a:r>
              <a:rPr lang="en-US" sz="850" b="1" spc="100" kern="0" dirty="0">
                <a:solidFill>
                  <a:srgbClr val="7A5A12"/>
                </a:solidFill>
                <a:latin typeface="Calibri" pitchFamily="34" charset="0"/>
                <a:ea typeface="Calibri" pitchFamily="34" charset="-122"/>
                <a:cs typeface="Calibri" pitchFamily="34" charset="-120"/>
              </a:rPr>
              <a:t>PHASE 2</a:t>
            </a:r>
            <a:endParaRPr lang="en-US" sz="850" dirty="0"/>
          </a:p>
        </p:txBody>
      </p:sp>
      <p:sp>
        <p:nvSpPr>
          <p:cNvPr id="5" name="Text 3"/>
          <p:cNvSpPr txBox="1"/>
          <p:nvPr/>
        </p:nvSpPr>
        <p:spPr>
          <a:xfrm>
            <a:off x="822960" y="1097280"/>
            <a:ext cx="5760720" cy="1371600"/>
          </a:xfrm>
          <a:prstGeom prst="rect">
            <a:avLst/>
          </a:prstGeom>
          <a:noFill/>
          <a:ln/>
        </p:spPr>
        <p:txBody>
          <a:bodyPr wrap="square" lIns="0" tIns="0" rIns="0" bIns="0" rtlCol="0" anchor="t"/>
          <a:lstStyle/>
          <a:p>
            <a:pPr indent="0" marL="0">
              <a:lnSpc>
                <a:spcPct val="98000"/>
              </a:lnSpc>
              <a:buNone/>
            </a:pPr>
            <a:r>
              <a:rPr lang="en-US" sz="3200" b="1" dirty="0">
                <a:solidFill>
                  <a:srgbClr val="1D1A15"/>
                </a:solidFill>
                <a:latin typeface="Georgia" pitchFamily="34" charset="0"/>
                <a:ea typeface="Georgia" pitchFamily="34" charset="-122"/>
                <a:cs typeface="Georgia" pitchFamily="34" charset="-120"/>
              </a:rPr>
              <a:t>Connections &amp; Vault</a:t>
            </a:r>
            <a:endParaRPr lang="en-US" sz="3200" dirty="0"/>
          </a:p>
        </p:txBody>
      </p:sp>
      <p:sp>
        <p:nvSpPr>
          <p:cNvPr id="6" name="Text 4"/>
          <p:cNvSpPr txBox="1"/>
          <p:nvPr/>
        </p:nvSpPr>
        <p:spPr>
          <a:xfrm>
            <a:off x="822960" y="2286000"/>
            <a:ext cx="5760720" cy="1371600"/>
          </a:xfrm>
          <a:prstGeom prst="rect">
            <a:avLst/>
          </a:prstGeom>
          <a:noFill/>
          <a:ln/>
        </p:spPr>
        <p:txBody>
          <a:bodyPr wrap="square" lIns="0" tIns="0" rIns="0" bIns="0" rtlCol="0" anchor="t"/>
          <a:lstStyle/>
          <a:p>
            <a:pPr indent="0" marL="0">
              <a:lnSpc>
                <a:spcPct val="115000"/>
              </a:lnSpc>
              <a:buNone/>
            </a:pPr>
            <a:r>
              <a:rPr lang="en-US" sz="1500" dirty="0">
                <a:solidFill>
                  <a:srgbClr val="7A7266"/>
                </a:solidFill>
                <a:latin typeface="Calibri" pitchFamily="34" charset="0"/>
                <a:ea typeface="Calibri" pitchFamily="34" charset="-122"/>
                <a:cs typeface="Calibri" pitchFamily="34" charset="-120"/>
              </a:rPr>
              <a:t>Turn each connection on or off from the portal. Passwords and keys go straight into a secure vault, never pasted into chat, with a dashboard showing what’s connected.</a:t>
            </a:r>
            <a:endParaRPr lang="en-US" sz="1500" dirty="0"/>
          </a:p>
        </p:txBody>
      </p:sp>
      <p:sp>
        <p:nvSpPr>
          <p:cNvPr id="7" name="Text 5"/>
          <p:cNvSpPr txBox="1"/>
          <p:nvPr/>
        </p:nvSpPr>
        <p:spPr>
          <a:xfrm>
            <a:off x="822960" y="3657600"/>
            <a:ext cx="5760720" cy="804672"/>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1D1A15"/>
                </a:solidFill>
                <a:latin typeface="Calibri" pitchFamily="34" charset="0"/>
                <a:ea typeface="Calibri" pitchFamily="34" charset="-122"/>
                <a:cs typeface="Calibri" pitchFamily="34" charset="-120"/>
              </a:rPr>
              <a:t>Connects Salesforce, the learning platform, email, and more</a:t>
            </a:r>
            <a:endParaRPr lang="en-US" sz="1350" dirty="0"/>
          </a:p>
          <a:p>
            <a:pPr marL="177800" indent="-177800">
              <a:spcAft>
                <a:spcPts val="800"/>
              </a:spcAft>
              <a:buSzPct val="100000"/>
              <a:buChar char="•"/>
            </a:pPr>
            <a:r>
              <a:rPr lang="en-US" sz="1350" dirty="0">
                <a:solidFill>
                  <a:srgbClr val="1D1A15"/>
                </a:solidFill>
                <a:latin typeface="Calibri" pitchFamily="34" charset="0"/>
                <a:ea typeface="Calibri" pitchFamily="34" charset="-122"/>
                <a:cs typeface="Calibri" pitchFamily="34" charset="-120"/>
              </a:rPr>
              <a:t>Managed by an admin</a:t>
            </a:r>
            <a:endParaRPr lang="en-US" sz="1350" dirty="0"/>
          </a:p>
        </p:txBody>
      </p:sp>
      <p:sp>
        <p:nvSpPr>
          <p:cNvPr id="8" name="Shape 6"/>
          <p:cNvSpPr/>
          <p:nvPr/>
        </p:nvSpPr>
        <p:spPr>
          <a:xfrm>
            <a:off x="7040880" y="1645920"/>
            <a:ext cx="4480560" cy="3566160"/>
          </a:xfrm>
          <a:prstGeom prst="roundRect">
            <a:avLst>
              <a:gd name="adj" fmla="val 3077"/>
            </a:avLst>
          </a:prstGeom>
          <a:solidFill>
            <a:srgbClr val="FFFFFF"/>
          </a:solidFill>
          <a:ln w="12700">
            <a:solidFill>
              <a:srgbClr val="E4DCC9"/>
            </a:solidFill>
            <a:prstDash val="solid"/>
          </a:ln>
          <a:effectLst>
            <a:outerShdw sx="100000" sy="100000" kx="0" ky="0" algn="bl" rotWithShape="0" blurRad="127000" dist="38100" dir="5400000">
              <a:srgbClr val="6B6252">
                <a:alpha val="35000"/>
              </a:srgbClr>
            </a:outerShdw>
          </a:effectLst>
        </p:spPr>
      </p:sp>
      <p:sp>
        <p:nvSpPr>
          <p:cNvPr id="9" name="Shape 7"/>
          <p:cNvSpPr/>
          <p:nvPr/>
        </p:nvSpPr>
        <p:spPr>
          <a:xfrm>
            <a:off x="7040880" y="1645920"/>
            <a:ext cx="4480560" cy="384048"/>
          </a:xfrm>
          <a:prstGeom prst="roundRect">
            <a:avLst>
              <a:gd name="adj" fmla="val 28571"/>
            </a:avLst>
          </a:prstGeom>
          <a:solidFill>
            <a:srgbClr val="FBFAF6"/>
          </a:solidFill>
          <a:ln/>
        </p:spPr>
      </p:sp>
      <p:sp>
        <p:nvSpPr>
          <p:cNvPr id="10" name="Shape 8"/>
          <p:cNvSpPr/>
          <p:nvPr/>
        </p:nvSpPr>
        <p:spPr>
          <a:xfrm>
            <a:off x="7040880" y="1901952"/>
            <a:ext cx="4480560" cy="128016"/>
          </a:xfrm>
          <a:prstGeom prst="rect">
            <a:avLst/>
          </a:prstGeom>
          <a:solidFill>
            <a:srgbClr val="FBFAF6"/>
          </a:solidFill>
          <a:ln/>
        </p:spPr>
      </p:sp>
      <p:sp>
        <p:nvSpPr>
          <p:cNvPr id="11" name="Shape 9"/>
          <p:cNvSpPr/>
          <p:nvPr/>
        </p:nvSpPr>
        <p:spPr>
          <a:xfrm>
            <a:off x="7205472" y="1783080"/>
            <a:ext cx="100584" cy="100584"/>
          </a:xfrm>
          <a:prstGeom prst="ellipse">
            <a:avLst/>
          </a:prstGeom>
          <a:solidFill>
            <a:srgbClr val="C9BFA9"/>
          </a:solidFill>
          <a:ln/>
        </p:spPr>
      </p:sp>
      <p:sp>
        <p:nvSpPr>
          <p:cNvPr id="12" name="Shape 10"/>
          <p:cNvSpPr/>
          <p:nvPr/>
        </p:nvSpPr>
        <p:spPr>
          <a:xfrm>
            <a:off x="7388352" y="1783080"/>
            <a:ext cx="100584" cy="100584"/>
          </a:xfrm>
          <a:prstGeom prst="ellipse">
            <a:avLst/>
          </a:prstGeom>
          <a:solidFill>
            <a:srgbClr val="C9BFA9"/>
          </a:solidFill>
          <a:ln/>
        </p:spPr>
      </p:sp>
      <p:sp>
        <p:nvSpPr>
          <p:cNvPr id="13" name="Shape 11"/>
          <p:cNvSpPr/>
          <p:nvPr/>
        </p:nvSpPr>
        <p:spPr>
          <a:xfrm>
            <a:off x="7571232" y="1783080"/>
            <a:ext cx="100584" cy="100584"/>
          </a:xfrm>
          <a:prstGeom prst="ellipse">
            <a:avLst/>
          </a:prstGeom>
          <a:solidFill>
            <a:srgbClr val="C9BFA9"/>
          </a:solidFill>
          <a:ln/>
        </p:spPr>
      </p:sp>
      <p:sp>
        <p:nvSpPr>
          <p:cNvPr id="14" name="Text 12"/>
          <p:cNvSpPr txBox="1"/>
          <p:nvPr/>
        </p:nvSpPr>
        <p:spPr>
          <a:xfrm>
            <a:off x="7818120" y="1673352"/>
            <a:ext cx="3566160" cy="329184"/>
          </a:xfrm>
          <a:prstGeom prst="rect">
            <a:avLst/>
          </a:prstGeom>
          <a:noFill/>
          <a:ln/>
        </p:spPr>
        <p:txBody>
          <a:bodyPr wrap="square" lIns="0" tIns="0" rIns="0" bIns="0" rtlCol="0" anchor="ctr"/>
          <a:lstStyle/>
          <a:p>
            <a:pPr indent="0" marL="0">
              <a:buNone/>
            </a:pPr>
            <a:r>
              <a:rPr lang="en-US" sz="900" dirty="0">
                <a:solidFill>
                  <a:srgbClr val="7A7266"/>
                </a:solidFill>
                <a:latin typeface="Calibri" pitchFamily="34" charset="0"/>
                <a:ea typeface="Calibri" pitchFamily="34" charset="-122"/>
                <a:cs typeface="Calibri" pitchFamily="34" charset="-120"/>
              </a:rPr>
              <a:t>Connections</a:t>
            </a:r>
            <a:endParaRPr lang="en-US" sz="900" dirty="0"/>
          </a:p>
        </p:txBody>
      </p:sp>
      <p:sp>
        <p:nvSpPr>
          <p:cNvPr id="15" name="Shape 13"/>
          <p:cNvSpPr/>
          <p:nvPr/>
        </p:nvSpPr>
        <p:spPr>
          <a:xfrm>
            <a:off x="7040880" y="2029968"/>
            <a:ext cx="4480560" cy="0"/>
          </a:xfrm>
          <a:prstGeom prst="line">
            <a:avLst/>
          </a:prstGeom>
          <a:noFill/>
          <a:ln w="12700">
            <a:solidFill>
              <a:srgbClr val="E4DCC9"/>
            </a:solidFill>
            <a:prstDash val="solid"/>
          </a:ln>
        </p:spPr>
      </p:sp>
      <p:sp>
        <p:nvSpPr>
          <p:cNvPr id="16" name="Shape 14"/>
          <p:cNvSpPr/>
          <p:nvPr/>
        </p:nvSpPr>
        <p:spPr>
          <a:xfrm>
            <a:off x="7296912" y="2212848"/>
            <a:ext cx="3968496" cy="566928"/>
          </a:xfrm>
          <a:prstGeom prst="roundRect">
            <a:avLst>
              <a:gd name="adj" fmla="val 8065"/>
            </a:avLst>
          </a:prstGeom>
          <a:solidFill>
            <a:srgbClr val="FBFAF6"/>
          </a:solidFill>
          <a:ln w="12700">
            <a:solidFill>
              <a:srgbClr val="E4DCC9"/>
            </a:solidFill>
            <a:prstDash val="solid"/>
          </a:ln>
        </p:spPr>
      </p:sp>
      <p:sp>
        <p:nvSpPr>
          <p:cNvPr id="17" name="Shape 15"/>
          <p:cNvSpPr/>
          <p:nvPr/>
        </p:nvSpPr>
        <p:spPr>
          <a:xfrm>
            <a:off x="7443216" y="2446020"/>
            <a:ext cx="100584" cy="100584"/>
          </a:xfrm>
          <a:prstGeom prst="ellipse">
            <a:avLst/>
          </a:prstGeom>
          <a:solidFill>
            <a:srgbClr val="5B7C46"/>
          </a:solidFill>
          <a:ln/>
        </p:spPr>
      </p:sp>
      <p:sp>
        <p:nvSpPr>
          <p:cNvPr id="18" name="Shape 16"/>
          <p:cNvSpPr/>
          <p:nvPr/>
        </p:nvSpPr>
        <p:spPr>
          <a:xfrm>
            <a:off x="7680960" y="2455164"/>
            <a:ext cx="1825508" cy="82296"/>
          </a:xfrm>
          <a:prstGeom prst="roundRect">
            <a:avLst>
              <a:gd name="adj" fmla="val 50000"/>
            </a:avLst>
          </a:prstGeom>
          <a:solidFill>
            <a:srgbClr val="E4DCC9"/>
          </a:solidFill>
          <a:ln/>
        </p:spPr>
      </p:sp>
      <p:sp>
        <p:nvSpPr>
          <p:cNvPr id="19" name="Shape 17"/>
          <p:cNvSpPr/>
          <p:nvPr/>
        </p:nvSpPr>
        <p:spPr>
          <a:xfrm>
            <a:off x="7680960" y="2455164"/>
            <a:ext cx="1314366" cy="82296"/>
          </a:xfrm>
          <a:prstGeom prst="roundRect">
            <a:avLst>
              <a:gd name="adj" fmla="val 50000"/>
            </a:avLst>
          </a:prstGeom>
          <a:solidFill>
            <a:srgbClr val="9C7C2E"/>
          </a:solidFill>
          <a:ln/>
        </p:spPr>
      </p:sp>
      <p:sp>
        <p:nvSpPr>
          <p:cNvPr id="20" name="Shape 18"/>
          <p:cNvSpPr/>
          <p:nvPr/>
        </p:nvSpPr>
        <p:spPr>
          <a:xfrm>
            <a:off x="10200132" y="2350008"/>
            <a:ext cx="937260" cy="292608"/>
          </a:xfrm>
          <a:prstGeom prst="roundRect">
            <a:avLst>
              <a:gd name="adj" fmla="val 50000"/>
            </a:avLst>
          </a:prstGeom>
          <a:solidFill>
            <a:srgbClr val="FFFFFF"/>
          </a:solidFill>
          <a:ln w="12700">
            <a:solidFill>
              <a:srgbClr val="E4DCC9"/>
            </a:solidFill>
            <a:prstDash val="solid"/>
          </a:ln>
        </p:spPr>
      </p:sp>
      <p:sp>
        <p:nvSpPr>
          <p:cNvPr id="21" name="Text 19"/>
          <p:cNvSpPr txBox="1"/>
          <p:nvPr/>
        </p:nvSpPr>
        <p:spPr>
          <a:xfrm>
            <a:off x="10200132" y="2340864"/>
            <a:ext cx="937260" cy="310896"/>
          </a:xfrm>
          <a:prstGeom prst="rect">
            <a:avLst/>
          </a:prstGeom>
          <a:noFill/>
          <a:ln/>
        </p:spPr>
        <p:txBody>
          <a:bodyPr wrap="square" lIns="0" tIns="0" rIns="0" bIns="0" rtlCol="0" anchor="ctr"/>
          <a:lstStyle/>
          <a:p>
            <a:pPr algn="ctr" indent="0" marL="0">
              <a:buNone/>
            </a:pPr>
            <a:r>
              <a:rPr lang="en-US" sz="850" dirty="0">
                <a:solidFill>
                  <a:srgbClr val="7A7266"/>
                </a:solidFill>
                <a:latin typeface="Calibri" pitchFamily="34" charset="0"/>
                <a:ea typeface="Calibri" pitchFamily="34" charset="-122"/>
                <a:cs typeface="Calibri" pitchFamily="34" charset="-120"/>
              </a:rPr>
              <a:t>connected</a:t>
            </a:r>
            <a:endParaRPr lang="en-US" sz="850" dirty="0"/>
          </a:p>
        </p:txBody>
      </p:sp>
      <p:sp>
        <p:nvSpPr>
          <p:cNvPr id="22" name="Shape 20"/>
          <p:cNvSpPr/>
          <p:nvPr/>
        </p:nvSpPr>
        <p:spPr>
          <a:xfrm>
            <a:off x="7296912" y="2907792"/>
            <a:ext cx="3968496" cy="566928"/>
          </a:xfrm>
          <a:prstGeom prst="roundRect">
            <a:avLst>
              <a:gd name="adj" fmla="val 8065"/>
            </a:avLst>
          </a:prstGeom>
          <a:solidFill>
            <a:srgbClr val="FBFAF6"/>
          </a:solidFill>
          <a:ln w="12700">
            <a:solidFill>
              <a:srgbClr val="E4DCC9"/>
            </a:solidFill>
            <a:prstDash val="solid"/>
          </a:ln>
        </p:spPr>
      </p:sp>
      <p:sp>
        <p:nvSpPr>
          <p:cNvPr id="23" name="Shape 21"/>
          <p:cNvSpPr/>
          <p:nvPr/>
        </p:nvSpPr>
        <p:spPr>
          <a:xfrm>
            <a:off x="7443216" y="3140964"/>
            <a:ext cx="100584" cy="100584"/>
          </a:xfrm>
          <a:prstGeom prst="ellipse">
            <a:avLst/>
          </a:prstGeom>
          <a:solidFill>
            <a:srgbClr val="B0842F"/>
          </a:solidFill>
          <a:ln/>
        </p:spPr>
      </p:sp>
      <p:sp>
        <p:nvSpPr>
          <p:cNvPr id="24" name="Shape 22"/>
          <p:cNvSpPr/>
          <p:nvPr/>
        </p:nvSpPr>
        <p:spPr>
          <a:xfrm>
            <a:off x="7680960" y="3150108"/>
            <a:ext cx="1825508" cy="82296"/>
          </a:xfrm>
          <a:prstGeom prst="roundRect">
            <a:avLst>
              <a:gd name="adj" fmla="val 50000"/>
            </a:avLst>
          </a:prstGeom>
          <a:solidFill>
            <a:srgbClr val="E4DCC9"/>
          </a:solidFill>
          <a:ln/>
        </p:spPr>
      </p:sp>
      <p:sp>
        <p:nvSpPr>
          <p:cNvPr id="25" name="Shape 23"/>
          <p:cNvSpPr/>
          <p:nvPr/>
        </p:nvSpPr>
        <p:spPr>
          <a:xfrm>
            <a:off x="7680960" y="3150108"/>
            <a:ext cx="839734" cy="82296"/>
          </a:xfrm>
          <a:prstGeom prst="roundRect">
            <a:avLst>
              <a:gd name="adj" fmla="val 50000"/>
            </a:avLst>
          </a:prstGeom>
          <a:solidFill>
            <a:srgbClr val="9C7C2E"/>
          </a:solidFill>
          <a:ln/>
        </p:spPr>
      </p:sp>
      <p:sp>
        <p:nvSpPr>
          <p:cNvPr id="26" name="Shape 24"/>
          <p:cNvSpPr/>
          <p:nvPr/>
        </p:nvSpPr>
        <p:spPr>
          <a:xfrm>
            <a:off x="10337292" y="3044952"/>
            <a:ext cx="800100" cy="292608"/>
          </a:xfrm>
          <a:prstGeom prst="roundRect">
            <a:avLst>
              <a:gd name="adj" fmla="val 50000"/>
            </a:avLst>
          </a:prstGeom>
          <a:solidFill>
            <a:srgbClr val="FFFFFF"/>
          </a:solidFill>
          <a:ln w="12700">
            <a:solidFill>
              <a:srgbClr val="E4DCC9"/>
            </a:solidFill>
            <a:prstDash val="solid"/>
          </a:ln>
        </p:spPr>
      </p:sp>
      <p:sp>
        <p:nvSpPr>
          <p:cNvPr id="27" name="Text 25"/>
          <p:cNvSpPr txBox="1"/>
          <p:nvPr/>
        </p:nvSpPr>
        <p:spPr>
          <a:xfrm>
            <a:off x="10337292" y="3035808"/>
            <a:ext cx="800100" cy="310896"/>
          </a:xfrm>
          <a:prstGeom prst="rect">
            <a:avLst/>
          </a:prstGeom>
          <a:noFill/>
          <a:ln/>
        </p:spPr>
        <p:txBody>
          <a:bodyPr wrap="square" lIns="0" tIns="0" rIns="0" bIns="0" rtlCol="0" anchor="ctr"/>
          <a:lstStyle/>
          <a:p>
            <a:pPr algn="ctr" indent="0" marL="0">
              <a:buNone/>
            </a:pPr>
            <a:r>
              <a:rPr lang="en-US" sz="850" dirty="0">
                <a:solidFill>
                  <a:srgbClr val="7A7266"/>
                </a:solidFill>
                <a:latin typeface="Calibri" pitchFamily="34" charset="0"/>
                <a:ea typeface="Calibri" pitchFamily="34" charset="-122"/>
                <a:cs typeface="Calibri" pitchFamily="34" charset="-120"/>
              </a:rPr>
              <a:t>not set</a:t>
            </a:r>
            <a:endParaRPr lang="en-US" sz="850" dirty="0"/>
          </a:p>
        </p:txBody>
      </p:sp>
      <p:sp>
        <p:nvSpPr>
          <p:cNvPr id="28" name="Shape 26"/>
          <p:cNvSpPr/>
          <p:nvPr/>
        </p:nvSpPr>
        <p:spPr>
          <a:xfrm>
            <a:off x="7296912" y="3602736"/>
            <a:ext cx="3968496" cy="566928"/>
          </a:xfrm>
          <a:prstGeom prst="roundRect">
            <a:avLst>
              <a:gd name="adj" fmla="val 8065"/>
            </a:avLst>
          </a:prstGeom>
          <a:solidFill>
            <a:srgbClr val="FBFAF6"/>
          </a:solidFill>
          <a:ln w="12700">
            <a:solidFill>
              <a:srgbClr val="E4DCC9"/>
            </a:solidFill>
            <a:prstDash val="solid"/>
          </a:ln>
        </p:spPr>
      </p:sp>
      <p:sp>
        <p:nvSpPr>
          <p:cNvPr id="29" name="Shape 27"/>
          <p:cNvSpPr/>
          <p:nvPr/>
        </p:nvSpPr>
        <p:spPr>
          <a:xfrm>
            <a:off x="7443216" y="3835908"/>
            <a:ext cx="100584" cy="100584"/>
          </a:xfrm>
          <a:prstGeom prst="ellipse">
            <a:avLst/>
          </a:prstGeom>
          <a:solidFill>
            <a:srgbClr val="5B7C46"/>
          </a:solidFill>
          <a:ln/>
        </p:spPr>
      </p:sp>
      <p:sp>
        <p:nvSpPr>
          <p:cNvPr id="30" name="Shape 28"/>
          <p:cNvSpPr/>
          <p:nvPr/>
        </p:nvSpPr>
        <p:spPr>
          <a:xfrm>
            <a:off x="7680960" y="3845052"/>
            <a:ext cx="1825508" cy="82296"/>
          </a:xfrm>
          <a:prstGeom prst="roundRect">
            <a:avLst>
              <a:gd name="adj" fmla="val 50000"/>
            </a:avLst>
          </a:prstGeom>
          <a:solidFill>
            <a:srgbClr val="E4DCC9"/>
          </a:solidFill>
          <a:ln/>
        </p:spPr>
      </p:sp>
      <p:sp>
        <p:nvSpPr>
          <p:cNvPr id="31" name="Shape 29"/>
          <p:cNvSpPr/>
          <p:nvPr/>
        </p:nvSpPr>
        <p:spPr>
          <a:xfrm>
            <a:off x="7680960" y="3845052"/>
            <a:ext cx="1606447" cy="82296"/>
          </a:xfrm>
          <a:prstGeom prst="roundRect">
            <a:avLst>
              <a:gd name="adj" fmla="val 50000"/>
            </a:avLst>
          </a:prstGeom>
          <a:solidFill>
            <a:srgbClr val="9C7C2E"/>
          </a:solidFill>
          <a:ln/>
        </p:spPr>
      </p:sp>
      <p:sp>
        <p:nvSpPr>
          <p:cNvPr id="32" name="Shape 30"/>
          <p:cNvSpPr/>
          <p:nvPr/>
        </p:nvSpPr>
        <p:spPr>
          <a:xfrm>
            <a:off x="10474452" y="3739896"/>
            <a:ext cx="662940" cy="292608"/>
          </a:xfrm>
          <a:prstGeom prst="roundRect">
            <a:avLst>
              <a:gd name="adj" fmla="val 50000"/>
            </a:avLst>
          </a:prstGeom>
          <a:solidFill>
            <a:srgbClr val="FFFFFF"/>
          </a:solidFill>
          <a:ln w="12700">
            <a:solidFill>
              <a:srgbClr val="E4DCC9"/>
            </a:solidFill>
            <a:prstDash val="solid"/>
          </a:ln>
        </p:spPr>
      </p:sp>
      <p:sp>
        <p:nvSpPr>
          <p:cNvPr id="33" name="Text 31"/>
          <p:cNvSpPr txBox="1"/>
          <p:nvPr/>
        </p:nvSpPr>
        <p:spPr>
          <a:xfrm>
            <a:off x="10474452" y="3730752"/>
            <a:ext cx="662940" cy="310896"/>
          </a:xfrm>
          <a:prstGeom prst="rect">
            <a:avLst/>
          </a:prstGeom>
          <a:noFill/>
          <a:ln/>
        </p:spPr>
        <p:txBody>
          <a:bodyPr wrap="square" lIns="0" tIns="0" rIns="0" bIns="0" rtlCol="0" anchor="ctr"/>
          <a:lstStyle/>
          <a:p>
            <a:pPr algn="ctr" indent="0" marL="0">
              <a:buNone/>
            </a:pPr>
            <a:r>
              <a:rPr lang="en-US" sz="850" dirty="0">
                <a:solidFill>
                  <a:srgbClr val="7A7266"/>
                </a:solidFill>
                <a:latin typeface="Calibri" pitchFamily="34" charset="0"/>
                <a:ea typeface="Calibri" pitchFamily="34" charset="-122"/>
                <a:cs typeface="Calibri" pitchFamily="34" charset="-120"/>
              </a:rPr>
              <a:t>vault</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11B12"/>
        </a:solidFill>
      </p:bgPr>
    </p:bg>
    <p:spTree>
      <p:nvGrpSpPr>
        <p:cNvPr id="1" name=""/>
        <p:cNvGrpSpPr/>
        <p:nvPr/>
      </p:nvGrpSpPr>
      <p:grpSpPr>
        <a:xfrm>
          <a:off x="0" y="0"/>
          <a:ext cx="0" cy="0"/>
          <a:chOff x="0" y="0"/>
          <a:chExt cx="0" cy="0"/>
        </a:xfrm>
      </p:grpSpPr>
      <p:sp>
        <p:nvSpPr>
          <p:cNvPr id="2" name="Shape 0"/>
          <p:cNvSpPr/>
          <p:nvPr/>
        </p:nvSpPr>
        <p:spPr>
          <a:xfrm>
            <a:off x="9079992" y="-1463040"/>
            <a:ext cx="4206240" cy="4206240"/>
          </a:xfrm>
          <a:prstGeom prst="ellipse">
            <a:avLst/>
          </a:prstGeom>
          <a:ln w="15875">
            <a:solidFill>
              <a:srgbClr val="9C7C2E">
                <a:alpha val="45000"/>
              </a:srgbClr>
            </a:solidFill>
            <a:prstDash val="solid"/>
          </a:ln>
        </p:spPr>
      </p:sp>
      <p:sp>
        <p:nvSpPr>
          <p:cNvPr id="3" name="Shape 1"/>
          <p:cNvSpPr/>
          <p:nvPr/>
        </p:nvSpPr>
        <p:spPr>
          <a:xfrm>
            <a:off x="10085832" y="4846320"/>
            <a:ext cx="3108960" cy="3108960"/>
          </a:xfrm>
          <a:prstGeom prst="ellipse">
            <a:avLst/>
          </a:prstGeom>
          <a:ln w="12700">
            <a:solidFill>
              <a:srgbClr val="9C7C2E">
                <a:alpha val="30000"/>
              </a:srgbClr>
            </a:solidFill>
            <a:prstDash val="solid"/>
          </a:ln>
        </p:spPr>
      </p:sp>
      <p:sp>
        <p:nvSpPr>
          <p:cNvPr id="4" name="Text 2"/>
          <p:cNvSpPr txBox="1"/>
          <p:nvPr/>
        </p:nvSpPr>
        <p:spPr>
          <a:xfrm>
            <a:off x="822960" y="2194560"/>
            <a:ext cx="7315200" cy="274320"/>
          </a:xfrm>
          <a:prstGeom prst="rect">
            <a:avLst/>
          </a:prstGeom>
          <a:noFill/>
          <a:ln/>
        </p:spPr>
        <p:txBody>
          <a:bodyPr wrap="square" lIns="0" tIns="0" rIns="0" bIns="0" rtlCol="0" anchor="ctr"/>
          <a:lstStyle/>
          <a:p>
            <a:pPr indent="0" marL="0">
              <a:buNone/>
            </a:pPr>
            <a:r>
              <a:rPr lang="en-US" sz="1100" b="1" spc="300" kern="0" dirty="0">
                <a:solidFill>
                  <a:srgbClr val="C4A24E"/>
                </a:solidFill>
                <a:latin typeface="Calibri" pitchFamily="34" charset="0"/>
                <a:ea typeface="Calibri" pitchFamily="34" charset="-122"/>
                <a:cs typeface="Calibri" pitchFamily="34" charset="-120"/>
              </a:rPr>
              <a:t>PART TWO</a:t>
            </a:r>
            <a:endParaRPr lang="en-US" sz="1100" dirty="0"/>
          </a:p>
        </p:txBody>
      </p:sp>
      <p:sp>
        <p:nvSpPr>
          <p:cNvPr id="5" name="Text 3"/>
          <p:cNvSpPr txBox="1"/>
          <p:nvPr/>
        </p:nvSpPr>
        <p:spPr>
          <a:xfrm>
            <a:off x="822960" y="2514600"/>
            <a:ext cx="9601200" cy="1828800"/>
          </a:xfrm>
          <a:prstGeom prst="rect">
            <a:avLst/>
          </a:prstGeom>
          <a:noFill/>
          <a:ln/>
        </p:spPr>
        <p:txBody>
          <a:bodyPr wrap="square" lIns="0" tIns="0" rIns="0" bIns="0" rtlCol="0" anchor="ctr"/>
          <a:lstStyle/>
          <a:p>
            <a:pPr indent="0" marL="0">
              <a:lnSpc>
                <a:spcPct val="98000"/>
              </a:lnSpc>
              <a:buNone/>
            </a:pPr>
            <a:r>
              <a:rPr lang="en-US" sz="4000" b="1" dirty="0">
                <a:solidFill>
                  <a:srgbClr val="F3ECDD"/>
                </a:solidFill>
                <a:latin typeface="Georgia" pitchFamily="34" charset="0"/>
                <a:ea typeface="Georgia" pitchFamily="34" charset="-122"/>
                <a:cs typeface="Georgia" pitchFamily="34" charset="-120"/>
              </a:rPr>
              <a:t>The School Portal</a:t>
            </a:r>
            <a:endParaRPr lang="en-US" sz="4000" dirty="0"/>
          </a:p>
        </p:txBody>
      </p:sp>
      <p:sp>
        <p:nvSpPr>
          <p:cNvPr id="6" name="Text 4"/>
          <p:cNvSpPr txBox="1"/>
          <p:nvPr/>
        </p:nvSpPr>
        <p:spPr>
          <a:xfrm>
            <a:off x="822960" y="4114800"/>
            <a:ext cx="8686800" cy="1280160"/>
          </a:xfrm>
          <a:prstGeom prst="rect">
            <a:avLst/>
          </a:prstGeom>
          <a:noFill/>
          <a:ln/>
        </p:spPr>
        <p:txBody>
          <a:bodyPr wrap="square" lIns="0" tIns="0" rIns="0" bIns="0" rtlCol="0" anchor="ctr"/>
          <a:lstStyle/>
          <a:p>
            <a:pPr indent="0" marL="0">
              <a:lnSpc>
                <a:spcPct val="120000"/>
              </a:lnSpc>
              <a:buNone/>
            </a:pPr>
            <a:r>
              <a:rPr lang="en-US" sz="1500" dirty="0">
                <a:solidFill>
                  <a:srgbClr val="B7AE9E"/>
                </a:solidFill>
                <a:latin typeface="Calibri" pitchFamily="34" charset="0"/>
                <a:ea typeface="Calibri" pitchFamily="34" charset="-122"/>
                <a:cs typeface="Calibri" pitchFamily="34" charset="-120"/>
              </a:rPr>
              <a:t>The third surface, a Salesforce-powered directory and rich, self-serve pages for every partner school.</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822960" y="777240"/>
            <a:ext cx="7315200" cy="274320"/>
          </a:xfrm>
          <a:prstGeom prst="rect">
            <a:avLst/>
          </a:prstGeom>
          <a:noFill/>
          <a:ln/>
        </p:spPr>
        <p:txBody>
          <a:bodyPr wrap="square" lIns="0" tIns="0" rIns="0" bIns="0" rtlCol="0" anchor="ctr"/>
          <a:lstStyle/>
          <a:p>
            <a:pPr indent="0" marL="0">
              <a:buNone/>
            </a:pPr>
            <a:r>
              <a:rPr lang="en-US" sz="1100" b="1" spc="300" kern="0" dirty="0">
                <a:solidFill>
                  <a:srgbClr val="9C7C2E"/>
                </a:solidFill>
                <a:latin typeface="Calibri" pitchFamily="34" charset="0"/>
                <a:ea typeface="Calibri" pitchFamily="34" charset="-122"/>
                <a:cs typeface="Calibri" pitchFamily="34" charset="-120"/>
              </a:rPr>
              <a:t>SCHOOL PORTAL · DIRECTORY</a:t>
            </a:r>
            <a:endParaRPr lang="en-US" sz="1100" dirty="0"/>
          </a:p>
        </p:txBody>
      </p:sp>
      <p:sp>
        <p:nvSpPr>
          <p:cNvPr id="3" name="Shape 1"/>
          <p:cNvSpPr/>
          <p:nvPr/>
        </p:nvSpPr>
        <p:spPr>
          <a:xfrm>
            <a:off x="10314432" y="731520"/>
            <a:ext cx="1051560" cy="310896"/>
          </a:xfrm>
          <a:prstGeom prst="roundRect">
            <a:avLst>
              <a:gd name="adj" fmla="val 50000"/>
            </a:avLst>
          </a:prstGeom>
          <a:solidFill>
            <a:srgbClr val="F3E7C8"/>
          </a:solidFill>
          <a:ln w="9525">
            <a:solidFill>
              <a:srgbClr val="9C7C2E"/>
            </a:solidFill>
            <a:prstDash val="solid"/>
          </a:ln>
        </p:spPr>
      </p:sp>
      <p:sp>
        <p:nvSpPr>
          <p:cNvPr id="4" name="Text 2"/>
          <p:cNvSpPr txBox="1"/>
          <p:nvPr/>
        </p:nvSpPr>
        <p:spPr>
          <a:xfrm>
            <a:off x="10314432" y="722376"/>
            <a:ext cx="1051560" cy="320040"/>
          </a:xfrm>
          <a:prstGeom prst="rect">
            <a:avLst/>
          </a:prstGeom>
          <a:noFill/>
          <a:ln/>
        </p:spPr>
        <p:txBody>
          <a:bodyPr wrap="square" lIns="0" tIns="0" rIns="0" bIns="0" rtlCol="0" anchor="ctr"/>
          <a:lstStyle/>
          <a:p>
            <a:pPr algn="ctr" indent="0" marL="0">
              <a:buNone/>
            </a:pPr>
            <a:r>
              <a:rPr lang="en-US" sz="850" b="1" spc="100" kern="0" dirty="0">
                <a:solidFill>
                  <a:srgbClr val="7A5A12"/>
                </a:solidFill>
                <a:latin typeface="Calibri" pitchFamily="34" charset="0"/>
                <a:ea typeface="Calibri" pitchFamily="34" charset="-122"/>
                <a:cs typeface="Calibri" pitchFamily="34" charset="-120"/>
              </a:rPr>
              <a:t>PHASE 2</a:t>
            </a:r>
            <a:endParaRPr lang="en-US" sz="850" dirty="0"/>
          </a:p>
        </p:txBody>
      </p:sp>
      <p:sp>
        <p:nvSpPr>
          <p:cNvPr id="5" name="Text 3"/>
          <p:cNvSpPr txBox="1"/>
          <p:nvPr/>
        </p:nvSpPr>
        <p:spPr>
          <a:xfrm>
            <a:off x="822960" y="1097280"/>
            <a:ext cx="5760720" cy="1371600"/>
          </a:xfrm>
          <a:prstGeom prst="rect">
            <a:avLst/>
          </a:prstGeom>
          <a:noFill/>
          <a:ln/>
        </p:spPr>
        <p:txBody>
          <a:bodyPr wrap="square" lIns="0" tIns="0" rIns="0" bIns="0" rtlCol="0" anchor="t"/>
          <a:lstStyle/>
          <a:p>
            <a:pPr indent="0" marL="0">
              <a:lnSpc>
                <a:spcPct val="98000"/>
              </a:lnSpc>
              <a:buNone/>
            </a:pPr>
            <a:r>
              <a:rPr lang="en-US" sz="3200" b="1" dirty="0">
                <a:solidFill>
                  <a:srgbClr val="1D1A15"/>
                </a:solidFill>
                <a:latin typeface="Georgia" pitchFamily="34" charset="0"/>
                <a:ea typeface="Georgia" pitchFamily="34" charset="-122"/>
                <a:cs typeface="Georgia" pitchFamily="34" charset="-120"/>
              </a:rPr>
              <a:t>Schools directory</a:t>
            </a:r>
            <a:endParaRPr lang="en-US" sz="3200" dirty="0"/>
          </a:p>
        </p:txBody>
      </p:sp>
      <p:sp>
        <p:nvSpPr>
          <p:cNvPr id="6" name="Text 4"/>
          <p:cNvSpPr txBox="1"/>
          <p:nvPr/>
        </p:nvSpPr>
        <p:spPr>
          <a:xfrm>
            <a:off x="822960" y="2286000"/>
            <a:ext cx="5760720" cy="1371600"/>
          </a:xfrm>
          <a:prstGeom prst="rect">
            <a:avLst/>
          </a:prstGeom>
          <a:noFill/>
          <a:ln/>
        </p:spPr>
        <p:txBody>
          <a:bodyPr wrap="square" lIns="0" tIns="0" rIns="0" bIns="0" rtlCol="0" anchor="t"/>
          <a:lstStyle/>
          <a:p>
            <a:pPr indent="0" marL="0">
              <a:lnSpc>
                <a:spcPct val="115000"/>
              </a:lnSpc>
              <a:buNone/>
            </a:pPr>
            <a:r>
              <a:rPr lang="en-US" sz="1500" dirty="0">
                <a:solidFill>
                  <a:srgbClr val="7A7266"/>
                </a:solidFill>
                <a:latin typeface="Calibri" pitchFamily="34" charset="0"/>
                <a:ea typeface="Calibri" pitchFamily="34" charset="-122"/>
                <a:cs typeface="Calibri" pitchFamily="34" charset="-120"/>
              </a:rPr>
              <a:t>A Salesforce-powered directory that separates schools still being set up from active customers, with a state filter and a rooftop map.</a:t>
            </a:r>
            <a:endParaRPr lang="en-US" sz="1500" dirty="0"/>
          </a:p>
        </p:txBody>
      </p:sp>
      <p:sp>
        <p:nvSpPr>
          <p:cNvPr id="7" name="Shape 5"/>
          <p:cNvSpPr/>
          <p:nvPr/>
        </p:nvSpPr>
        <p:spPr>
          <a:xfrm>
            <a:off x="822960" y="3657600"/>
            <a:ext cx="1883664" cy="384048"/>
          </a:xfrm>
          <a:prstGeom prst="roundRect">
            <a:avLst>
              <a:gd name="adj" fmla="val 50000"/>
            </a:avLst>
          </a:prstGeom>
          <a:solidFill>
            <a:srgbClr val="FFFFFF"/>
          </a:solidFill>
          <a:ln w="12700">
            <a:solidFill>
              <a:srgbClr val="E4DCC9"/>
            </a:solidFill>
            <a:prstDash val="solid"/>
          </a:ln>
        </p:spPr>
      </p:sp>
      <p:sp>
        <p:nvSpPr>
          <p:cNvPr id="8" name="Text 6"/>
          <p:cNvSpPr txBox="1"/>
          <p:nvPr/>
        </p:nvSpPr>
        <p:spPr>
          <a:xfrm>
            <a:off x="969264" y="3639312"/>
            <a:ext cx="1609344" cy="420624"/>
          </a:xfrm>
          <a:prstGeom prst="rect">
            <a:avLst/>
          </a:prstGeom>
          <a:noFill/>
          <a:ln/>
        </p:spPr>
        <p:txBody>
          <a:bodyPr wrap="square" lIns="0" tIns="0" rIns="0" bIns="0" rtlCol="0" anchor="ctr"/>
          <a:lstStyle/>
          <a:p>
            <a:pPr indent="0" marL="0">
              <a:buNone/>
            </a:pPr>
            <a:r>
              <a:rPr lang="en-US" sz="1050" dirty="0">
                <a:solidFill>
                  <a:srgbClr val="1D1A15"/>
                </a:solidFill>
                <a:latin typeface="Calibri" pitchFamily="34" charset="0"/>
                <a:ea typeface="Calibri" pitchFamily="34" charset="-122"/>
                <a:cs typeface="Calibri" pitchFamily="34" charset="-120"/>
              </a:rPr>
              <a:t>Live from Salesforce</a:t>
            </a:r>
            <a:endParaRPr lang="en-US" sz="1050" dirty="0"/>
          </a:p>
        </p:txBody>
      </p:sp>
      <p:sp>
        <p:nvSpPr>
          <p:cNvPr id="9" name="Shape 7"/>
          <p:cNvSpPr/>
          <p:nvPr/>
        </p:nvSpPr>
        <p:spPr>
          <a:xfrm>
            <a:off x="2871216" y="3657600"/>
            <a:ext cx="1808683" cy="384048"/>
          </a:xfrm>
          <a:prstGeom prst="roundRect">
            <a:avLst>
              <a:gd name="adj" fmla="val 50000"/>
            </a:avLst>
          </a:prstGeom>
          <a:solidFill>
            <a:srgbClr val="FFFFFF"/>
          </a:solidFill>
          <a:ln w="12700">
            <a:solidFill>
              <a:srgbClr val="E4DCC9"/>
            </a:solidFill>
            <a:prstDash val="solid"/>
          </a:ln>
        </p:spPr>
      </p:sp>
      <p:sp>
        <p:nvSpPr>
          <p:cNvPr id="10" name="Text 8"/>
          <p:cNvSpPr txBox="1"/>
          <p:nvPr/>
        </p:nvSpPr>
        <p:spPr>
          <a:xfrm>
            <a:off x="3017520" y="3639312"/>
            <a:ext cx="1534363" cy="420624"/>
          </a:xfrm>
          <a:prstGeom prst="rect">
            <a:avLst/>
          </a:prstGeom>
          <a:noFill/>
          <a:ln/>
        </p:spPr>
        <p:txBody>
          <a:bodyPr wrap="square" lIns="0" tIns="0" rIns="0" bIns="0" rtlCol="0" anchor="ctr"/>
          <a:lstStyle/>
          <a:p>
            <a:pPr indent="0" marL="0">
              <a:buNone/>
            </a:pPr>
            <a:r>
              <a:rPr lang="en-US" sz="1050" dirty="0">
                <a:solidFill>
                  <a:srgbClr val="1D1A15"/>
                </a:solidFill>
                <a:latin typeface="Calibri" pitchFamily="34" charset="0"/>
                <a:ea typeface="Calibri" pitchFamily="34" charset="-122"/>
                <a:cs typeface="Calibri" pitchFamily="34" charset="-120"/>
              </a:rPr>
              <a:t>Onboarding · Active</a:t>
            </a:r>
            <a:endParaRPr lang="en-US" sz="1050" dirty="0"/>
          </a:p>
        </p:txBody>
      </p:sp>
      <p:sp>
        <p:nvSpPr>
          <p:cNvPr id="11" name="Shape 9"/>
          <p:cNvSpPr/>
          <p:nvPr/>
        </p:nvSpPr>
        <p:spPr>
          <a:xfrm>
            <a:off x="6565392" y="1237246"/>
            <a:ext cx="5385816" cy="4383507"/>
          </a:xfrm>
          <a:prstGeom prst="roundRect">
            <a:avLst>
              <a:gd name="adj" fmla="val 1252"/>
            </a:avLst>
          </a:prstGeom>
          <a:solidFill>
            <a:srgbClr val="FFFFFF"/>
          </a:solidFill>
          <a:ln w="12700">
            <a:solidFill>
              <a:srgbClr val="E4DCC9"/>
            </a:solidFill>
            <a:prstDash val="solid"/>
          </a:ln>
          <a:effectLst>
            <a:outerShdw sx="100000" sy="100000" kx="0" ky="0" algn="bl" rotWithShape="0" blurRad="127000" dist="38100" dir="5400000">
              <a:srgbClr val="6B6252">
                <a:alpha val="35000"/>
              </a:srgbClr>
            </a:outerShdw>
          </a:effectLst>
        </p:spPr>
      </p:sp>
      <p:pic>
        <p:nvPicPr>
          <p:cNvPr id="12" name="Image 0" descr="/private/tmp/claude-502/-Users-DRBTroy-Documents-Projects-DeepRoots/3b403855-4530-4100-a3e2-ac51fe60ce6e/scratchpad/screens/schools-directory.png">    </p:cNvPr>
          <p:cNvPicPr>
            <a:picLocks noChangeAspect="1"/>
          </p:cNvPicPr>
          <p:nvPr/>
        </p:nvPicPr>
        <p:blipFill>
          <a:blip r:embed="rId1"/>
          <a:stretch>
            <a:fillRect/>
          </a:stretch>
        </p:blipFill>
        <p:spPr>
          <a:xfrm>
            <a:off x="6629400" y="1301254"/>
            <a:ext cx="5257800" cy="425549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822960" y="777240"/>
            <a:ext cx="7315200" cy="274320"/>
          </a:xfrm>
          <a:prstGeom prst="rect">
            <a:avLst/>
          </a:prstGeom>
          <a:noFill/>
          <a:ln/>
        </p:spPr>
        <p:txBody>
          <a:bodyPr wrap="square" lIns="0" tIns="0" rIns="0" bIns="0" rtlCol="0" anchor="ctr"/>
          <a:lstStyle/>
          <a:p>
            <a:pPr indent="0" marL="0">
              <a:buNone/>
            </a:pPr>
            <a:r>
              <a:rPr lang="en-US" sz="1100" b="1" spc="300" kern="0" dirty="0">
                <a:solidFill>
                  <a:srgbClr val="9C7C2E"/>
                </a:solidFill>
                <a:latin typeface="Calibri" pitchFamily="34" charset="0"/>
                <a:ea typeface="Calibri" pitchFamily="34" charset="-122"/>
                <a:cs typeface="Calibri" pitchFamily="34" charset="-120"/>
              </a:rPr>
              <a:t>SCHOOL PORTAL · SCHOOL PAGE</a:t>
            </a:r>
            <a:endParaRPr lang="en-US" sz="1100" dirty="0"/>
          </a:p>
        </p:txBody>
      </p:sp>
      <p:sp>
        <p:nvSpPr>
          <p:cNvPr id="3" name="Shape 1"/>
          <p:cNvSpPr/>
          <p:nvPr/>
        </p:nvSpPr>
        <p:spPr>
          <a:xfrm>
            <a:off x="10314432" y="731520"/>
            <a:ext cx="1051560" cy="310896"/>
          </a:xfrm>
          <a:prstGeom prst="roundRect">
            <a:avLst>
              <a:gd name="adj" fmla="val 50000"/>
            </a:avLst>
          </a:prstGeom>
          <a:solidFill>
            <a:srgbClr val="F3E7C8"/>
          </a:solidFill>
          <a:ln w="9525">
            <a:solidFill>
              <a:srgbClr val="9C7C2E"/>
            </a:solidFill>
            <a:prstDash val="solid"/>
          </a:ln>
        </p:spPr>
      </p:sp>
      <p:sp>
        <p:nvSpPr>
          <p:cNvPr id="4" name="Text 2"/>
          <p:cNvSpPr txBox="1"/>
          <p:nvPr/>
        </p:nvSpPr>
        <p:spPr>
          <a:xfrm>
            <a:off x="10314432" y="722376"/>
            <a:ext cx="1051560" cy="320040"/>
          </a:xfrm>
          <a:prstGeom prst="rect">
            <a:avLst/>
          </a:prstGeom>
          <a:noFill/>
          <a:ln/>
        </p:spPr>
        <p:txBody>
          <a:bodyPr wrap="square" lIns="0" tIns="0" rIns="0" bIns="0" rtlCol="0" anchor="ctr"/>
          <a:lstStyle/>
          <a:p>
            <a:pPr algn="ctr" indent="0" marL="0">
              <a:buNone/>
            </a:pPr>
            <a:r>
              <a:rPr lang="en-US" sz="850" b="1" spc="100" kern="0" dirty="0">
                <a:solidFill>
                  <a:srgbClr val="7A5A12"/>
                </a:solidFill>
                <a:latin typeface="Calibri" pitchFamily="34" charset="0"/>
                <a:ea typeface="Calibri" pitchFamily="34" charset="-122"/>
                <a:cs typeface="Calibri" pitchFamily="34" charset="-120"/>
              </a:rPr>
              <a:t>PHASE 2</a:t>
            </a:r>
            <a:endParaRPr lang="en-US" sz="850" dirty="0"/>
          </a:p>
        </p:txBody>
      </p:sp>
      <p:sp>
        <p:nvSpPr>
          <p:cNvPr id="5" name="Text 3"/>
          <p:cNvSpPr txBox="1"/>
          <p:nvPr/>
        </p:nvSpPr>
        <p:spPr>
          <a:xfrm>
            <a:off x="822960" y="1097280"/>
            <a:ext cx="5760720" cy="1371600"/>
          </a:xfrm>
          <a:prstGeom prst="rect">
            <a:avLst/>
          </a:prstGeom>
          <a:noFill/>
          <a:ln/>
        </p:spPr>
        <p:txBody>
          <a:bodyPr wrap="square" lIns="0" tIns="0" rIns="0" bIns="0" rtlCol="0" anchor="t"/>
          <a:lstStyle/>
          <a:p>
            <a:pPr indent="0" marL="0">
              <a:lnSpc>
                <a:spcPct val="98000"/>
              </a:lnSpc>
              <a:buNone/>
            </a:pPr>
            <a:r>
              <a:rPr lang="en-US" sz="3000" b="1" dirty="0">
                <a:solidFill>
                  <a:srgbClr val="1D1A15"/>
                </a:solidFill>
                <a:latin typeface="Georgia" pitchFamily="34" charset="0"/>
                <a:ea typeface="Georgia" pitchFamily="34" charset="-122"/>
                <a:cs typeface="Georgia" pitchFamily="34" charset="-120"/>
              </a:rPr>
              <a:t>The school page</a:t>
            </a:r>
            <a:endParaRPr lang="en-US" sz="3000" dirty="0"/>
          </a:p>
        </p:txBody>
      </p:sp>
      <p:sp>
        <p:nvSpPr>
          <p:cNvPr id="6" name="Text 4"/>
          <p:cNvSpPr txBox="1"/>
          <p:nvPr/>
        </p:nvSpPr>
        <p:spPr>
          <a:xfrm>
            <a:off x="822960" y="2286000"/>
            <a:ext cx="5760720" cy="1371600"/>
          </a:xfrm>
          <a:prstGeom prst="rect">
            <a:avLst/>
          </a:prstGeom>
          <a:noFill/>
          <a:ln/>
        </p:spPr>
        <p:txBody>
          <a:bodyPr wrap="square" lIns="0" tIns="0" rIns="0" bIns="0" rtlCol="0" anchor="t"/>
          <a:lstStyle/>
          <a:p>
            <a:pPr indent="0" marL="0">
              <a:lnSpc>
                <a:spcPct val="115000"/>
              </a:lnSpc>
              <a:buNone/>
            </a:pPr>
            <a:r>
              <a:rPr lang="en-US" sz="1500" dirty="0">
                <a:solidFill>
                  <a:srgbClr val="7A7266"/>
                </a:solidFill>
                <a:latin typeface="Calibri" pitchFamily="34" charset="0"/>
                <a:ea typeface="Calibri" pitchFamily="34" charset="-122"/>
                <a:cs typeface="Calibri" pitchFamily="34" charset="-120"/>
              </a:rPr>
              <a:t>A rich per-school profile: every teacher and admin you can contact right here, analytics on who's logging into the curriculum, the school logo and tiered partner badge, a rooftop map, financial history from Salesforce, and a rotating social spotlight.</a:t>
            </a:r>
            <a:endParaRPr lang="en-US" sz="1500" dirty="0"/>
          </a:p>
        </p:txBody>
      </p:sp>
      <p:sp>
        <p:nvSpPr>
          <p:cNvPr id="7" name="Shape 5"/>
          <p:cNvSpPr/>
          <p:nvPr/>
        </p:nvSpPr>
        <p:spPr>
          <a:xfrm>
            <a:off x="822960" y="3657600"/>
            <a:ext cx="2633472" cy="384048"/>
          </a:xfrm>
          <a:prstGeom prst="roundRect">
            <a:avLst>
              <a:gd name="adj" fmla="val 50000"/>
            </a:avLst>
          </a:prstGeom>
          <a:solidFill>
            <a:srgbClr val="FFFFFF"/>
          </a:solidFill>
          <a:ln w="12700">
            <a:solidFill>
              <a:srgbClr val="E4DCC9"/>
            </a:solidFill>
            <a:prstDash val="solid"/>
          </a:ln>
        </p:spPr>
      </p:sp>
      <p:sp>
        <p:nvSpPr>
          <p:cNvPr id="8" name="Text 6"/>
          <p:cNvSpPr txBox="1"/>
          <p:nvPr/>
        </p:nvSpPr>
        <p:spPr>
          <a:xfrm>
            <a:off x="969264" y="3639312"/>
            <a:ext cx="2359152" cy="420624"/>
          </a:xfrm>
          <a:prstGeom prst="rect">
            <a:avLst/>
          </a:prstGeom>
          <a:noFill/>
          <a:ln/>
        </p:spPr>
        <p:txBody>
          <a:bodyPr wrap="square" lIns="0" tIns="0" rIns="0" bIns="0" rtlCol="0" anchor="ctr"/>
          <a:lstStyle/>
          <a:p>
            <a:pPr indent="0" marL="0">
              <a:buNone/>
            </a:pPr>
            <a:r>
              <a:rPr lang="en-US" sz="1050" dirty="0">
                <a:solidFill>
                  <a:srgbClr val="1D1A15"/>
                </a:solidFill>
                <a:latin typeface="Calibri" pitchFamily="34" charset="0"/>
                <a:ea typeface="Calibri" pitchFamily="34" charset="-122"/>
                <a:cs typeface="Calibri" pitchFamily="34" charset="-120"/>
              </a:rPr>
              <a:t>Partner tiers · Bronze to Navy</a:t>
            </a:r>
            <a:endParaRPr lang="en-US" sz="1050" dirty="0"/>
          </a:p>
        </p:txBody>
      </p:sp>
      <p:sp>
        <p:nvSpPr>
          <p:cNvPr id="9" name="Shape 7"/>
          <p:cNvSpPr/>
          <p:nvPr/>
        </p:nvSpPr>
        <p:spPr>
          <a:xfrm>
            <a:off x="3621024" y="3657600"/>
            <a:ext cx="2258568" cy="384048"/>
          </a:xfrm>
          <a:prstGeom prst="roundRect">
            <a:avLst>
              <a:gd name="adj" fmla="val 50000"/>
            </a:avLst>
          </a:prstGeom>
          <a:solidFill>
            <a:srgbClr val="FFFFFF"/>
          </a:solidFill>
          <a:ln w="12700">
            <a:solidFill>
              <a:srgbClr val="E4DCC9"/>
            </a:solidFill>
            <a:prstDash val="solid"/>
          </a:ln>
        </p:spPr>
      </p:sp>
      <p:sp>
        <p:nvSpPr>
          <p:cNvPr id="10" name="Shape 8"/>
          <p:cNvSpPr/>
          <p:nvPr/>
        </p:nvSpPr>
        <p:spPr>
          <a:xfrm>
            <a:off x="3767328" y="3799332"/>
            <a:ext cx="100584" cy="100584"/>
          </a:xfrm>
          <a:prstGeom prst="ellipse">
            <a:avLst/>
          </a:prstGeom>
          <a:solidFill>
            <a:srgbClr val="B0842F"/>
          </a:solidFill>
          <a:ln/>
        </p:spPr>
      </p:sp>
      <p:sp>
        <p:nvSpPr>
          <p:cNvPr id="11" name="Text 9"/>
          <p:cNvSpPr txBox="1"/>
          <p:nvPr/>
        </p:nvSpPr>
        <p:spPr>
          <a:xfrm>
            <a:off x="3931920" y="3639312"/>
            <a:ext cx="1984248" cy="420624"/>
          </a:xfrm>
          <a:prstGeom prst="rect">
            <a:avLst/>
          </a:prstGeom>
          <a:noFill/>
          <a:ln/>
        </p:spPr>
        <p:txBody>
          <a:bodyPr wrap="square" lIns="0" tIns="0" rIns="0" bIns="0" rtlCol="0" anchor="ctr"/>
          <a:lstStyle/>
          <a:p>
            <a:pPr indent="0" marL="0">
              <a:buNone/>
            </a:pPr>
            <a:r>
              <a:rPr lang="en-US" sz="1050" dirty="0">
                <a:solidFill>
                  <a:srgbClr val="1D1A15"/>
                </a:solidFill>
                <a:latin typeface="Calibri" pitchFamily="34" charset="0"/>
                <a:ea typeface="Calibri" pitchFamily="34" charset="-122"/>
                <a:cs typeface="Calibri" pitchFamily="34" charset="-120"/>
              </a:rPr>
              <a:t>From Salesforce · planned</a:t>
            </a:r>
            <a:endParaRPr lang="en-US" sz="1050" dirty="0"/>
          </a:p>
        </p:txBody>
      </p:sp>
      <p:sp>
        <p:nvSpPr>
          <p:cNvPr id="12" name="Shape 10"/>
          <p:cNvSpPr/>
          <p:nvPr/>
        </p:nvSpPr>
        <p:spPr>
          <a:xfrm>
            <a:off x="6565392" y="1242064"/>
            <a:ext cx="5385816" cy="4373873"/>
          </a:xfrm>
          <a:prstGeom prst="roundRect">
            <a:avLst>
              <a:gd name="adj" fmla="val 1254"/>
            </a:avLst>
          </a:prstGeom>
          <a:solidFill>
            <a:srgbClr val="FFFFFF"/>
          </a:solidFill>
          <a:ln w="12700">
            <a:solidFill>
              <a:srgbClr val="E4DCC9"/>
            </a:solidFill>
            <a:prstDash val="solid"/>
          </a:ln>
          <a:effectLst>
            <a:outerShdw sx="100000" sy="100000" kx="0" ky="0" algn="bl" rotWithShape="0" blurRad="127000" dist="38100" dir="5400000">
              <a:srgbClr val="6B6252">
                <a:alpha val="35000"/>
              </a:srgbClr>
            </a:outerShdw>
          </a:effectLst>
        </p:spPr>
      </p:sp>
      <p:pic>
        <p:nvPicPr>
          <p:cNvPr id="13" name="Image 0" descr="/private/tmp/claude-502/-Users-DRBTroy-Documents-Projects-DeepRoots/3b403855-4530-4100-a3e2-ac51fe60ce6e/scratchpad/screens/school-page.png">    </p:cNvPr>
          <p:cNvPicPr>
            <a:picLocks noChangeAspect="1"/>
          </p:cNvPicPr>
          <p:nvPr/>
        </p:nvPicPr>
        <p:blipFill>
          <a:blip r:embed="rId1"/>
          <a:stretch>
            <a:fillRect/>
          </a:stretch>
        </p:blipFill>
        <p:spPr>
          <a:xfrm>
            <a:off x="6629400" y="1306072"/>
            <a:ext cx="5257800" cy="4245857"/>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822960" y="777240"/>
            <a:ext cx="7315200" cy="274320"/>
          </a:xfrm>
          <a:prstGeom prst="rect">
            <a:avLst/>
          </a:prstGeom>
          <a:noFill/>
          <a:ln/>
        </p:spPr>
        <p:txBody>
          <a:bodyPr wrap="square" lIns="0" tIns="0" rIns="0" bIns="0" rtlCol="0" anchor="ctr"/>
          <a:lstStyle/>
          <a:p>
            <a:pPr indent="0" marL="0">
              <a:buNone/>
            </a:pPr>
            <a:r>
              <a:rPr lang="en-US" sz="1100" b="1" spc="300" kern="0" dirty="0">
                <a:solidFill>
                  <a:srgbClr val="9C7C2E"/>
                </a:solidFill>
                <a:latin typeface="Calibri" pitchFamily="34" charset="0"/>
                <a:ea typeface="Calibri" pitchFamily="34" charset="-122"/>
                <a:cs typeface="Calibri" pitchFamily="34" charset="-120"/>
              </a:rPr>
              <a:t>SCHOOL PORTAL · ONBOARDING</a:t>
            </a:r>
            <a:endParaRPr lang="en-US" sz="1100" dirty="0"/>
          </a:p>
        </p:txBody>
      </p:sp>
      <p:sp>
        <p:nvSpPr>
          <p:cNvPr id="3" name="Shape 1"/>
          <p:cNvSpPr/>
          <p:nvPr/>
        </p:nvSpPr>
        <p:spPr>
          <a:xfrm>
            <a:off x="10314432" y="731520"/>
            <a:ext cx="1051560" cy="310896"/>
          </a:xfrm>
          <a:prstGeom prst="roundRect">
            <a:avLst>
              <a:gd name="adj" fmla="val 50000"/>
            </a:avLst>
          </a:prstGeom>
          <a:solidFill>
            <a:srgbClr val="F3E7C8"/>
          </a:solidFill>
          <a:ln w="9525">
            <a:solidFill>
              <a:srgbClr val="9C7C2E"/>
            </a:solidFill>
            <a:prstDash val="solid"/>
          </a:ln>
        </p:spPr>
      </p:sp>
      <p:sp>
        <p:nvSpPr>
          <p:cNvPr id="4" name="Text 2"/>
          <p:cNvSpPr txBox="1"/>
          <p:nvPr/>
        </p:nvSpPr>
        <p:spPr>
          <a:xfrm>
            <a:off x="10314432" y="722376"/>
            <a:ext cx="1051560" cy="320040"/>
          </a:xfrm>
          <a:prstGeom prst="rect">
            <a:avLst/>
          </a:prstGeom>
          <a:noFill/>
          <a:ln/>
        </p:spPr>
        <p:txBody>
          <a:bodyPr wrap="square" lIns="0" tIns="0" rIns="0" bIns="0" rtlCol="0" anchor="ctr"/>
          <a:lstStyle/>
          <a:p>
            <a:pPr algn="ctr" indent="0" marL="0">
              <a:buNone/>
            </a:pPr>
            <a:r>
              <a:rPr lang="en-US" sz="850" b="1" spc="100" kern="0" dirty="0">
                <a:solidFill>
                  <a:srgbClr val="7A5A12"/>
                </a:solidFill>
                <a:latin typeface="Calibri" pitchFamily="34" charset="0"/>
                <a:ea typeface="Calibri" pitchFamily="34" charset="-122"/>
                <a:cs typeface="Calibri" pitchFamily="34" charset="-120"/>
              </a:rPr>
              <a:t>PHASE 2</a:t>
            </a:r>
            <a:endParaRPr lang="en-US" sz="850" dirty="0"/>
          </a:p>
        </p:txBody>
      </p:sp>
      <p:sp>
        <p:nvSpPr>
          <p:cNvPr id="5" name="Text 3"/>
          <p:cNvSpPr txBox="1"/>
          <p:nvPr/>
        </p:nvSpPr>
        <p:spPr>
          <a:xfrm>
            <a:off x="822960" y="1097280"/>
            <a:ext cx="5760720" cy="1371600"/>
          </a:xfrm>
          <a:prstGeom prst="rect">
            <a:avLst/>
          </a:prstGeom>
          <a:noFill/>
          <a:ln/>
        </p:spPr>
        <p:txBody>
          <a:bodyPr wrap="square" lIns="0" tIns="0" rIns="0" bIns="0" rtlCol="0" anchor="t"/>
          <a:lstStyle/>
          <a:p>
            <a:pPr indent="0" marL="0">
              <a:lnSpc>
                <a:spcPct val="98000"/>
              </a:lnSpc>
              <a:buNone/>
            </a:pPr>
            <a:r>
              <a:rPr lang="en-US" sz="3200" b="1" dirty="0">
                <a:solidFill>
                  <a:srgbClr val="1D1A15"/>
                </a:solidFill>
                <a:latin typeface="Georgia" pitchFamily="34" charset="0"/>
                <a:ea typeface="Georgia" pitchFamily="34" charset="-122"/>
                <a:cs typeface="Georgia" pitchFamily="34" charset="-120"/>
              </a:rPr>
              <a:t>Schools in onboarding</a:t>
            </a:r>
            <a:endParaRPr lang="en-US" sz="3200" dirty="0"/>
          </a:p>
        </p:txBody>
      </p:sp>
      <p:sp>
        <p:nvSpPr>
          <p:cNvPr id="6" name="Text 4"/>
          <p:cNvSpPr txBox="1"/>
          <p:nvPr/>
        </p:nvSpPr>
        <p:spPr>
          <a:xfrm>
            <a:off x="822960" y="2286000"/>
            <a:ext cx="5760720" cy="1371600"/>
          </a:xfrm>
          <a:prstGeom prst="rect">
            <a:avLst/>
          </a:prstGeom>
          <a:noFill/>
          <a:ln/>
        </p:spPr>
        <p:txBody>
          <a:bodyPr wrap="square" lIns="0" tIns="0" rIns="0" bIns="0" rtlCol="0" anchor="t"/>
          <a:lstStyle/>
          <a:p>
            <a:pPr indent="0" marL="0">
              <a:lnSpc>
                <a:spcPct val="115000"/>
              </a:lnSpc>
              <a:buNone/>
            </a:pPr>
            <a:r>
              <a:rPr lang="en-US" sz="1500" dirty="0">
                <a:solidFill>
                  <a:srgbClr val="7A7266"/>
                </a:solidFill>
                <a:latin typeface="Calibri" pitchFamily="34" charset="0"/>
                <a:ea typeface="Calibri" pitchFamily="34" charset="-122"/>
                <a:cs typeface="Calibri" pitchFamily="34" charset="-120"/>
              </a:rPr>
              <a:t>Schools working through setup with the DeepRoots team, each with a live progress tracker; when onboarding completes, a school moves to Active.</a:t>
            </a:r>
            <a:endParaRPr lang="en-US" sz="1500" dirty="0"/>
          </a:p>
        </p:txBody>
      </p:sp>
      <p:sp>
        <p:nvSpPr>
          <p:cNvPr id="7" name="Shape 5"/>
          <p:cNvSpPr/>
          <p:nvPr/>
        </p:nvSpPr>
        <p:spPr>
          <a:xfrm>
            <a:off x="822960" y="3657600"/>
            <a:ext cx="1733702" cy="384048"/>
          </a:xfrm>
          <a:prstGeom prst="roundRect">
            <a:avLst>
              <a:gd name="adj" fmla="val 50000"/>
            </a:avLst>
          </a:prstGeom>
          <a:solidFill>
            <a:srgbClr val="FFFFFF"/>
          </a:solidFill>
          <a:ln w="12700">
            <a:solidFill>
              <a:srgbClr val="E4DCC9"/>
            </a:solidFill>
            <a:prstDash val="solid"/>
          </a:ln>
        </p:spPr>
      </p:sp>
      <p:sp>
        <p:nvSpPr>
          <p:cNvPr id="8" name="Text 6"/>
          <p:cNvSpPr txBox="1"/>
          <p:nvPr/>
        </p:nvSpPr>
        <p:spPr>
          <a:xfrm>
            <a:off x="969264" y="3639312"/>
            <a:ext cx="1459382" cy="420624"/>
          </a:xfrm>
          <a:prstGeom prst="rect">
            <a:avLst/>
          </a:prstGeom>
          <a:noFill/>
          <a:ln/>
        </p:spPr>
        <p:txBody>
          <a:bodyPr wrap="square" lIns="0" tIns="0" rIns="0" bIns="0" rtlCol="0" anchor="ctr"/>
          <a:lstStyle/>
          <a:p>
            <a:pPr indent="0" marL="0">
              <a:buNone/>
            </a:pPr>
            <a:r>
              <a:rPr lang="en-US" sz="1050" dirty="0">
                <a:solidFill>
                  <a:srgbClr val="1D1A15"/>
                </a:solidFill>
                <a:latin typeface="Calibri" pitchFamily="34" charset="0"/>
                <a:ea typeface="Calibri" pitchFamily="34" charset="-122"/>
                <a:cs typeface="Calibri" pitchFamily="34" charset="-120"/>
              </a:rPr>
              <a:t>Per-school tracker</a:t>
            </a:r>
            <a:endParaRPr lang="en-US" sz="1050" dirty="0"/>
          </a:p>
        </p:txBody>
      </p:sp>
      <p:sp>
        <p:nvSpPr>
          <p:cNvPr id="9" name="Shape 7"/>
          <p:cNvSpPr/>
          <p:nvPr/>
        </p:nvSpPr>
        <p:spPr>
          <a:xfrm>
            <a:off x="2721254" y="3657600"/>
            <a:ext cx="1283818" cy="384048"/>
          </a:xfrm>
          <a:prstGeom prst="roundRect">
            <a:avLst>
              <a:gd name="adj" fmla="val 50000"/>
            </a:avLst>
          </a:prstGeom>
          <a:solidFill>
            <a:srgbClr val="FFFFFF"/>
          </a:solidFill>
          <a:ln w="12700">
            <a:solidFill>
              <a:srgbClr val="E4DCC9"/>
            </a:solidFill>
            <a:prstDash val="solid"/>
          </a:ln>
        </p:spPr>
      </p:sp>
      <p:sp>
        <p:nvSpPr>
          <p:cNvPr id="10" name="Shape 8"/>
          <p:cNvSpPr/>
          <p:nvPr/>
        </p:nvSpPr>
        <p:spPr>
          <a:xfrm>
            <a:off x="2867558" y="3799332"/>
            <a:ext cx="100584" cy="100584"/>
          </a:xfrm>
          <a:prstGeom prst="ellipse">
            <a:avLst/>
          </a:prstGeom>
          <a:solidFill>
            <a:srgbClr val="7A7266"/>
          </a:solidFill>
          <a:ln/>
        </p:spPr>
      </p:sp>
      <p:sp>
        <p:nvSpPr>
          <p:cNvPr id="11" name="Text 9"/>
          <p:cNvSpPr txBox="1"/>
          <p:nvPr/>
        </p:nvSpPr>
        <p:spPr>
          <a:xfrm>
            <a:off x="3032150" y="3639312"/>
            <a:ext cx="1009498" cy="420624"/>
          </a:xfrm>
          <a:prstGeom prst="rect">
            <a:avLst/>
          </a:prstGeom>
          <a:noFill/>
          <a:ln/>
        </p:spPr>
        <p:txBody>
          <a:bodyPr wrap="square" lIns="0" tIns="0" rIns="0" bIns="0" rtlCol="0" anchor="ctr"/>
          <a:lstStyle/>
          <a:p>
            <a:pPr indent="0" marL="0">
              <a:buNone/>
            </a:pPr>
            <a:r>
              <a:rPr lang="en-US" sz="1050" dirty="0">
                <a:solidFill>
                  <a:srgbClr val="1D1A15"/>
                </a:solidFill>
                <a:latin typeface="Calibri" pitchFamily="34" charset="0"/>
                <a:ea typeface="Calibri" pitchFamily="34" charset="-122"/>
                <a:cs typeface="Calibri" pitchFamily="34" charset="-120"/>
              </a:rPr>
              <a:t>Illustrative</a:t>
            </a:r>
            <a:endParaRPr lang="en-US" sz="1050" dirty="0"/>
          </a:p>
        </p:txBody>
      </p:sp>
      <p:sp>
        <p:nvSpPr>
          <p:cNvPr id="12" name="Shape 10"/>
          <p:cNvSpPr/>
          <p:nvPr/>
        </p:nvSpPr>
        <p:spPr>
          <a:xfrm>
            <a:off x="6565392" y="1780940"/>
            <a:ext cx="5385816" cy="3296120"/>
          </a:xfrm>
          <a:prstGeom prst="roundRect">
            <a:avLst>
              <a:gd name="adj" fmla="val 1665"/>
            </a:avLst>
          </a:prstGeom>
          <a:solidFill>
            <a:srgbClr val="FFFFFF"/>
          </a:solidFill>
          <a:ln w="12700">
            <a:solidFill>
              <a:srgbClr val="E4DCC9"/>
            </a:solidFill>
            <a:prstDash val="solid"/>
          </a:ln>
          <a:effectLst>
            <a:outerShdw sx="100000" sy="100000" kx="0" ky="0" algn="bl" rotWithShape="0" blurRad="127000" dist="38100" dir="5400000">
              <a:srgbClr val="6B6252">
                <a:alpha val="35000"/>
              </a:srgbClr>
            </a:outerShdw>
          </a:effectLst>
        </p:spPr>
      </p:sp>
      <p:pic>
        <p:nvPicPr>
          <p:cNvPr id="13" name="Image 0" descr="/private/tmp/claude-502/-Users-DRBTroy-Documents-Projects-DeepRoots/3b403855-4530-4100-a3e2-ac51fe60ce6e/scratchpad/screens/onboarding.png">    </p:cNvPr>
          <p:cNvPicPr>
            <a:picLocks noChangeAspect="1"/>
          </p:cNvPicPr>
          <p:nvPr/>
        </p:nvPicPr>
        <p:blipFill>
          <a:blip r:embed="rId1"/>
          <a:stretch>
            <a:fillRect/>
          </a:stretch>
        </p:blipFill>
        <p:spPr>
          <a:xfrm>
            <a:off x="6629400" y="1844948"/>
            <a:ext cx="5257800" cy="316810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11B12"/>
        </a:solidFill>
      </p:bgPr>
    </p:bg>
    <p:spTree>
      <p:nvGrpSpPr>
        <p:cNvPr id="1" name=""/>
        <p:cNvGrpSpPr/>
        <p:nvPr/>
      </p:nvGrpSpPr>
      <p:grpSpPr>
        <a:xfrm>
          <a:off x="0" y="0"/>
          <a:ext cx="0" cy="0"/>
          <a:chOff x="0" y="0"/>
          <a:chExt cx="0" cy="0"/>
        </a:xfrm>
      </p:grpSpPr>
      <p:sp>
        <p:nvSpPr>
          <p:cNvPr id="2" name="Shape 0"/>
          <p:cNvSpPr/>
          <p:nvPr/>
        </p:nvSpPr>
        <p:spPr>
          <a:xfrm>
            <a:off x="9079992" y="-1463040"/>
            <a:ext cx="4206240" cy="4206240"/>
          </a:xfrm>
          <a:prstGeom prst="ellipse">
            <a:avLst/>
          </a:prstGeom>
          <a:ln w="15875">
            <a:solidFill>
              <a:srgbClr val="9C7C2E">
                <a:alpha val="45000"/>
              </a:srgbClr>
            </a:solidFill>
            <a:prstDash val="solid"/>
          </a:ln>
        </p:spPr>
      </p:sp>
      <p:sp>
        <p:nvSpPr>
          <p:cNvPr id="3" name="Shape 1"/>
          <p:cNvSpPr/>
          <p:nvPr/>
        </p:nvSpPr>
        <p:spPr>
          <a:xfrm>
            <a:off x="10085832" y="4846320"/>
            <a:ext cx="3108960" cy="3108960"/>
          </a:xfrm>
          <a:prstGeom prst="ellipse">
            <a:avLst/>
          </a:prstGeom>
          <a:ln w="12700">
            <a:solidFill>
              <a:srgbClr val="9C7C2E">
                <a:alpha val="30000"/>
              </a:srgbClr>
            </a:solidFill>
            <a:prstDash val="solid"/>
          </a:ln>
        </p:spPr>
      </p:sp>
      <p:sp>
        <p:nvSpPr>
          <p:cNvPr id="4" name="Text 2"/>
          <p:cNvSpPr txBox="1"/>
          <p:nvPr/>
        </p:nvSpPr>
        <p:spPr>
          <a:xfrm>
            <a:off x="822960" y="2194560"/>
            <a:ext cx="7315200" cy="274320"/>
          </a:xfrm>
          <a:prstGeom prst="rect">
            <a:avLst/>
          </a:prstGeom>
          <a:noFill/>
          <a:ln/>
        </p:spPr>
        <p:txBody>
          <a:bodyPr wrap="square" lIns="0" tIns="0" rIns="0" bIns="0" rtlCol="0" anchor="ctr"/>
          <a:lstStyle/>
          <a:p>
            <a:pPr indent="0" marL="0">
              <a:buNone/>
            </a:pPr>
            <a:r>
              <a:rPr lang="en-US" sz="1100" b="1" spc="300" kern="0" dirty="0">
                <a:solidFill>
                  <a:srgbClr val="C4A24E"/>
                </a:solidFill>
                <a:latin typeface="Calibri" pitchFamily="34" charset="0"/>
                <a:ea typeface="Calibri" pitchFamily="34" charset="-122"/>
                <a:cs typeface="Calibri" pitchFamily="34" charset="-120"/>
              </a:rPr>
              <a:t>PART THREE</a:t>
            </a:r>
            <a:endParaRPr lang="en-US" sz="1100" dirty="0"/>
          </a:p>
        </p:txBody>
      </p:sp>
      <p:sp>
        <p:nvSpPr>
          <p:cNvPr id="5" name="Text 3"/>
          <p:cNvSpPr txBox="1"/>
          <p:nvPr/>
        </p:nvSpPr>
        <p:spPr>
          <a:xfrm>
            <a:off x="822960" y="2514600"/>
            <a:ext cx="9601200" cy="1828800"/>
          </a:xfrm>
          <a:prstGeom prst="rect">
            <a:avLst/>
          </a:prstGeom>
          <a:noFill/>
          <a:ln/>
        </p:spPr>
        <p:txBody>
          <a:bodyPr wrap="square" lIns="0" tIns="0" rIns="0" bIns="0" rtlCol="0" anchor="ctr"/>
          <a:lstStyle/>
          <a:p>
            <a:pPr indent="0" marL="0">
              <a:lnSpc>
                <a:spcPct val="98000"/>
              </a:lnSpc>
              <a:buNone/>
            </a:pPr>
            <a:r>
              <a:rPr lang="en-US" sz="4000" b="1" dirty="0">
                <a:solidFill>
                  <a:srgbClr val="F3ECDD"/>
                </a:solidFill>
                <a:latin typeface="Georgia" pitchFamily="34" charset="0"/>
                <a:ea typeface="Georgia" pitchFamily="34" charset="-122"/>
                <a:cs typeface="Georgia" pitchFamily="34" charset="-120"/>
              </a:rPr>
              <a:t>The optimization track</a:t>
            </a:r>
            <a:endParaRPr lang="en-US" sz="4000" dirty="0"/>
          </a:p>
        </p:txBody>
      </p:sp>
      <p:sp>
        <p:nvSpPr>
          <p:cNvPr id="6" name="Text 4"/>
          <p:cNvSpPr txBox="1"/>
          <p:nvPr/>
        </p:nvSpPr>
        <p:spPr>
          <a:xfrm>
            <a:off x="822960" y="4114800"/>
            <a:ext cx="8686800" cy="1280160"/>
          </a:xfrm>
          <a:prstGeom prst="rect">
            <a:avLst/>
          </a:prstGeom>
          <a:noFill/>
          <a:ln/>
        </p:spPr>
        <p:txBody>
          <a:bodyPr wrap="square" lIns="0" tIns="0" rIns="0" bIns="0" rtlCol="0" anchor="ctr"/>
          <a:lstStyle/>
          <a:p>
            <a:pPr indent="0" marL="0">
              <a:lnSpc>
                <a:spcPct val="120000"/>
              </a:lnSpc>
              <a:buNone/>
            </a:pPr>
            <a:r>
              <a:rPr lang="en-US" sz="1500" dirty="0">
                <a:solidFill>
                  <a:srgbClr val="B7AE9E"/>
                </a:solidFill>
                <a:latin typeface="Calibri" pitchFamily="34" charset="0"/>
                <a:ea typeface="Calibri" pitchFamily="34" charset="-122"/>
                <a:cs typeface="Calibri" pitchFamily="34" charset="-120"/>
              </a:rPr>
              <a:t>Behind the scenes: bringing in the real data, and moving DeepRoots off outdated systems.</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822960" y="777240"/>
            <a:ext cx="7315200" cy="274320"/>
          </a:xfrm>
          <a:prstGeom prst="rect">
            <a:avLst/>
          </a:prstGeom>
          <a:noFill/>
          <a:ln/>
        </p:spPr>
        <p:txBody>
          <a:bodyPr wrap="square" lIns="0" tIns="0" rIns="0" bIns="0" rtlCol="0" anchor="ctr"/>
          <a:lstStyle/>
          <a:p>
            <a:pPr indent="0" marL="0">
              <a:buNone/>
            </a:pPr>
            <a:r>
              <a:rPr lang="en-US" sz="1100" b="1" spc="300" kern="0" dirty="0">
                <a:solidFill>
                  <a:srgbClr val="9C7C2E"/>
                </a:solidFill>
                <a:latin typeface="Calibri" pitchFamily="34" charset="0"/>
                <a:ea typeface="Calibri" pitchFamily="34" charset="-122"/>
                <a:cs typeface="Calibri" pitchFamily="34" charset="-120"/>
              </a:rPr>
              <a:t>BEHIND THE SCENES · THE DATA</a:t>
            </a:r>
            <a:endParaRPr lang="en-US" sz="1100" dirty="0"/>
          </a:p>
        </p:txBody>
      </p:sp>
      <p:sp>
        <p:nvSpPr>
          <p:cNvPr id="3" name="Shape 1"/>
          <p:cNvSpPr/>
          <p:nvPr/>
        </p:nvSpPr>
        <p:spPr>
          <a:xfrm>
            <a:off x="10314432" y="731520"/>
            <a:ext cx="1051560" cy="310896"/>
          </a:xfrm>
          <a:prstGeom prst="roundRect">
            <a:avLst>
              <a:gd name="adj" fmla="val 50000"/>
            </a:avLst>
          </a:prstGeom>
          <a:solidFill>
            <a:srgbClr val="F3E7C8"/>
          </a:solidFill>
          <a:ln w="9525">
            <a:solidFill>
              <a:srgbClr val="9C7C2E"/>
            </a:solidFill>
            <a:prstDash val="solid"/>
          </a:ln>
        </p:spPr>
      </p:sp>
      <p:sp>
        <p:nvSpPr>
          <p:cNvPr id="4" name="Text 2"/>
          <p:cNvSpPr txBox="1"/>
          <p:nvPr/>
        </p:nvSpPr>
        <p:spPr>
          <a:xfrm>
            <a:off x="10314432" y="722376"/>
            <a:ext cx="1051560" cy="320040"/>
          </a:xfrm>
          <a:prstGeom prst="rect">
            <a:avLst/>
          </a:prstGeom>
          <a:noFill/>
          <a:ln/>
        </p:spPr>
        <p:txBody>
          <a:bodyPr wrap="square" lIns="0" tIns="0" rIns="0" bIns="0" rtlCol="0" anchor="ctr"/>
          <a:lstStyle/>
          <a:p>
            <a:pPr algn="ctr" indent="0" marL="0">
              <a:buNone/>
            </a:pPr>
            <a:r>
              <a:rPr lang="en-US" sz="850" b="1" spc="100" kern="0" dirty="0">
                <a:solidFill>
                  <a:srgbClr val="7A5A12"/>
                </a:solidFill>
                <a:latin typeface="Calibri" pitchFamily="34" charset="0"/>
                <a:ea typeface="Calibri" pitchFamily="34" charset="-122"/>
                <a:cs typeface="Calibri" pitchFamily="34" charset="-120"/>
              </a:rPr>
              <a:t>PHASE 3</a:t>
            </a:r>
            <a:endParaRPr lang="en-US" sz="850" dirty="0"/>
          </a:p>
        </p:txBody>
      </p:sp>
      <p:sp>
        <p:nvSpPr>
          <p:cNvPr id="5" name="Text 3"/>
          <p:cNvSpPr txBox="1"/>
          <p:nvPr/>
        </p:nvSpPr>
        <p:spPr>
          <a:xfrm>
            <a:off x="822960" y="1097280"/>
            <a:ext cx="5760720" cy="1371600"/>
          </a:xfrm>
          <a:prstGeom prst="rect">
            <a:avLst/>
          </a:prstGeom>
          <a:noFill/>
          <a:ln/>
        </p:spPr>
        <p:txBody>
          <a:bodyPr wrap="square" lIns="0" tIns="0" rIns="0" bIns="0" rtlCol="0" anchor="t"/>
          <a:lstStyle/>
          <a:p>
            <a:pPr indent="0" marL="0">
              <a:lnSpc>
                <a:spcPct val="98000"/>
              </a:lnSpc>
              <a:buNone/>
            </a:pPr>
            <a:r>
              <a:rPr lang="en-US" sz="3200" b="1" dirty="0">
                <a:solidFill>
                  <a:srgbClr val="1D1A15"/>
                </a:solidFill>
                <a:latin typeface="Georgia" pitchFamily="34" charset="0"/>
                <a:ea typeface="Georgia" pitchFamily="34" charset="-122"/>
                <a:cs typeface="Georgia" pitchFamily="34" charset="-120"/>
              </a:rPr>
              <a:t>All your Salesforce data in one place</a:t>
            </a:r>
            <a:endParaRPr lang="en-US" sz="3200" dirty="0"/>
          </a:p>
        </p:txBody>
      </p:sp>
      <p:sp>
        <p:nvSpPr>
          <p:cNvPr id="6" name="Text 4"/>
          <p:cNvSpPr txBox="1"/>
          <p:nvPr/>
        </p:nvSpPr>
        <p:spPr>
          <a:xfrm>
            <a:off x="822960" y="2286000"/>
            <a:ext cx="5760720" cy="1371600"/>
          </a:xfrm>
          <a:prstGeom prst="rect">
            <a:avLst/>
          </a:prstGeom>
          <a:noFill/>
          <a:ln/>
        </p:spPr>
        <p:txBody>
          <a:bodyPr wrap="square" lIns="0" tIns="0" rIns="0" bIns="0" rtlCol="0" anchor="t"/>
          <a:lstStyle/>
          <a:p>
            <a:pPr indent="0" marL="0">
              <a:lnSpc>
                <a:spcPct val="115000"/>
              </a:lnSpc>
              <a:buNone/>
            </a:pPr>
            <a:r>
              <a:rPr lang="en-US" sz="1500" dirty="0">
                <a:solidFill>
                  <a:srgbClr val="7A7266"/>
                </a:solidFill>
                <a:latin typeface="Calibri" pitchFamily="34" charset="0"/>
                <a:ea typeface="Calibri" pitchFamily="34" charset="-122"/>
                <a:cs typeface="Calibri" pitchFamily="34" charset="-120"/>
              </a:rPr>
              <a:t>A complete, always-updating copy of your Salesforce records, pulled in safely and kept current so the dashboards run on real numbers.</a:t>
            </a:r>
            <a:endParaRPr lang="en-US" sz="1500" dirty="0"/>
          </a:p>
        </p:txBody>
      </p:sp>
      <p:sp>
        <p:nvSpPr>
          <p:cNvPr id="7" name="Shape 5"/>
          <p:cNvSpPr/>
          <p:nvPr/>
        </p:nvSpPr>
        <p:spPr>
          <a:xfrm>
            <a:off x="822960" y="3657600"/>
            <a:ext cx="3008376" cy="384048"/>
          </a:xfrm>
          <a:prstGeom prst="roundRect">
            <a:avLst>
              <a:gd name="adj" fmla="val 50000"/>
            </a:avLst>
          </a:prstGeom>
          <a:solidFill>
            <a:srgbClr val="FFFFFF"/>
          </a:solidFill>
          <a:ln w="12700">
            <a:solidFill>
              <a:srgbClr val="E4DCC9"/>
            </a:solidFill>
            <a:prstDash val="solid"/>
          </a:ln>
        </p:spPr>
      </p:sp>
      <p:sp>
        <p:nvSpPr>
          <p:cNvPr id="8" name="Text 6"/>
          <p:cNvSpPr txBox="1"/>
          <p:nvPr/>
        </p:nvSpPr>
        <p:spPr>
          <a:xfrm>
            <a:off x="969264" y="3639312"/>
            <a:ext cx="2734056" cy="420624"/>
          </a:xfrm>
          <a:prstGeom prst="rect">
            <a:avLst/>
          </a:prstGeom>
          <a:noFill/>
          <a:ln/>
        </p:spPr>
        <p:txBody>
          <a:bodyPr wrap="square" lIns="0" tIns="0" rIns="0" bIns="0" rtlCol="0" anchor="ctr"/>
          <a:lstStyle/>
          <a:p>
            <a:pPr indent="0" marL="0">
              <a:buNone/>
            </a:pPr>
            <a:r>
              <a:rPr lang="en-US" sz="1050" dirty="0">
                <a:solidFill>
                  <a:srgbClr val="1D1A15"/>
                </a:solidFill>
                <a:latin typeface="Calibri" pitchFamily="34" charset="0"/>
                <a:ea typeface="Calibri" pitchFamily="34" charset="-122"/>
                <a:cs typeface="Calibri" pitchFamily="34" charset="-120"/>
              </a:rPr>
              <a:t>A full copy of your Salesforce data</a:t>
            </a:r>
            <a:endParaRPr lang="en-US" sz="1050" dirty="0"/>
          </a:p>
        </p:txBody>
      </p:sp>
      <p:sp>
        <p:nvSpPr>
          <p:cNvPr id="9" name="Shape 7"/>
          <p:cNvSpPr/>
          <p:nvPr/>
        </p:nvSpPr>
        <p:spPr>
          <a:xfrm>
            <a:off x="3995928" y="3657600"/>
            <a:ext cx="1097280" cy="384048"/>
          </a:xfrm>
          <a:prstGeom prst="roundRect">
            <a:avLst>
              <a:gd name="adj" fmla="val 50000"/>
            </a:avLst>
          </a:prstGeom>
          <a:solidFill>
            <a:srgbClr val="FFFFFF"/>
          </a:solidFill>
          <a:ln w="12700">
            <a:solidFill>
              <a:srgbClr val="E4DCC9"/>
            </a:solidFill>
            <a:prstDash val="solid"/>
          </a:ln>
        </p:spPr>
      </p:sp>
      <p:sp>
        <p:nvSpPr>
          <p:cNvPr id="10" name="Shape 8"/>
          <p:cNvSpPr/>
          <p:nvPr/>
        </p:nvSpPr>
        <p:spPr>
          <a:xfrm>
            <a:off x="4142232" y="3799332"/>
            <a:ext cx="100584" cy="100584"/>
          </a:xfrm>
          <a:prstGeom prst="ellipse">
            <a:avLst/>
          </a:prstGeom>
          <a:solidFill>
            <a:srgbClr val="B0842F"/>
          </a:solidFill>
          <a:ln/>
        </p:spPr>
      </p:sp>
      <p:sp>
        <p:nvSpPr>
          <p:cNvPr id="11" name="Text 9"/>
          <p:cNvSpPr txBox="1"/>
          <p:nvPr/>
        </p:nvSpPr>
        <p:spPr>
          <a:xfrm>
            <a:off x="4306824" y="3639312"/>
            <a:ext cx="822960" cy="420624"/>
          </a:xfrm>
          <a:prstGeom prst="rect">
            <a:avLst/>
          </a:prstGeom>
          <a:noFill/>
          <a:ln/>
        </p:spPr>
        <p:txBody>
          <a:bodyPr wrap="square" lIns="0" tIns="0" rIns="0" bIns="0" rtlCol="0" anchor="ctr"/>
          <a:lstStyle/>
          <a:p>
            <a:pPr indent="0" marL="0">
              <a:buNone/>
            </a:pPr>
            <a:r>
              <a:rPr lang="en-US" sz="1050" dirty="0">
                <a:solidFill>
                  <a:srgbClr val="1D1A15"/>
                </a:solidFill>
                <a:latin typeface="Calibri" pitchFamily="34" charset="0"/>
                <a:ea typeface="Calibri" pitchFamily="34" charset="-122"/>
                <a:cs typeface="Calibri" pitchFamily="34" charset="-120"/>
              </a:rPr>
              <a:t>Planned</a:t>
            </a:r>
            <a:endParaRPr lang="en-US" sz="1050" dirty="0"/>
          </a:p>
        </p:txBody>
      </p:sp>
      <p:sp>
        <p:nvSpPr>
          <p:cNvPr id="12" name="Shape 10"/>
          <p:cNvSpPr/>
          <p:nvPr/>
        </p:nvSpPr>
        <p:spPr>
          <a:xfrm>
            <a:off x="7040880" y="1645920"/>
            <a:ext cx="4480560" cy="3566160"/>
          </a:xfrm>
          <a:prstGeom prst="roundRect">
            <a:avLst>
              <a:gd name="adj" fmla="val 3077"/>
            </a:avLst>
          </a:prstGeom>
          <a:solidFill>
            <a:srgbClr val="FFFFFF"/>
          </a:solidFill>
          <a:ln w="12700">
            <a:solidFill>
              <a:srgbClr val="E4DCC9"/>
            </a:solidFill>
            <a:prstDash val="solid"/>
          </a:ln>
          <a:effectLst>
            <a:outerShdw sx="100000" sy="100000" kx="0" ky="0" algn="bl" rotWithShape="0" blurRad="127000" dist="38100" dir="5400000">
              <a:srgbClr val="6B6252">
                <a:alpha val="35000"/>
              </a:srgbClr>
            </a:outerShdw>
          </a:effectLst>
        </p:spPr>
      </p:sp>
      <p:sp>
        <p:nvSpPr>
          <p:cNvPr id="13" name="Shape 11"/>
          <p:cNvSpPr/>
          <p:nvPr/>
        </p:nvSpPr>
        <p:spPr>
          <a:xfrm>
            <a:off x="7040880" y="1645920"/>
            <a:ext cx="4480560" cy="384048"/>
          </a:xfrm>
          <a:prstGeom prst="roundRect">
            <a:avLst>
              <a:gd name="adj" fmla="val 28571"/>
            </a:avLst>
          </a:prstGeom>
          <a:solidFill>
            <a:srgbClr val="FBFAF6"/>
          </a:solidFill>
          <a:ln/>
        </p:spPr>
      </p:sp>
      <p:sp>
        <p:nvSpPr>
          <p:cNvPr id="14" name="Shape 12"/>
          <p:cNvSpPr/>
          <p:nvPr/>
        </p:nvSpPr>
        <p:spPr>
          <a:xfrm>
            <a:off x="7040880" y="1901952"/>
            <a:ext cx="4480560" cy="128016"/>
          </a:xfrm>
          <a:prstGeom prst="rect">
            <a:avLst/>
          </a:prstGeom>
          <a:solidFill>
            <a:srgbClr val="FBFAF6"/>
          </a:solidFill>
          <a:ln/>
        </p:spPr>
      </p:sp>
      <p:sp>
        <p:nvSpPr>
          <p:cNvPr id="15" name="Shape 13"/>
          <p:cNvSpPr/>
          <p:nvPr/>
        </p:nvSpPr>
        <p:spPr>
          <a:xfrm>
            <a:off x="7205472" y="1783080"/>
            <a:ext cx="100584" cy="100584"/>
          </a:xfrm>
          <a:prstGeom prst="ellipse">
            <a:avLst/>
          </a:prstGeom>
          <a:solidFill>
            <a:srgbClr val="C9BFA9"/>
          </a:solidFill>
          <a:ln/>
        </p:spPr>
      </p:sp>
      <p:sp>
        <p:nvSpPr>
          <p:cNvPr id="16" name="Shape 14"/>
          <p:cNvSpPr/>
          <p:nvPr/>
        </p:nvSpPr>
        <p:spPr>
          <a:xfrm>
            <a:off x="7388352" y="1783080"/>
            <a:ext cx="100584" cy="100584"/>
          </a:xfrm>
          <a:prstGeom prst="ellipse">
            <a:avLst/>
          </a:prstGeom>
          <a:solidFill>
            <a:srgbClr val="C9BFA9"/>
          </a:solidFill>
          <a:ln/>
        </p:spPr>
      </p:sp>
      <p:sp>
        <p:nvSpPr>
          <p:cNvPr id="17" name="Shape 15"/>
          <p:cNvSpPr/>
          <p:nvPr/>
        </p:nvSpPr>
        <p:spPr>
          <a:xfrm>
            <a:off x="7571232" y="1783080"/>
            <a:ext cx="100584" cy="100584"/>
          </a:xfrm>
          <a:prstGeom prst="ellipse">
            <a:avLst/>
          </a:prstGeom>
          <a:solidFill>
            <a:srgbClr val="C9BFA9"/>
          </a:solidFill>
          <a:ln/>
        </p:spPr>
      </p:sp>
      <p:sp>
        <p:nvSpPr>
          <p:cNvPr id="18" name="Text 16"/>
          <p:cNvSpPr txBox="1"/>
          <p:nvPr/>
        </p:nvSpPr>
        <p:spPr>
          <a:xfrm>
            <a:off x="7818120" y="1673352"/>
            <a:ext cx="3566160" cy="329184"/>
          </a:xfrm>
          <a:prstGeom prst="rect">
            <a:avLst/>
          </a:prstGeom>
          <a:noFill/>
          <a:ln/>
        </p:spPr>
        <p:txBody>
          <a:bodyPr wrap="square" lIns="0" tIns="0" rIns="0" bIns="0" rtlCol="0" anchor="ctr"/>
          <a:lstStyle/>
          <a:p>
            <a:pPr indent="0" marL="0">
              <a:buNone/>
            </a:pPr>
            <a:r>
              <a:rPr lang="en-US" sz="900" dirty="0">
                <a:solidFill>
                  <a:srgbClr val="7A7266"/>
                </a:solidFill>
                <a:latin typeface="Calibri" pitchFamily="34" charset="0"/>
                <a:ea typeface="Calibri" pitchFamily="34" charset="-122"/>
                <a:cs typeface="Calibri" pitchFamily="34" charset="-120"/>
              </a:rPr>
              <a:t>Salesforce sync</a:t>
            </a:r>
            <a:endParaRPr lang="en-US" sz="900" dirty="0"/>
          </a:p>
        </p:txBody>
      </p:sp>
      <p:sp>
        <p:nvSpPr>
          <p:cNvPr id="19" name="Shape 17"/>
          <p:cNvSpPr/>
          <p:nvPr/>
        </p:nvSpPr>
        <p:spPr>
          <a:xfrm>
            <a:off x="7040880" y="2029968"/>
            <a:ext cx="4480560" cy="0"/>
          </a:xfrm>
          <a:prstGeom prst="line">
            <a:avLst/>
          </a:prstGeom>
          <a:noFill/>
          <a:ln w="12700">
            <a:solidFill>
              <a:srgbClr val="E4DCC9"/>
            </a:solidFill>
            <a:prstDash val="solid"/>
          </a:ln>
        </p:spPr>
      </p:sp>
      <p:sp>
        <p:nvSpPr>
          <p:cNvPr id="20" name="Shape 18"/>
          <p:cNvSpPr/>
          <p:nvPr/>
        </p:nvSpPr>
        <p:spPr>
          <a:xfrm>
            <a:off x="7516368" y="2615184"/>
            <a:ext cx="3529584" cy="0"/>
          </a:xfrm>
          <a:prstGeom prst="line">
            <a:avLst/>
          </a:prstGeom>
          <a:noFill/>
          <a:ln w="25400">
            <a:solidFill>
              <a:srgbClr val="E4DCC9"/>
            </a:solidFill>
            <a:prstDash val="solid"/>
          </a:ln>
        </p:spPr>
      </p:sp>
      <p:sp>
        <p:nvSpPr>
          <p:cNvPr id="21" name="Shape 19"/>
          <p:cNvSpPr/>
          <p:nvPr/>
        </p:nvSpPr>
        <p:spPr>
          <a:xfrm>
            <a:off x="7296912" y="2395728"/>
            <a:ext cx="438912" cy="438912"/>
          </a:xfrm>
          <a:prstGeom prst="ellipse">
            <a:avLst/>
          </a:prstGeom>
          <a:solidFill>
            <a:srgbClr val="9C7C2E"/>
          </a:solidFill>
          <a:ln w="25400">
            <a:solidFill>
              <a:srgbClr val="9C7C2E"/>
            </a:solidFill>
            <a:prstDash val="solid"/>
          </a:ln>
        </p:spPr>
      </p:sp>
      <p:sp>
        <p:nvSpPr>
          <p:cNvPr id="22" name="Text 20"/>
          <p:cNvSpPr txBox="1"/>
          <p:nvPr/>
        </p:nvSpPr>
        <p:spPr>
          <a:xfrm>
            <a:off x="7296912" y="2386584"/>
            <a:ext cx="438912" cy="43891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3" name="Shape 21"/>
          <p:cNvSpPr/>
          <p:nvPr/>
        </p:nvSpPr>
        <p:spPr>
          <a:xfrm>
            <a:off x="8473440" y="2395728"/>
            <a:ext cx="438912" cy="438912"/>
          </a:xfrm>
          <a:prstGeom prst="ellipse">
            <a:avLst/>
          </a:prstGeom>
          <a:solidFill>
            <a:srgbClr val="9C7C2E"/>
          </a:solidFill>
          <a:ln w="25400">
            <a:solidFill>
              <a:srgbClr val="9C7C2E"/>
            </a:solidFill>
            <a:prstDash val="solid"/>
          </a:ln>
        </p:spPr>
      </p:sp>
      <p:sp>
        <p:nvSpPr>
          <p:cNvPr id="24" name="Text 22"/>
          <p:cNvSpPr txBox="1"/>
          <p:nvPr/>
        </p:nvSpPr>
        <p:spPr>
          <a:xfrm>
            <a:off x="8473440" y="2386584"/>
            <a:ext cx="438912" cy="43891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5" name="Shape 23"/>
          <p:cNvSpPr/>
          <p:nvPr/>
        </p:nvSpPr>
        <p:spPr>
          <a:xfrm>
            <a:off x="9649968" y="2395728"/>
            <a:ext cx="438912" cy="438912"/>
          </a:xfrm>
          <a:prstGeom prst="ellipse">
            <a:avLst/>
          </a:prstGeom>
          <a:solidFill>
            <a:srgbClr val="FFFFFF"/>
          </a:solidFill>
          <a:ln w="25400">
            <a:solidFill>
              <a:srgbClr val="9C7C2E"/>
            </a:solidFill>
            <a:prstDash val="solid"/>
          </a:ln>
        </p:spPr>
      </p:sp>
      <p:sp>
        <p:nvSpPr>
          <p:cNvPr id="26" name="Text 24"/>
          <p:cNvSpPr txBox="1"/>
          <p:nvPr/>
        </p:nvSpPr>
        <p:spPr>
          <a:xfrm>
            <a:off x="9649968" y="2386584"/>
            <a:ext cx="438912" cy="438912"/>
          </a:xfrm>
          <a:prstGeom prst="rect">
            <a:avLst/>
          </a:prstGeom>
          <a:noFill/>
          <a:ln/>
        </p:spPr>
        <p:txBody>
          <a:bodyPr wrap="square" lIns="0" tIns="0" rIns="0" bIns="0" rtlCol="0" anchor="ctr"/>
          <a:lstStyle/>
          <a:p>
            <a:pPr algn="ctr" indent="0" marL="0">
              <a:buNone/>
            </a:pPr>
            <a:r>
              <a:rPr lang="en-US" sz="1100" b="1" dirty="0">
                <a:solidFill>
                  <a:srgbClr val="9C7C2E"/>
                </a:solidFill>
                <a:latin typeface="Calibri" pitchFamily="34" charset="0"/>
                <a:ea typeface="Calibri" pitchFamily="34" charset="-122"/>
                <a:cs typeface="Calibri" pitchFamily="34" charset="-120"/>
              </a:rPr>
              <a:t>3</a:t>
            </a:r>
            <a:endParaRPr lang="en-US" sz="1100" dirty="0"/>
          </a:p>
        </p:txBody>
      </p:sp>
      <p:sp>
        <p:nvSpPr>
          <p:cNvPr id="27" name="Shape 25"/>
          <p:cNvSpPr/>
          <p:nvPr/>
        </p:nvSpPr>
        <p:spPr>
          <a:xfrm>
            <a:off x="10826496" y="2395728"/>
            <a:ext cx="438912" cy="438912"/>
          </a:xfrm>
          <a:prstGeom prst="ellipse">
            <a:avLst/>
          </a:prstGeom>
          <a:solidFill>
            <a:srgbClr val="FFFFFF"/>
          </a:solidFill>
          <a:ln w="25400">
            <a:solidFill>
              <a:srgbClr val="9C7C2E"/>
            </a:solidFill>
            <a:prstDash val="solid"/>
          </a:ln>
        </p:spPr>
      </p:sp>
      <p:sp>
        <p:nvSpPr>
          <p:cNvPr id="28" name="Text 26"/>
          <p:cNvSpPr txBox="1"/>
          <p:nvPr/>
        </p:nvSpPr>
        <p:spPr>
          <a:xfrm>
            <a:off x="10826496" y="2386584"/>
            <a:ext cx="438912" cy="438912"/>
          </a:xfrm>
          <a:prstGeom prst="rect">
            <a:avLst/>
          </a:prstGeom>
          <a:noFill/>
          <a:ln/>
        </p:spPr>
        <p:txBody>
          <a:bodyPr wrap="square" lIns="0" tIns="0" rIns="0" bIns="0" rtlCol="0" anchor="ctr"/>
          <a:lstStyle/>
          <a:p>
            <a:pPr algn="ctr" indent="0" marL="0">
              <a:buNone/>
            </a:pPr>
            <a:r>
              <a:rPr lang="en-US" sz="1100" b="1" dirty="0">
                <a:solidFill>
                  <a:srgbClr val="9C7C2E"/>
                </a:solidFill>
                <a:latin typeface="Calibri" pitchFamily="34" charset="0"/>
                <a:ea typeface="Calibri" pitchFamily="34" charset="-122"/>
                <a:cs typeface="Calibri" pitchFamily="34" charset="-120"/>
              </a:rPr>
              <a:t>4</a:t>
            </a:r>
            <a:endParaRPr lang="en-US" sz="1100" dirty="0"/>
          </a:p>
        </p:txBody>
      </p:sp>
      <p:sp>
        <p:nvSpPr>
          <p:cNvPr id="29" name="Shape 27"/>
          <p:cNvSpPr/>
          <p:nvPr/>
        </p:nvSpPr>
        <p:spPr>
          <a:xfrm>
            <a:off x="7296912" y="3154680"/>
            <a:ext cx="3968496" cy="566928"/>
          </a:xfrm>
          <a:prstGeom prst="roundRect">
            <a:avLst>
              <a:gd name="adj" fmla="val 8065"/>
            </a:avLst>
          </a:prstGeom>
          <a:solidFill>
            <a:srgbClr val="FBFAF6"/>
          </a:solidFill>
          <a:ln w="12700">
            <a:solidFill>
              <a:srgbClr val="E4DCC9"/>
            </a:solidFill>
            <a:prstDash val="solid"/>
          </a:ln>
        </p:spPr>
      </p:sp>
      <p:sp>
        <p:nvSpPr>
          <p:cNvPr id="30" name="Shape 28"/>
          <p:cNvSpPr/>
          <p:nvPr/>
        </p:nvSpPr>
        <p:spPr>
          <a:xfrm>
            <a:off x="7443216" y="3387852"/>
            <a:ext cx="100584" cy="100584"/>
          </a:xfrm>
          <a:prstGeom prst="ellipse">
            <a:avLst/>
          </a:prstGeom>
          <a:solidFill>
            <a:srgbClr val="5B7C46"/>
          </a:solidFill>
          <a:ln/>
        </p:spPr>
      </p:sp>
      <p:sp>
        <p:nvSpPr>
          <p:cNvPr id="31" name="Shape 29"/>
          <p:cNvSpPr/>
          <p:nvPr/>
        </p:nvSpPr>
        <p:spPr>
          <a:xfrm>
            <a:off x="7680960" y="3396996"/>
            <a:ext cx="1825508" cy="82296"/>
          </a:xfrm>
          <a:prstGeom prst="roundRect">
            <a:avLst>
              <a:gd name="adj" fmla="val 50000"/>
            </a:avLst>
          </a:prstGeom>
          <a:solidFill>
            <a:srgbClr val="E4DCC9"/>
          </a:solidFill>
          <a:ln/>
        </p:spPr>
      </p:sp>
      <p:sp>
        <p:nvSpPr>
          <p:cNvPr id="32" name="Shape 30"/>
          <p:cNvSpPr/>
          <p:nvPr/>
        </p:nvSpPr>
        <p:spPr>
          <a:xfrm>
            <a:off x="7680960" y="3396996"/>
            <a:ext cx="1314366" cy="82296"/>
          </a:xfrm>
          <a:prstGeom prst="roundRect">
            <a:avLst>
              <a:gd name="adj" fmla="val 50000"/>
            </a:avLst>
          </a:prstGeom>
          <a:solidFill>
            <a:srgbClr val="9C7C2E"/>
          </a:solidFill>
          <a:ln/>
        </p:spPr>
      </p:sp>
      <p:sp>
        <p:nvSpPr>
          <p:cNvPr id="33" name="Shape 31"/>
          <p:cNvSpPr/>
          <p:nvPr/>
        </p:nvSpPr>
        <p:spPr>
          <a:xfrm>
            <a:off x="10543032" y="3291840"/>
            <a:ext cx="594360" cy="292608"/>
          </a:xfrm>
          <a:prstGeom prst="roundRect">
            <a:avLst>
              <a:gd name="adj" fmla="val 50000"/>
            </a:avLst>
          </a:prstGeom>
          <a:solidFill>
            <a:srgbClr val="FFFFFF"/>
          </a:solidFill>
          <a:ln w="12700">
            <a:solidFill>
              <a:srgbClr val="E4DCC9"/>
            </a:solidFill>
            <a:prstDash val="solid"/>
          </a:ln>
        </p:spPr>
      </p:sp>
      <p:sp>
        <p:nvSpPr>
          <p:cNvPr id="34" name="Text 32"/>
          <p:cNvSpPr txBox="1"/>
          <p:nvPr/>
        </p:nvSpPr>
        <p:spPr>
          <a:xfrm>
            <a:off x="10543032" y="3282696"/>
            <a:ext cx="594360" cy="310896"/>
          </a:xfrm>
          <a:prstGeom prst="rect">
            <a:avLst/>
          </a:prstGeom>
          <a:noFill/>
          <a:ln/>
        </p:spPr>
        <p:txBody>
          <a:bodyPr wrap="square" lIns="0" tIns="0" rIns="0" bIns="0" rtlCol="0" anchor="ctr"/>
          <a:lstStyle/>
          <a:p>
            <a:pPr algn="ctr" indent="0" marL="0">
              <a:buNone/>
            </a:pPr>
            <a:r>
              <a:rPr lang="en-US" sz="850" dirty="0">
                <a:solidFill>
                  <a:srgbClr val="7A7266"/>
                </a:solidFill>
                <a:latin typeface="Calibri" pitchFamily="34" charset="0"/>
                <a:ea typeface="Calibri" pitchFamily="34" charset="-122"/>
                <a:cs typeface="Calibri" pitchFamily="34" charset="-120"/>
              </a:rPr>
              <a:t>done</a:t>
            </a:r>
            <a:endParaRPr lang="en-US" sz="850" dirty="0"/>
          </a:p>
        </p:txBody>
      </p:sp>
      <p:sp>
        <p:nvSpPr>
          <p:cNvPr id="35" name="Shape 33"/>
          <p:cNvSpPr/>
          <p:nvPr/>
        </p:nvSpPr>
        <p:spPr>
          <a:xfrm>
            <a:off x="7296912" y="3849624"/>
            <a:ext cx="3968496" cy="566928"/>
          </a:xfrm>
          <a:prstGeom prst="roundRect">
            <a:avLst>
              <a:gd name="adj" fmla="val 8065"/>
            </a:avLst>
          </a:prstGeom>
          <a:solidFill>
            <a:srgbClr val="FBFAF6"/>
          </a:solidFill>
          <a:ln w="12700">
            <a:solidFill>
              <a:srgbClr val="E4DCC9"/>
            </a:solidFill>
            <a:prstDash val="solid"/>
          </a:ln>
        </p:spPr>
      </p:sp>
      <p:sp>
        <p:nvSpPr>
          <p:cNvPr id="36" name="Shape 34"/>
          <p:cNvSpPr/>
          <p:nvPr/>
        </p:nvSpPr>
        <p:spPr>
          <a:xfrm>
            <a:off x="7443216" y="4082796"/>
            <a:ext cx="100584" cy="100584"/>
          </a:xfrm>
          <a:prstGeom prst="ellipse">
            <a:avLst/>
          </a:prstGeom>
          <a:solidFill>
            <a:srgbClr val="B0842F"/>
          </a:solidFill>
          <a:ln/>
        </p:spPr>
      </p:sp>
      <p:sp>
        <p:nvSpPr>
          <p:cNvPr id="37" name="Shape 35"/>
          <p:cNvSpPr/>
          <p:nvPr/>
        </p:nvSpPr>
        <p:spPr>
          <a:xfrm>
            <a:off x="7680960" y="4091940"/>
            <a:ext cx="1825508" cy="82296"/>
          </a:xfrm>
          <a:prstGeom prst="roundRect">
            <a:avLst>
              <a:gd name="adj" fmla="val 50000"/>
            </a:avLst>
          </a:prstGeom>
          <a:solidFill>
            <a:srgbClr val="E4DCC9"/>
          </a:solidFill>
          <a:ln/>
        </p:spPr>
      </p:sp>
      <p:sp>
        <p:nvSpPr>
          <p:cNvPr id="38" name="Shape 36"/>
          <p:cNvSpPr/>
          <p:nvPr/>
        </p:nvSpPr>
        <p:spPr>
          <a:xfrm>
            <a:off x="7680960" y="4091940"/>
            <a:ext cx="839734" cy="82296"/>
          </a:xfrm>
          <a:prstGeom prst="roundRect">
            <a:avLst>
              <a:gd name="adj" fmla="val 50000"/>
            </a:avLst>
          </a:prstGeom>
          <a:solidFill>
            <a:srgbClr val="9C7C2E"/>
          </a:solidFill>
          <a:ln/>
        </p:spPr>
      </p:sp>
      <p:sp>
        <p:nvSpPr>
          <p:cNvPr id="39" name="Shape 37"/>
          <p:cNvSpPr/>
          <p:nvPr/>
        </p:nvSpPr>
        <p:spPr>
          <a:xfrm>
            <a:off x="10405872" y="3986784"/>
            <a:ext cx="731520" cy="292608"/>
          </a:xfrm>
          <a:prstGeom prst="roundRect">
            <a:avLst>
              <a:gd name="adj" fmla="val 50000"/>
            </a:avLst>
          </a:prstGeom>
          <a:solidFill>
            <a:srgbClr val="FFFFFF"/>
          </a:solidFill>
          <a:ln w="12700">
            <a:solidFill>
              <a:srgbClr val="E4DCC9"/>
            </a:solidFill>
            <a:prstDash val="solid"/>
          </a:ln>
        </p:spPr>
      </p:sp>
      <p:sp>
        <p:nvSpPr>
          <p:cNvPr id="40" name="Text 38"/>
          <p:cNvSpPr txBox="1"/>
          <p:nvPr/>
        </p:nvSpPr>
        <p:spPr>
          <a:xfrm>
            <a:off x="10405872" y="3977640"/>
            <a:ext cx="731520" cy="310896"/>
          </a:xfrm>
          <a:prstGeom prst="rect">
            <a:avLst/>
          </a:prstGeom>
          <a:noFill/>
          <a:ln/>
        </p:spPr>
        <p:txBody>
          <a:bodyPr wrap="square" lIns="0" tIns="0" rIns="0" bIns="0" rtlCol="0" anchor="ctr"/>
          <a:lstStyle/>
          <a:p>
            <a:pPr algn="ctr" indent="0" marL="0">
              <a:buNone/>
            </a:pPr>
            <a:r>
              <a:rPr lang="en-US" sz="850" dirty="0">
                <a:solidFill>
                  <a:srgbClr val="7A7266"/>
                </a:solidFill>
                <a:latin typeface="Calibri" pitchFamily="34" charset="0"/>
                <a:ea typeface="Calibri" pitchFamily="34" charset="-122"/>
                <a:cs typeface="Calibri" pitchFamily="34" charset="-120"/>
              </a:rPr>
              <a:t>active</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822960" y="777240"/>
            <a:ext cx="7315200" cy="274320"/>
          </a:xfrm>
          <a:prstGeom prst="rect">
            <a:avLst/>
          </a:prstGeom>
          <a:noFill/>
          <a:ln/>
        </p:spPr>
        <p:txBody>
          <a:bodyPr wrap="square" lIns="0" tIns="0" rIns="0" bIns="0" rtlCol="0" anchor="ctr"/>
          <a:lstStyle/>
          <a:p>
            <a:pPr indent="0" marL="0">
              <a:buNone/>
            </a:pPr>
            <a:r>
              <a:rPr lang="en-US" sz="1100" b="1" spc="300" kern="0" dirty="0">
                <a:solidFill>
                  <a:srgbClr val="9C7C2E"/>
                </a:solidFill>
                <a:latin typeface="Calibri" pitchFamily="34" charset="0"/>
                <a:ea typeface="Calibri" pitchFamily="34" charset="-122"/>
                <a:cs typeface="Calibri" pitchFamily="34" charset="-120"/>
              </a:rPr>
              <a:t>BEHIND THE SCENES · ONE PLATFORM</a:t>
            </a:r>
            <a:endParaRPr lang="en-US" sz="1100" dirty="0"/>
          </a:p>
        </p:txBody>
      </p:sp>
      <p:sp>
        <p:nvSpPr>
          <p:cNvPr id="3" name="Shape 1"/>
          <p:cNvSpPr/>
          <p:nvPr/>
        </p:nvSpPr>
        <p:spPr>
          <a:xfrm>
            <a:off x="10314432" y="731520"/>
            <a:ext cx="1051560" cy="310896"/>
          </a:xfrm>
          <a:prstGeom prst="roundRect">
            <a:avLst>
              <a:gd name="adj" fmla="val 50000"/>
            </a:avLst>
          </a:prstGeom>
          <a:solidFill>
            <a:srgbClr val="F3E7C8"/>
          </a:solidFill>
          <a:ln w="9525">
            <a:solidFill>
              <a:srgbClr val="9C7C2E"/>
            </a:solidFill>
            <a:prstDash val="solid"/>
          </a:ln>
        </p:spPr>
      </p:sp>
      <p:sp>
        <p:nvSpPr>
          <p:cNvPr id="4" name="Text 2"/>
          <p:cNvSpPr txBox="1"/>
          <p:nvPr/>
        </p:nvSpPr>
        <p:spPr>
          <a:xfrm>
            <a:off x="10314432" y="722376"/>
            <a:ext cx="1051560" cy="320040"/>
          </a:xfrm>
          <a:prstGeom prst="rect">
            <a:avLst/>
          </a:prstGeom>
          <a:noFill/>
          <a:ln/>
        </p:spPr>
        <p:txBody>
          <a:bodyPr wrap="square" lIns="0" tIns="0" rIns="0" bIns="0" rtlCol="0" anchor="ctr"/>
          <a:lstStyle/>
          <a:p>
            <a:pPr algn="ctr" indent="0" marL="0">
              <a:buNone/>
            </a:pPr>
            <a:r>
              <a:rPr lang="en-US" sz="850" b="1" spc="100" kern="0" dirty="0">
                <a:solidFill>
                  <a:srgbClr val="7A5A12"/>
                </a:solidFill>
                <a:latin typeface="Calibri" pitchFamily="34" charset="0"/>
                <a:ea typeface="Calibri" pitchFamily="34" charset="-122"/>
                <a:cs typeface="Calibri" pitchFamily="34" charset="-120"/>
              </a:rPr>
              <a:t>PHASE 3</a:t>
            </a:r>
            <a:endParaRPr lang="en-US" sz="850" dirty="0"/>
          </a:p>
        </p:txBody>
      </p:sp>
      <p:sp>
        <p:nvSpPr>
          <p:cNvPr id="5" name="Text 3"/>
          <p:cNvSpPr txBox="1"/>
          <p:nvPr/>
        </p:nvSpPr>
        <p:spPr>
          <a:xfrm>
            <a:off x="822960" y="1097280"/>
            <a:ext cx="5760720" cy="1371600"/>
          </a:xfrm>
          <a:prstGeom prst="rect">
            <a:avLst/>
          </a:prstGeom>
          <a:noFill/>
          <a:ln/>
        </p:spPr>
        <p:txBody>
          <a:bodyPr wrap="square" lIns="0" tIns="0" rIns="0" bIns="0" rtlCol="0" anchor="t"/>
          <a:lstStyle/>
          <a:p>
            <a:pPr indent="0" marL="0">
              <a:lnSpc>
                <a:spcPct val="98000"/>
              </a:lnSpc>
              <a:buNone/>
            </a:pPr>
            <a:r>
              <a:rPr lang="en-US" sz="3000" b="1" dirty="0">
                <a:solidFill>
                  <a:srgbClr val="1D1A15"/>
                </a:solidFill>
                <a:latin typeface="Georgia" pitchFamily="34" charset="0"/>
                <a:ea typeface="Georgia" pitchFamily="34" charset="-122"/>
                <a:cs typeface="Georgia" pitchFamily="34" charset="-120"/>
              </a:rPr>
              <a:t>All your tools, working together</a:t>
            </a:r>
            <a:endParaRPr lang="en-US" sz="3000" dirty="0"/>
          </a:p>
        </p:txBody>
      </p:sp>
      <p:sp>
        <p:nvSpPr>
          <p:cNvPr id="6" name="Text 4"/>
          <p:cNvSpPr txBox="1"/>
          <p:nvPr/>
        </p:nvSpPr>
        <p:spPr>
          <a:xfrm>
            <a:off x="822960" y="2286000"/>
            <a:ext cx="5760720" cy="1371600"/>
          </a:xfrm>
          <a:prstGeom prst="rect">
            <a:avLst/>
          </a:prstGeom>
          <a:noFill/>
          <a:ln/>
        </p:spPr>
        <p:txBody>
          <a:bodyPr wrap="square" lIns="0" tIns="0" rIns="0" bIns="0" rtlCol="0" anchor="t"/>
          <a:lstStyle/>
          <a:p>
            <a:pPr indent="0" marL="0">
              <a:lnSpc>
                <a:spcPct val="115000"/>
              </a:lnSpc>
              <a:buNone/>
            </a:pPr>
            <a:r>
              <a:rPr lang="en-US" sz="1500" dirty="0">
                <a:solidFill>
                  <a:srgbClr val="7A7266"/>
                </a:solidFill>
                <a:latin typeface="Calibri" pitchFamily="34" charset="0"/>
                <a:ea typeface="Calibri" pitchFamily="34" charset="-122"/>
                <a:cs typeface="Calibri" pitchFamily="34" charset="-120"/>
              </a:rPr>
              <a:t>Today the team juggles many separate tools, moving documents and data around the cloud by hand to keep customers happy. The new platform brings those tools together, so information flows on its own and people spend their time on customers, not on shuffling files between apps.</a:t>
            </a:r>
            <a:endParaRPr lang="en-US" sz="1500" dirty="0"/>
          </a:p>
        </p:txBody>
      </p:sp>
      <p:sp>
        <p:nvSpPr>
          <p:cNvPr id="7" name="Shape 5"/>
          <p:cNvSpPr/>
          <p:nvPr/>
        </p:nvSpPr>
        <p:spPr>
          <a:xfrm>
            <a:off x="822960" y="3657600"/>
            <a:ext cx="1883664" cy="384048"/>
          </a:xfrm>
          <a:prstGeom prst="roundRect">
            <a:avLst>
              <a:gd name="adj" fmla="val 50000"/>
            </a:avLst>
          </a:prstGeom>
          <a:solidFill>
            <a:srgbClr val="FFFFFF"/>
          </a:solidFill>
          <a:ln w="12700">
            <a:solidFill>
              <a:srgbClr val="E4DCC9"/>
            </a:solidFill>
            <a:prstDash val="solid"/>
          </a:ln>
        </p:spPr>
      </p:sp>
      <p:sp>
        <p:nvSpPr>
          <p:cNvPr id="8" name="Text 6"/>
          <p:cNvSpPr txBox="1"/>
          <p:nvPr/>
        </p:nvSpPr>
        <p:spPr>
          <a:xfrm>
            <a:off x="969264" y="3639312"/>
            <a:ext cx="1609344" cy="420624"/>
          </a:xfrm>
          <a:prstGeom prst="rect">
            <a:avLst/>
          </a:prstGeom>
          <a:noFill/>
          <a:ln/>
        </p:spPr>
        <p:txBody>
          <a:bodyPr wrap="square" lIns="0" tIns="0" rIns="0" bIns="0" rtlCol="0" anchor="ctr"/>
          <a:lstStyle/>
          <a:p>
            <a:pPr indent="0" marL="0">
              <a:buNone/>
            </a:pPr>
            <a:r>
              <a:rPr lang="en-US" sz="1050" dirty="0">
                <a:solidFill>
                  <a:srgbClr val="1D1A15"/>
                </a:solidFill>
                <a:latin typeface="Calibri" pitchFamily="34" charset="0"/>
                <a:ea typeface="Calibri" pitchFamily="34" charset="-122"/>
                <a:cs typeface="Calibri" pitchFamily="34" charset="-120"/>
              </a:rPr>
              <a:t>Many tools, one home</a:t>
            </a:r>
            <a:endParaRPr lang="en-US" sz="1050" dirty="0"/>
          </a:p>
        </p:txBody>
      </p:sp>
      <p:sp>
        <p:nvSpPr>
          <p:cNvPr id="9" name="Shape 7"/>
          <p:cNvSpPr/>
          <p:nvPr/>
        </p:nvSpPr>
        <p:spPr>
          <a:xfrm>
            <a:off x="2871216" y="3657600"/>
            <a:ext cx="1097280" cy="384048"/>
          </a:xfrm>
          <a:prstGeom prst="roundRect">
            <a:avLst>
              <a:gd name="adj" fmla="val 50000"/>
            </a:avLst>
          </a:prstGeom>
          <a:solidFill>
            <a:srgbClr val="FFFFFF"/>
          </a:solidFill>
          <a:ln w="12700">
            <a:solidFill>
              <a:srgbClr val="E4DCC9"/>
            </a:solidFill>
            <a:prstDash val="solid"/>
          </a:ln>
        </p:spPr>
      </p:sp>
      <p:sp>
        <p:nvSpPr>
          <p:cNvPr id="10" name="Shape 8"/>
          <p:cNvSpPr/>
          <p:nvPr/>
        </p:nvSpPr>
        <p:spPr>
          <a:xfrm>
            <a:off x="3017520" y="3799332"/>
            <a:ext cx="100584" cy="100584"/>
          </a:xfrm>
          <a:prstGeom prst="ellipse">
            <a:avLst/>
          </a:prstGeom>
          <a:solidFill>
            <a:srgbClr val="B0842F"/>
          </a:solidFill>
          <a:ln/>
        </p:spPr>
      </p:sp>
      <p:sp>
        <p:nvSpPr>
          <p:cNvPr id="11" name="Text 9"/>
          <p:cNvSpPr txBox="1"/>
          <p:nvPr/>
        </p:nvSpPr>
        <p:spPr>
          <a:xfrm>
            <a:off x="3182112" y="3639312"/>
            <a:ext cx="822960" cy="420624"/>
          </a:xfrm>
          <a:prstGeom prst="rect">
            <a:avLst/>
          </a:prstGeom>
          <a:noFill/>
          <a:ln/>
        </p:spPr>
        <p:txBody>
          <a:bodyPr wrap="square" lIns="0" tIns="0" rIns="0" bIns="0" rtlCol="0" anchor="ctr"/>
          <a:lstStyle/>
          <a:p>
            <a:pPr indent="0" marL="0">
              <a:buNone/>
            </a:pPr>
            <a:r>
              <a:rPr lang="en-US" sz="1050" dirty="0">
                <a:solidFill>
                  <a:srgbClr val="1D1A15"/>
                </a:solidFill>
                <a:latin typeface="Calibri" pitchFamily="34" charset="0"/>
                <a:ea typeface="Calibri" pitchFamily="34" charset="-122"/>
                <a:cs typeface="Calibri" pitchFamily="34" charset="-120"/>
              </a:rPr>
              <a:t>Planned</a:t>
            </a:r>
            <a:endParaRPr lang="en-US" sz="1050" dirty="0"/>
          </a:p>
        </p:txBody>
      </p:sp>
      <p:sp>
        <p:nvSpPr>
          <p:cNvPr id="12" name="Shape 10"/>
          <p:cNvSpPr/>
          <p:nvPr/>
        </p:nvSpPr>
        <p:spPr>
          <a:xfrm>
            <a:off x="7040880" y="1645920"/>
            <a:ext cx="4480560" cy="3566160"/>
          </a:xfrm>
          <a:prstGeom prst="roundRect">
            <a:avLst>
              <a:gd name="adj" fmla="val 3077"/>
            </a:avLst>
          </a:prstGeom>
          <a:solidFill>
            <a:srgbClr val="FFFFFF"/>
          </a:solidFill>
          <a:ln w="12700">
            <a:solidFill>
              <a:srgbClr val="E4DCC9"/>
            </a:solidFill>
            <a:prstDash val="solid"/>
          </a:ln>
          <a:effectLst>
            <a:outerShdw sx="100000" sy="100000" kx="0" ky="0" algn="bl" rotWithShape="0" blurRad="127000" dist="38100" dir="5400000">
              <a:srgbClr val="6B6252">
                <a:alpha val="35000"/>
              </a:srgbClr>
            </a:outerShdw>
          </a:effectLst>
        </p:spPr>
      </p:sp>
      <p:sp>
        <p:nvSpPr>
          <p:cNvPr id="13" name="Shape 11"/>
          <p:cNvSpPr/>
          <p:nvPr/>
        </p:nvSpPr>
        <p:spPr>
          <a:xfrm>
            <a:off x="7040880" y="1645920"/>
            <a:ext cx="4480560" cy="384048"/>
          </a:xfrm>
          <a:prstGeom prst="roundRect">
            <a:avLst>
              <a:gd name="adj" fmla="val 28571"/>
            </a:avLst>
          </a:prstGeom>
          <a:solidFill>
            <a:srgbClr val="FBFAF6"/>
          </a:solidFill>
          <a:ln/>
        </p:spPr>
      </p:sp>
      <p:sp>
        <p:nvSpPr>
          <p:cNvPr id="14" name="Shape 12"/>
          <p:cNvSpPr/>
          <p:nvPr/>
        </p:nvSpPr>
        <p:spPr>
          <a:xfrm>
            <a:off x="7040880" y="1901952"/>
            <a:ext cx="4480560" cy="128016"/>
          </a:xfrm>
          <a:prstGeom prst="rect">
            <a:avLst/>
          </a:prstGeom>
          <a:solidFill>
            <a:srgbClr val="FBFAF6"/>
          </a:solidFill>
          <a:ln/>
        </p:spPr>
      </p:sp>
      <p:sp>
        <p:nvSpPr>
          <p:cNvPr id="15" name="Shape 13"/>
          <p:cNvSpPr/>
          <p:nvPr/>
        </p:nvSpPr>
        <p:spPr>
          <a:xfrm>
            <a:off x="7205472" y="1783080"/>
            <a:ext cx="100584" cy="100584"/>
          </a:xfrm>
          <a:prstGeom prst="ellipse">
            <a:avLst/>
          </a:prstGeom>
          <a:solidFill>
            <a:srgbClr val="C9BFA9"/>
          </a:solidFill>
          <a:ln/>
        </p:spPr>
      </p:sp>
      <p:sp>
        <p:nvSpPr>
          <p:cNvPr id="16" name="Shape 14"/>
          <p:cNvSpPr/>
          <p:nvPr/>
        </p:nvSpPr>
        <p:spPr>
          <a:xfrm>
            <a:off x="7388352" y="1783080"/>
            <a:ext cx="100584" cy="100584"/>
          </a:xfrm>
          <a:prstGeom prst="ellipse">
            <a:avLst/>
          </a:prstGeom>
          <a:solidFill>
            <a:srgbClr val="C9BFA9"/>
          </a:solidFill>
          <a:ln/>
        </p:spPr>
      </p:sp>
      <p:sp>
        <p:nvSpPr>
          <p:cNvPr id="17" name="Shape 15"/>
          <p:cNvSpPr/>
          <p:nvPr/>
        </p:nvSpPr>
        <p:spPr>
          <a:xfrm>
            <a:off x="7571232" y="1783080"/>
            <a:ext cx="100584" cy="100584"/>
          </a:xfrm>
          <a:prstGeom prst="ellipse">
            <a:avLst/>
          </a:prstGeom>
          <a:solidFill>
            <a:srgbClr val="C9BFA9"/>
          </a:solidFill>
          <a:ln/>
        </p:spPr>
      </p:sp>
      <p:sp>
        <p:nvSpPr>
          <p:cNvPr id="18" name="Text 16"/>
          <p:cNvSpPr txBox="1"/>
          <p:nvPr/>
        </p:nvSpPr>
        <p:spPr>
          <a:xfrm>
            <a:off x="7818120" y="1673352"/>
            <a:ext cx="3566160" cy="329184"/>
          </a:xfrm>
          <a:prstGeom prst="rect">
            <a:avLst/>
          </a:prstGeom>
          <a:noFill/>
          <a:ln/>
        </p:spPr>
        <p:txBody>
          <a:bodyPr wrap="square" lIns="0" tIns="0" rIns="0" bIns="0" rtlCol="0" anchor="ctr"/>
          <a:lstStyle/>
          <a:p>
            <a:pPr indent="0" marL="0">
              <a:buNone/>
            </a:pPr>
            <a:r>
              <a:rPr lang="en-US" sz="900" dirty="0">
                <a:solidFill>
                  <a:srgbClr val="7A7266"/>
                </a:solidFill>
                <a:latin typeface="Calibri" pitchFamily="34" charset="0"/>
                <a:ea typeface="Calibri" pitchFamily="34" charset="-122"/>
                <a:cs typeface="Calibri" pitchFamily="34" charset="-120"/>
              </a:rPr>
              <a:t>one platform</a:t>
            </a:r>
            <a:endParaRPr lang="en-US" sz="900" dirty="0"/>
          </a:p>
        </p:txBody>
      </p:sp>
      <p:sp>
        <p:nvSpPr>
          <p:cNvPr id="19" name="Shape 17"/>
          <p:cNvSpPr/>
          <p:nvPr/>
        </p:nvSpPr>
        <p:spPr>
          <a:xfrm>
            <a:off x="7040880" y="2029968"/>
            <a:ext cx="4480560" cy="0"/>
          </a:xfrm>
          <a:prstGeom prst="line">
            <a:avLst/>
          </a:prstGeom>
          <a:noFill/>
          <a:ln w="12700">
            <a:solidFill>
              <a:srgbClr val="E4DCC9"/>
            </a:solidFill>
            <a:prstDash val="solid"/>
          </a:ln>
        </p:spPr>
      </p:sp>
      <p:sp>
        <p:nvSpPr>
          <p:cNvPr id="20" name="Shape 18"/>
          <p:cNvSpPr/>
          <p:nvPr/>
        </p:nvSpPr>
        <p:spPr>
          <a:xfrm>
            <a:off x="7296912" y="2258568"/>
            <a:ext cx="1237488" cy="502920"/>
          </a:xfrm>
          <a:prstGeom prst="roundRect">
            <a:avLst>
              <a:gd name="adj" fmla="val 10909"/>
            </a:avLst>
          </a:prstGeom>
          <a:solidFill>
            <a:srgbClr val="FBFAF6"/>
          </a:solidFill>
          <a:ln w="12700">
            <a:solidFill>
              <a:srgbClr val="E4DCC9"/>
            </a:solidFill>
            <a:prstDash val="solid"/>
          </a:ln>
        </p:spPr>
      </p:sp>
      <p:sp>
        <p:nvSpPr>
          <p:cNvPr id="21" name="Text 19"/>
          <p:cNvSpPr txBox="1"/>
          <p:nvPr/>
        </p:nvSpPr>
        <p:spPr>
          <a:xfrm>
            <a:off x="7333488" y="2258568"/>
            <a:ext cx="1164336" cy="502920"/>
          </a:xfrm>
          <a:prstGeom prst="rect">
            <a:avLst/>
          </a:prstGeom>
          <a:noFill/>
          <a:ln/>
        </p:spPr>
        <p:txBody>
          <a:bodyPr wrap="square" lIns="0" tIns="0" rIns="0" bIns="0" rtlCol="0" anchor="ctr"/>
          <a:lstStyle/>
          <a:p>
            <a:pPr algn="ctr" indent="0" marL="0">
              <a:buNone/>
            </a:pPr>
            <a:r>
              <a:rPr lang="en-US" sz="750" dirty="0">
                <a:solidFill>
                  <a:srgbClr val="1D1A15"/>
                </a:solidFill>
                <a:latin typeface="Calibri" pitchFamily="34" charset="0"/>
                <a:ea typeface="Calibri" pitchFamily="34" charset="-122"/>
                <a:cs typeface="Calibri" pitchFamily="34" charset="-120"/>
              </a:rPr>
              <a:t>Salesforce</a:t>
            </a:r>
            <a:endParaRPr lang="en-US" sz="750" dirty="0"/>
          </a:p>
        </p:txBody>
      </p:sp>
      <p:sp>
        <p:nvSpPr>
          <p:cNvPr id="22" name="Shape 20"/>
          <p:cNvSpPr/>
          <p:nvPr/>
        </p:nvSpPr>
        <p:spPr>
          <a:xfrm>
            <a:off x="8662416" y="2258568"/>
            <a:ext cx="1237488" cy="502920"/>
          </a:xfrm>
          <a:prstGeom prst="roundRect">
            <a:avLst>
              <a:gd name="adj" fmla="val 10909"/>
            </a:avLst>
          </a:prstGeom>
          <a:solidFill>
            <a:srgbClr val="FBFAF6"/>
          </a:solidFill>
          <a:ln w="12700">
            <a:solidFill>
              <a:srgbClr val="E4DCC9"/>
            </a:solidFill>
            <a:prstDash val="solid"/>
          </a:ln>
        </p:spPr>
      </p:sp>
      <p:sp>
        <p:nvSpPr>
          <p:cNvPr id="23" name="Text 21"/>
          <p:cNvSpPr txBox="1"/>
          <p:nvPr/>
        </p:nvSpPr>
        <p:spPr>
          <a:xfrm>
            <a:off x="8698992" y="2258568"/>
            <a:ext cx="1164336" cy="502920"/>
          </a:xfrm>
          <a:prstGeom prst="rect">
            <a:avLst/>
          </a:prstGeom>
          <a:noFill/>
          <a:ln/>
        </p:spPr>
        <p:txBody>
          <a:bodyPr wrap="square" lIns="0" tIns="0" rIns="0" bIns="0" rtlCol="0" anchor="ctr"/>
          <a:lstStyle/>
          <a:p>
            <a:pPr algn="ctr" indent="0" marL="0">
              <a:buNone/>
            </a:pPr>
            <a:r>
              <a:rPr lang="en-US" sz="750" dirty="0">
                <a:solidFill>
                  <a:srgbClr val="1D1A15"/>
                </a:solidFill>
                <a:latin typeface="Calibri" pitchFamily="34" charset="0"/>
                <a:ea typeface="Calibri" pitchFamily="34" charset="-122"/>
                <a:cs typeface="Calibri" pitchFamily="34" charset="-120"/>
              </a:rPr>
              <a:t>Learning platform</a:t>
            </a:r>
            <a:endParaRPr lang="en-US" sz="750" dirty="0"/>
          </a:p>
        </p:txBody>
      </p:sp>
      <p:sp>
        <p:nvSpPr>
          <p:cNvPr id="24" name="Shape 22"/>
          <p:cNvSpPr/>
          <p:nvPr/>
        </p:nvSpPr>
        <p:spPr>
          <a:xfrm>
            <a:off x="10027920" y="2258568"/>
            <a:ext cx="1237488" cy="502920"/>
          </a:xfrm>
          <a:prstGeom prst="roundRect">
            <a:avLst>
              <a:gd name="adj" fmla="val 10909"/>
            </a:avLst>
          </a:prstGeom>
          <a:solidFill>
            <a:srgbClr val="FBFAF6"/>
          </a:solidFill>
          <a:ln w="12700">
            <a:solidFill>
              <a:srgbClr val="E4DCC9"/>
            </a:solidFill>
            <a:prstDash val="solid"/>
          </a:ln>
        </p:spPr>
      </p:sp>
      <p:sp>
        <p:nvSpPr>
          <p:cNvPr id="25" name="Text 23"/>
          <p:cNvSpPr txBox="1"/>
          <p:nvPr/>
        </p:nvSpPr>
        <p:spPr>
          <a:xfrm>
            <a:off x="10064496" y="2258568"/>
            <a:ext cx="1164336" cy="502920"/>
          </a:xfrm>
          <a:prstGeom prst="rect">
            <a:avLst/>
          </a:prstGeom>
          <a:noFill/>
          <a:ln/>
        </p:spPr>
        <p:txBody>
          <a:bodyPr wrap="square" lIns="0" tIns="0" rIns="0" bIns="0" rtlCol="0" anchor="ctr"/>
          <a:lstStyle/>
          <a:p>
            <a:pPr algn="ctr" indent="0" marL="0">
              <a:buNone/>
            </a:pPr>
            <a:r>
              <a:rPr lang="en-US" sz="750" dirty="0">
                <a:solidFill>
                  <a:srgbClr val="1D1A15"/>
                </a:solidFill>
                <a:latin typeface="Calibri" pitchFamily="34" charset="0"/>
                <a:ea typeface="Calibri" pitchFamily="34" charset="-122"/>
                <a:cs typeface="Calibri" pitchFamily="34" charset="-120"/>
              </a:rPr>
              <a:t>Email</a:t>
            </a:r>
            <a:endParaRPr lang="en-US" sz="750" dirty="0"/>
          </a:p>
        </p:txBody>
      </p:sp>
      <p:sp>
        <p:nvSpPr>
          <p:cNvPr id="26" name="Shape 24"/>
          <p:cNvSpPr/>
          <p:nvPr/>
        </p:nvSpPr>
        <p:spPr>
          <a:xfrm>
            <a:off x="7296912" y="2889504"/>
            <a:ext cx="1237488" cy="502920"/>
          </a:xfrm>
          <a:prstGeom prst="roundRect">
            <a:avLst>
              <a:gd name="adj" fmla="val 10909"/>
            </a:avLst>
          </a:prstGeom>
          <a:solidFill>
            <a:srgbClr val="FBFAF6"/>
          </a:solidFill>
          <a:ln w="12700">
            <a:solidFill>
              <a:srgbClr val="E4DCC9"/>
            </a:solidFill>
            <a:prstDash val="solid"/>
          </a:ln>
        </p:spPr>
      </p:sp>
      <p:sp>
        <p:nvSpPr>
          <p:cNvPr id="27" name="Text 25"/>
          <p:cNvSpPr txBox="1"/>
          <p:nvPr/>
        </p:nvSpPr>
        <p:spPr>
          <a:xfrm>
            <a:off x="7333488" y="2889504"/>
            <a:ext cx="1164336" cy="502920"/>
          </a:xfrm>
          <a:prstGeom prst="rect">
            <a:avLst/>
          </a:prstGeom>
          <a:noFill/>
          <a:ln/>
        </p:spPr>
        <p:txBody>
          <a:bodyPr wrap="square" lIns="0" tIns="0" rIns="0" bIns="0" rtlCol="0" anchor="ctr"/>
          <a:lstStyle/>
          <a:p>
            <a:pPr algn="ctr" indent="0" marL="0">
              <a:buNone/>
            </a:pPr>
            <a:r>
              <a:rPr lang="en-US" sz="750" dirty="0">
                <a:solidFill>
                  <a:srgbClr val="1D1A15"/>
                </a:solidFill>
                <a:latin typeface="Calibri" pitchFamily="34" charset="0"/>
                <a:ea typeface="Calibri" pitchFamily="34" charset="-122"/>
                <a:cs typeface="Calibri" pitchFamily="34" charset="-120"/>
              </a:rPr>
              <a:t>Spreadsheets</a:t>
            </a:r>
            <a:endParaRPr lang="en-US" sz="750" dirty="0"/>
          </a:p>
        </p:txBody>
      </p:sp>
      <p:sp>
        <p:nvSpPr>
          <p:cNvPr id="28" name="Shape 26"/>
          <p:cNvSpPr/>
          <p:nvPr/>
        </p:nvSpPr>
        <p:spPr>
          <a:xfrm>
            <a:off x="8662416" y="2889504"/>
            <a:ext cx="1237488" cy="502920"/>
          </a:xfrm>
          <a:prstGeom prst="roundRect">
            <a:avLst>
              <a:gd name="adj" fmla="val 10909"/>
            </a:avLst>
          </a:prstGeom>
          <a:solidFill>
            <a:srgbClr val="FBFAF6"/>
          </a:solidFill>
          <a:ln w="12700">
            <a:solidFill>
              <a:srgbClr val="E4DCC9"/>
            </a:solidFill>
            <a:prstDash val="solid"/>
          </a:ln>
        </p:spPr>
      </p:sp>
      <p:sp>
        <p:nvSpPr>
          <p:cNvPr id="29" name="Text 27"/>
          <p:cNvSpPr txBox="1"/>
          <p:nvPr/>
        </p:nvSpPr>
        <p:spPr>
          <a:xfrm>
            <a:off x="8698992" y="2889504"/>
            <a:ext cx="1164336" cy="502920"/>
          </a:xfrm>
          <a:prstGeom prst="rect">
            <a:avLst/>
          </a:prstGeom>
          <a:noFill/>
          <a:ln/>
        </p:spPr>
        <p:txBody>
          <a:bodyPr wrap="square" lIns="0" tIns="0" rIns="0" bIns="0" rtlCol="0" anchor="ctr"/>
          <a:lstStyle/>
          <a:p>
            <a:pPr algn="ctr" indent="0" marL="0">
              <a:buNone/>
            </a:pPr>
            <a:r>
              <a:rPr lang="en-US" sz="750" dirty="0">
                <a:solidFill>
                  <a:srgbClr val="1D1A15"/>
                </a:solidFill>
                <a:latin typeface="Calibri" pitchFamily="34" charset="0"/>
                <a:ea typeface="Calibri" pitchFamily="34" charset="-122"/>
                <a:cs typeface="Calibri" pitchFamily="34" charset="-120"/>
              </a:rPr>
              <a:t>Documents</a:t>
            </a:r>
            <a:endParaRPr lang="en-US" sz="750" dirty="0"/>
          </a:p>
        </p:txBody>
      </p:sp>
      <p:sp>
        <p:nvSpPr>
          <p:cNvPr id="30" name="Shape 28"/>
          <p:cNvSpPr/>
          <p:nvPr/>
        </p:nvSpPr>
        <p:spPr>
          <a:xfrm>
            <a:off x="10027920" y="2889504"/>
            <a:ext cx="1237488" cy="502920"/>
          </a:xfrm>
          <a:prstGeom prst="roundRect">
            <a:avLst>
              <a:gd name="adj" fmla="val 10909"/>
            </a:avLst>
          </a:prstGeom>
          <a:solidFill>
            <a:srgbClr val="FBFAF6"/>
          </a:solidFill>
          <a:ln w="12700">
            <a:solidFill>
              <a:srgbClr val="E4DCC9"/>
            </a:solidFill>
            <a:prstDash val="solid"/>
          </a:ln>
        </p:spPr>
      </p:sp>
      <p:sp>
        <p:nvSpPr>
          <p:cNvPr id="31" name="Text 29"/>
          <p:cNvSpPr txBox="1"/>
          <p:nvPr/>
        </p:nvSpPr>
        <p:spPr>
          <a:xfrm>
            <a:off x="10064496" y="2889504"/>
            <a:ext cx="1164336" cy="502920"/>
          </a:xfrm>
          <a:prstGeom prst="rect">
            <a:avLst/>
          </a:prstGeom>
          <a:noFill/>
          <a:ln/>
        </p:spPr>
        <p:txBody>
          <a:bodyPr wrap="square" lIns="0" tIns="0" rIns="0" bIns="0" rtlCol="0" anchor="ctr"/>
          <a:lstStyle/>
          <a:p>
            <a:pPr algn="ctr" indent="0" marL="0">
              <a:buNone/>
            </a:pPr>
            <a:r>
              <a:rPr lang="en-US" sz="750" dirty="0">
                <a:solidFill>
                  <a:srgbClr val="1D1A15"/>
                </a:solidFill>
                <a:latin typeface="Calibri" pitchFamily="34" charset="0"/>
                <a:ea typeface="Calibri" pitchFamily="34" charset="-122"/>
                <a:cs typeface="Calibri" pitchFamily="34" charset="-120"/>
              </a:rPr>
              <a:t>Trello</a:t>
            </a:r>
            <a:endParaRPr lang="en-US" sz="750" dirty="0"/>
          </a:p>
        </p:txBody>
      </p:sp>
      <p:sp>
        <p:nvSpPr>
          <p:cNvPr id="32" name="Text 30"/>
          <p:cNvSpPr txBox="1"/>
          <p:nvPr/>
        </p:nvSpPr>
        <p:spPr>
          <a:xfrm>
            <a:off x="7296912" y="3438144"/>
            <a:ext cx="3968496" cy="274320"/>
          </a:xfrm>
          <a:prstGeom prst="rect">
            <a:avLst/>
          </a:prstGeom>
          <a:noFill/>
          <a:ln/>
        </p:spPr>
        <p:txBody>
          <a:bodyPr wrap="square" lIns="0" tIns="0" rIns="0" bIns="0" rtlCol="0" anchor="ctr"/>
          <a:lstStyle/>
          <a:p>
            <a:pPr algn="ctr" indent="0" marL="0">
              <a:buNone/>
            </a:pPr>
            <a:r>
              <a:rPr lang="en-US" sz="1500" b="1" dirty="0">
                <a:solidFill>
                  <a:srgbClr val="9C7C2E"/>
                </a:solidFill>
                <a:latin typeface="Calibri" pitchFamily="34" charset="0"/>
                <a:ea typeface="Calibri" pitchFamily="34" charset="-122"/>
                <a:cs typeface="Calibri" pitchFamily="34" charset="-120"/>
              </a:rPr>
              <a:t>↓</a:t>
            </a:r>
            <a:endParaRPr lang="en-US" sz="1500" dirty="0"/>
          </a:p>
        </p:txBody>
      </p:sp>
      <p:sp>
        <p:nvSpPr>
          <p:cNvPr id="33" name="Shape 31"/>
          <p:cNvSpPr/>
          <p:nvPr/>
        </p:nvSpPr>
        <p:spPr>
          <a:xfrm>
            <a:off x="7296912" y="3803904"/>
            <a:ext cx="3968496" cy="566928"/>
          </a:xfrm>
          <a:prstGeom prst="roundRect">
            <a:avLst>
              <a:gd name="adj" fmla="val 16129"/>
            </a:avLst>
          </a:prstGeom>
          <a:solidFill>
            <a:srgbClr val="F3E7C8"/>
          </a:solidFill>
          <a:ln w="12700">
            <a:solidFill>
              <a:srgbClr val="9C7C2E"/>
            </a:solidFill>
            <a:prstDash val="solid"/>
          </a:ln>
        </p:spPr>
      </p:sp>
      <p:sp>
        <p:nvSpPr>
          <p:cNvPr id="34" name="Text 32"/>
          <p:cNvSpPr txBox="1"/>
          <p:nvPr/>
        </p:nvSpPr>
        <p:spPr>
          <a:xfrm>
            <a:off x="7296912" y="3803904"/>
            <a:ext cx="3968496" cy="566928"/>
          </a:xfrm>
          <a:prstGeom prst="rect">
            <a:avLst/>
          </a:prstGeom>
          <a:noFill/>
          <a:ln/>
        </p:spPr>
        <p:txBody>
          <a:bodyPr wrap="square" lIns="0" tIns="0" rIns="0" bIns="0" rtlCol="0" anchor="ctr"/>
          <a:lstStyle/>
          <a:p>
            <a:pPr algn="ctr" indent="0" marL="0">
              <a:buNone/>
            </a:pPr>
            <a:r>
              <a:rPr lang="en-US" sz="1300" b="1" dirty="0">
                <a:solidFill>
                  <a:srgbClr val="7A5A12"/>
                </a:solidFill>
                <a:latin typeface="Georgia" pitchFamily="34" charset="0"/>
                <a:ea typeface="Georgia" pitchFamily="34" charset="-122"/>
                <a:cs typeface="Georgia" pitchFamily="34" charset="-120"/>
              </a:rPr>
              <a:t>DeepRoots · one platform</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822960" y="777240"/>
            <a:ext cx="7315200" cy="274320"/>
          </a:xfrm>
          <a:prstGeom prst="rect">
            <a:avLst/>
          </a:prstGeom>
          <a:noFill/>
          <a:ln/>
        </p:spPr>
        <p:txBody>
          <a:bodyPr wrap="square" lIns="0" tIns="0" rIns="0" bIns="0" rtlCol="0" anchor="ctr"/>
          <a:lstStyle/>
          <a:p>
            <a:pPr indent="0" marL="0">
              <a:buNone/>
            </a:pPr>
            <a:r>
              <a:rPr lang="en-US" sz="1100" b="1" spc="300" kern="0" dirty="0">
                <a:solidFill>
                  <a:srgbClr val="9C7C2E"/>
                </a:solidFill>
                <a:latin typeface="Calibri" pitchFamily="34" charset="0"/>
                <a:ea typeface="Calibri" pitchFamily="34" charset="-122"/>
                <a:cs typeface="Calibri" pitchFamily="34" charset="-120"/>
              </a:rPr>
              <a:t>BEHIND THE SCENES · FOUNDATION</a:t>
            </a:r>
            <a:endParaRPr lang="en-US" sz="1100" dirty="0"/>
          </a:p>
        </p:txBody>
      </p:sp>
      <p:sp>
        <p:nvSpPr>
          <p:cNvPr id="3" name="Shape 1"/>
          <p:cNvSpPr/>
          <p:nvPr/>
        </p:nvSpPr>
        <p:spPr>
          <a:xfrm>
            <a:off x="10314432" y="731520"/>
            <a:ext cx="1051560" cy="310896"/>
          </a:xfrm>
          <a:prstGeom prst="roundRect">
            <a:avLst>
              <a:gd name="adj" fmla="val 50000"/>
            </a:avLst>
          </a:prstGeom>
          <a:solidFill>
            <a:srgbClr val="F3E7C8"/>
          </a:solidFill>
          <a:ln w="9525">
            <a:solidFill>
              <a:srgbClr val="9C7C2E"/>
            </a:solidFill>
            <a:prstDash val="solid"/>
          </a:ln>
        </p:spPr>
      </p:sp>
      <p:sp>
        <p:nvSpPr>
          <p:cNvPr id="4" name="Text 2"/>
          <p:cNvSpPr txBox="1"/>
          <p:nvPr/>
        </p:nvSpPr>
        <p:spPr>
          <a:xfrm>
            <a:off x="10314432" y="722376"/>
            <a:ext cx="1051560" cy="320040"/>
          </a:xfrm>
          <a:prstGeom prst="rect">
            <a:avLst/>
          </a:prstGeom>
          <a:noFill/>
          <a:ln/>
        </p:spPr>
        <p:txBody>
          <a:bodyPr wrap="square" lIns="0" tIns="0" rIns="0" bIns="0" rtlCol="0" anchor="ctr"/>
          <a:lstStyle/>
          <a:p>
            <a:pPr algn="ctr" indent="0" marL="0">
              <a:buNone/>
            </a:pPr>
            <a:r>
              <a:rPr lang="en-US" sz="850" b="1" spc="100" kern="0" dirty="0">
                <a:solidFill>
                  <a:srgbClr val="7A5A12"/>
                </a:solidFill>
                <a:latin typeface="Calibri" pitchFamily="34" charset="0"/>
                <a:ea typeface="Calibri" pitchFamily="34" charset="-122"/>
                <a:cs typeface="Calibri" pitchFamily="34" charset="-120"/>
              </a:rPr>
              <a:t>PHASE 3</a:t>
            </a:r>
            <a:endParaRPr lang="en-US" sz="850" dirty="0"/>
          </a:p>
        </p:txBody>
      </p:sp>
      <p:sp>
        <p:nvSpPr>
          <p:cNvPr id="5" name="Text 3"/>
          <p:cNvSpPr txBox="1"/>
          <p:nvPr/>
        </p:nvSpPr>
        <p:spPr>
          <a:xfrm>
            <a:off x="822960" y="1097280"/>
            <a:ext cx="5760720" cy="1371600"/>
          </a:xfrm>
          <a:prstGeom prst="rect">
            <a:avLst/>
          </a:prstGeom>
          <a:noFill/>
          <a:ln/>
        </p:spPr>
        <p:txBody>
          <a:bodyPr wrap="square" lIns="0" tIns="0" rIns="0" bIns="0" rtlCol="0" anchor="t"/>
          <a:lstStyle/>
          <a:p>
            <a:pPr indent="0" marL="0">
              <a:lnSpc>
                <a:spcPct val="98000"/>
              </a:lnSpc>
              <a:buNone/>
            </a:pPr>
            <a:r>
              <a:rPr lang="en-US" sz="3200" b="1" dirty="0">
                <a:solidFill>
                  <a:srgbClr val="1D1A15"/>
                </a:solidFill>
                <a:latin typeface="Georgia" pitchFamily="34" charset="0"/>
                <a:ea typeface="Georgia" pitchFamily="34" charset="-122"/>
                <a:cs typeface="Georgia" pitchFamily="34" charset="-120"/>
              </a:rPr>
              <a:t>Data foundation &amp; automation</a:t>
            </a:r>
            <a:endParaRPr lang="en-US" sz="3200" dirty="0"/>
          </a:p>
        </p:txBody>
      </p:sp>
      <p:sp>
        <p:nvSpPr>
          <p:cNvPr id="6" name="Text 4"/>
          <p:cNvSpPr txBox="1"/>
          <p:nvPr/>
        </p:nvSpPr>
        <p:spPr>
          <a:xfrm>
            <a:off x="822960" y="2286000"/>
            <a:ext cx="5760720" cy="1371600"/>
          </a:xfrm>
          <a:prstGeom prst="rect">
            <a:avLst/>
          </a:prstGeom>
          <a:noFill/>
          <a:ln/>
        </p:spPr>
        <p:txBody>
          <a:bodyPr wrap="square" lIns="0" tIns="0" rIns="0" bIns="0" rtlCol="0" anchor="t"/>
          <a:lstStyle/>
          <a:p>
            <a:pPr indent="0" marL="0">
              <a:lnSpc>
                <a:spcPct val="115000"/>
              </a:lnSpc>
              <a:buNone/>
            </a:pPr>
            <a:r>
              <a:rPr lang="en-US" sz="1500" dirty="0">
                <a:solidFill>
                  <a:srgbClr val="7A7266"/>
                </a:solidFill>
                <a:latin typeface="Calibri" pitchFamily="34" charset="0"/>
                <a:ea typeface="Calibri" pitchFamily="34" charset="-122"/>
                <a:cs typeface="Calibri" pitchFamily="34" charset="-120"/>
              </a:rPr>
              <a:t>One secure database under everything, refreshed on a schedule, with a clear “last updated” stamp on every section.</a:t>
            </a:r>
            <a:endParaRPr lang="en-US" sz="1500" dirty="0"/>
          </a:p>
        </p:txBody>
      </p:sp>
      <p:sp>
        <p:nvSpPr>
          <p:cNvPr id="7" name="Text 5"/>
          <p:cNvSpPr txBox="1"/>
          <p:nvPr/>
        </p:nvSpPr>
        <p:spPr>
          <a:xfrm>
            <a:off x="822960" y="3657600"/>
            <a:ext cx="5760720" cy="804672"/>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1D1A15"/>
                </a:solidFill>
                <a:latin typeface="Calibri" pitchFamily="34" charset="0"/>
                <a:ea typeface="Calibri" pitchFamily="34" charset="-122"/>
                <a:cs typeface="Calibri" pitchFamily="34" charset="-120"/>
              </a:rPr>
              <a:t>Real data only, anything illustrative is clearly labeled.</a:t>
            </a:r>
            <a:endParaRPr lang="en-US" sz="1350" dirty="0"/>
          </a:p>
          <a:p>
            <a:pPr marL="177800" indent="-177800">
              <a:spcAft>
                <a:spcPts val="800"/>
              </a:spcAft>
              <a:buSzPct val="100000"/>
              <a:buChar char="•"/>
            </a:pPr>
            <a:r>
              <a:rPr lang="en-US" sz="1350" dirty="0">
                <a:solidFill>
                  <a:srgbClr val="1D1A15"/>
                </a:solidFill>
                <a:latin typeface="Calibri" pitchFamily="34" charset="0"/>
                <a:ea typeface="Calibri" pitchFamily="34" charset="-122"/>
                <a:cs typeface="Calibri" pitchFamily="34" charset="-120"/>
              </a:rPr>
              <a:t>Each person sees only what they should; passwords in a secure vault.</a:t>
            </a:r>
            <a:endParaRPr lang="en-US" sz="1350" dirty="0"/>
          </a:p>
        </p:txBody>
      </p:sp>
      <p:sp>
        <p:nvSpPr>
          <p:cNvPr id="8" name="Shape 6"/>
          <p:cNvSpPr/>
          <p:nvPr/>
        </p:nvSpPr>
        <p:spPr>
          <a:xfrm>
            <a:off x="7040880" y="1645920"/>
            <a:ext cx="4480560" cy="3566160"/>
          </a:xfrm>
          <a:prstGeom prst="roundRect">
            <a:avLst>
              <a:gd name="adj" fmla="val 3077"/>
            </a:avLst>
          </a:prstGeom>
          <a:solidFill>
            <a:srgbClr val="FFFFFF"/>
          </a:solidFill>
          <a:ln w="12700">
            <a:solidFill>
              <a:srgbClr val="E4DCC9"/>
            </a:solidFill>
            <a:prstDash val="solid"/>
          </a:ln>
          <a:effectLst>
            <a:outerShdw sx="100000" sy="100000" kx="0" ky="0" algn="bl" rotWithShape="0" blurRad="127000" dist="38100" dir="5400000">
              <a:srgbClr val="6B6252">
                <a:alpha val="35000"/>
              </a:srgbClr>
            </a:outerShdw>
          </a:effectLst>
        </p:spPr>
      </p:sp>
      <p:sp>
        <p:nvSpPr>
          <p:cNvPr id="9" name="Shape 7"/>
          <p:cNvSpPr/>
          <p:nvPr/>
        </p:nvSpPr>
        <p:spPr>
          <a:xfrm>
            <a:off x="7040880" y="1645920"/>
            <a:ext cx="4480560" cy="384048"/>
          </a:xfrm>
          <a:prstGeom prst="roundRect">
            <a:avLst>
              <a:gd name="adj" fmla="val 28571"/>
            </a:avLst>
          </a:prstGeom>
          <a:solidFill>
            <a:srgbClr val="FBFAF6"/>
          </a:solidFill>
          <a:ln/>
        </p:spPr>
      </p:sp>
      <p:sp>
        <p:nvSpPr>
          <p:cNvPr id="10" name="Shape 8"/>
          <p:cNvSpPr/>
          <p:nvPr/>
        </p:nvSpPr>
        <p:spPr>
          <a:xfrm>
            <a:off x="7040880" y="1901952"/>
            <a:ext cx="4480560" cy="128016"/>
          </a:xfrm>
          <a:prstGeom prst="rect">
            <a:avLst/>
          </a:prstGeom>
          <a:solidFill>
            <a:srgbClr val="FBFAF6"/>
          </a:solidFill>
          <a:ln/>
        </p:spPr>
      </p:sp>
      <p:sp>
        <p:nvSpPr>
          <p:cNvPr id="11" name="Shape 9"/>
          <p:cNvSpPr/>
          <p:nvPr/>
        </p:nvSpPr>
        <p:spPr>
          <a:xfrm>
            <a:off x="7205472" y="1783080"/>
            <a:ext cx="100584" cy="100584"/>
          </a:xfrm>
          <a:prstGeom prst="ellipse">
            <a:avLst/>
          </a:prstGeom>
          <a:solidFill>
            <a:srgbClr val="C9BFA9"/>
          </a:solidFill>
          <a:ln/>
        </p:spPr>
      </p:sp>
      <p:sp>
        <p:nvSpPr>
          <p:cNvPr id="12" name="Shape 10"/>
          <p:cNvSpPr/>
          <p:nvPr/>
        </p:nvSpPr>
        <p:spPr>
          <a:xfrm>
            <a:off x="7388352" y="1783080"/>
            <a:ext cx="100584" cy="100584"/>
          </a:xfrm>
          <a:prstGeom prst="ellipse">
            <a:avLst/>
          </a:prstGeom>
          <a:solidFill>
            <a:srgbClr val="C9BFA9"/>
          </a:solidFill>
          <a:ln/>
        </p:spPr>
      </p:sp>
      <p:sp>
        <p:nvSpPr>
          <p:cNvPr id="13" name="Shape 11"/>
          <p:cNvSpPr/>
          <p:nvPr/>
        </p:nvSpPr>
        <p:spPr>
          <a:xfrm>
            <a:off x="7571232" y="1783080"/>
            <a:ext cx="100584" cy="100584"/>
          </a:xfrm>
          <a:prstGeom prst="ellipse">
            <a:avLst/>
          </a:prstGeom>
          <a:solidFill>
            <a:srgbClr val="C9BFA9"/>
          </a:solidFill>
          <a:ln/>
        </p:spPr>
      </p:sp>
      <p:sp>
        <p:nvSpPr>
          <p:cNvPr id="14" name="Text 12"/>
          <p:cNvSpPr txBox="1"/>
          <p:nvPr/>
        </p:nvSpPr>
        <p:spPr>
          <a:xfrm>
            <a:off x="7818120" y="1673352"/>
            <a:ext cx="3566160" cy="329184"/>
          </a:xfrm>
          <a:prstGeom prst="rect">
            <a:avLst/>
          </a:prstGeom>
          <a:noFill/>
          <a:ln/>
        </p:spPr>
        <p:txBody>
          <a:bodyPr wrap="square" lIns="0" tIns="0" rIns="0" bIns="0" rtlCol="0" anchor="ctr"/>
          <a:lstStyle/>
          <a:p>
            <a:pPr indent="0" marL="0">
              <a:buNone/>
            </a:pPr>
            <a:r>
              <a:rPr lang="en-US" sz="900" dirty="0">
                <a:solidFill>
                  <a:srgbClr val="7A7266"/>
                </a:solidFill>
                <a:latin typeface="Calibri" pitchFamily="34" charset="0"/>
                <a:ea typeface="Calibri" pitchFamily="34" charset="-122"/>
                <a:cs typeface="Calibri" pitchFamily="34" charset="-120"/>
              </a:rPr>
              <a:t>company database</a:t>
            </a:r>
            <a:endParaRPr lang="en-US" sz="900" dirty="0"/>
          </a:p>
        </p:txBody>
      </p:sp>
      <p:sp>
        <p:nvSpPr>
          <p:cNvPr id="15" name="Shape 13"/>
          <p:cNvSpPr/>
          <p:nvPr/>
        </p:nvSpPr>
        <p:spPr>
          <a:xfrm>
            <a:off x="7040880" y="2029968"/>
            <a:ext cx="4480560" cy="0"/>
          </a:xfrm>
          <a:prstGeom prst="line">
            <a:avLst/>
          </a:prstGeom>
          <a:noFill/>
          <a:ln w="12700">
            <a:solidFill>
              <a:srgbClr val="E4DCC9"/>
            </a:solidFill>
            <a:prstDash val="solid"/>
          </a:ln>
        </p:spPr>
      </p:sp>
      <p:sp>
        <p:nvSpPr>
          <p:cNvPr id="16" name="Shape 14"/>
          <p:cNvSpPr/>
          <p:nvPr/>
        </p:nvSpPr>
        <p:spPr>
          <a:xfrm>
            <a:off x="7296912" y="2212848"/>
            <a:ext cx="1901952" cy="1298448"/>
          </a:xfrm>
          <a:prstGeom prst="roundRect">
            <a:avLst>
              <a:gd name="adj" fmla="val 4225"/>
            </a:avLst>
          </a:prstGeom>
          <a:solidFill>
            <a:srgbClr val="FBFAF6"/>
          </a:solidFill>
          <a:ln w="12700">
            <a:solidFill>
              <a:srgbClr val="E4DCC9"/>
            </a:solidFill>
            <a:prstDash val="solid"/>
          </a:ln>
        </p:spPr>
      </p:sp>
      <p:sp>
        <p:nvSpPr>
          <p:cNvPr id="17" name="Text 15"/>
          <p:cNvSpPr txBox="1"/>
          <p:nvPr/>
        </p:nvSpPr>
        <p:spPr>
          <a:xfrm>
            <a:off x="7424928" y="2359152"/>
            <a:ext cx="1645920" cy="274320"/>
          </a:xfrm>
          <a:prstGeom prst="rect">
            <a:avLst/>
          </a:prstGeom>
          <a:noFill/>
          <a:ln/>
        </p:spPr>
        <p:txBody>
          <a:bodyPr wrap="square" lIns="0" tIns="0" rIns="0" bIns="0" rtlCol="0" anchor="ctr"/>
          <a:lstStyle/>
          <a:p>
            <a:pPr indent="0" marL="0">
              <a:buNone/>
            </a:pPr>
            <a:r>
              <a:rPr lang="en-US" sz="850" b="1" spc="100" kern="0" dirty="0">
                <a:solidFill>
                  <a:srgbClr val="7A7266"/>
                </a:solidFill>
                <a:latin typeface="Calibri" pitchFamily="34" charset="0"/>
                <a:ea typeface="Calibri" pitchFamily="34" charset="-122"/>
                <a:cs typeface="Calibri" pitchFamily="34" charset="-120"/>
              </a:rPr>
              <a:t>UPDATES</a:t>
            </a:r>
            <a:endParaRPr lang="en-US" sz="850" dirty="0"/>
          </a:p>
        </p:txBody>
      </p:sp>
      <p:sp>
        <p:nvSpPr>
          <p:cNvPr id="18" name="Text 16"/>
          <p:cNvSpPr txBox="1"/>
          <p:nvPr/>
        </p:nvSpPr>
        <p:spPr>
          <a:xfrm>
            <a:off x="7424928" y="2670048"/>
            <a:ext cx="1645920" cy="457200"/>
          </a:xfrm>
          <a:prstGeom prst="rect">
            <a:avLst/>
          </a:prstGeom>
          <a:noFill/>
          <a:ln/>
        </p:spPr>
        <p:txBody>
          <a:bodyPr wrap="square" lIns="0" tIns="0" rIns="0" bIns="0" rtlCol="0" anchor="ctr"/>
          <a:lstStyle/>
          <a:p>
            <a:pPr indent="0" marL="0">
              <a:buNone/>
            </a:pPr>
            <a:r>
              <a:rPr lang="en-US" sz="1100" dirty="0">
                <a:solidFill>
                  <a:srgbClr val="1D1A15"/>
                </a:solidFill>
                <a:latin typeface="Calibri" pitchFamily="34" charset="0"/>
                <a:ea typeface="Calibri" pitchFamily="34" charset="-122"/>
                <a:cs typeface="Calibri" pitchFamily="34" charset="-120"/>
              </a:rPr>
              <a:t>on a schedule</a:t>
            </a:r>
            <a:endParaRPr lang="en-US" sz="1100" dirty="0"/>
          </a:p>
        </p:txBody>
      </p:sp>
      <p:sp>
        <p:nvSpPr>
          <p:cNvPr id="19" name="Shape 17"/>
          <p:cNvSpPr/>
          <p:nvPr/>
        </p:nvSpPr>
        <p:spPr>
          <a:xfrm>
            <a:off x="9363456" y="2212848"/>
            <a:ext cx="1901952" cy="1298448"/>
          </a:xfrm>
          <a:prstGeom prst="roundRect">
            <a:avLst>
              <a:gd name="adj" fmla="val 4225"/>
            </a:avLst>
          </a:prstGeom>
          <a:solidFill>
            <a:srgbClr val="FBFAF6"/>
          </a:solidFill>
          <a:ln w="12700">
            <a:solidFill>
              <a:srgbClr val="E4DCC9"/>
            </a:solidFill>
            <a:prstDash val="solid"/>
          </a:ln>
        </p:spPr>
      </p:sp>
      <p:sp>
        <p:nvSpPr>
          <p:cNvPr id="20" name="Text 18"/>
          <p:cNvSpPr txBox="1"/>
          <p:nvPr/>
        </p:nvSpPr>
        <p:spPr>
          <a:xfrm>
            <a:off x="9491472" y="2359152"/>
            <a:ext cx="1645920" cy="274320"/>
          </a:xfrm>
          <a:prstGeom prst="rect">
            <a:avLst/>
          </a:prstGeom>
          <a:noFill/>
          <a:ln/>
        </p:spPr>
        <p:txBody>
          <a:bodyPr wrap="square" lIns="0" tIns="0" rIns="0" bIns="0" rtlCol="0" anchor="ctr"/>
          <a:lstStyle/>
          <a:p>
            <a:pPr indent="0" marL="0">
              <a:buNone/>
            </a:pPr>
            <a:r>
              <a:rPr lang="en-US" sz="850" b="1" spc="100" kern="0" dirty="0">
                <a:solidFill>
                  <a:srgbClr val="7A7266"/>
                </a:solidFill>
                <a:latin typeface="Calibri" pitchFamily="34" charset="0"/>
                <a:ea typeface="Calibri" pitchFamily="34" charset="-122"/>
                <a:cs typeface="Calibri" pitchFamily="34" charset="-120"/>
              </a:rPr>
              <a:t>SECURITY</a:t>
            </a:r>
            <a:endParaRPr lang="en-US" sz="850" dirty="0"/>
          </a:p>
        </p:txBody>
      </p:sp>
      <p:sp>
        <p:nvSpPr>
          <p:cNvPr id="21" name="Text 19"/>
          <p:cNvSpPr txBox="1"/>
          <p:nvPr/>
        </p:nvSpPr>
        <p:spPr>
          <a:xfrm>
            <a:off x="9491472" y="2670048"/>
            <a:ext cx="1645920" cy="457200"/>
          </a:xfrm>
          <a:prstGeom prst="rect">
            <a:avLst/>
          </a:prstGeom>
          <a:noFill/>
          <a:ln/>
        </p:spPr>
        <p:txBody>
          <a:bodyPr wrap="square" lIns="0" tIns="0" rIns="0" bIns="0" rtlCol="0" anchor="ctr"/>
          <a:lstStyle/>
          <a:p>
            <a:pPr indent="0" marL="0">
              <a:buNone/>
            </a:pPr>
            <a:r>
              <a:rPr lang="en-US" sz="1100" dirty="0">
                <a:solidFill>
                  <a:srgbClr val="1D1A15"/>
                </a:solidFill>
                <a:latin typeface="Calibri" pitchFamily="34" charset="0"/>
                <a:ea typeface="Calibri" pitchFamily="34" charset="-122"/>
                <a:cs typeface="Calibri" pitchFamily="34" charset="-120"/>
              </a:rPr>
              <a:t>locked per user</a:t>
            </a:r>
            <a:endParaRPr lang="en-US" sz="1100" dirty="0"/>
          </a:p>
        </p:txBody>
      </p:sp>
      <p:sp>
        <p:nvSpPr>
          <p:cNvPr id="22" name="Shape 20"/>
          <p:cNvSpPr/>
          <p:nvPr/>
        </p:nvSpPr>
        <p:spPr>
          <a:xfrm>
            <a:off x="7296912" y="3675888"/>
            <a:ext cx="1901952" cy="1298448"/>
          </a:xfrm>
          <a:prstGeom prst="roundRect">
            <a:avLst>
              <a:gd name="adj" fmla="val 4225"/>
            </a:avLst>
          </a:prstGeom>
          <a:solidFill>
            <a:srgbClr val="FBFAF6"/>
          </a:solidFill>
          <a:ln w="12700">
            <a:solidFill>
              <a:srgbClr val="E4DCC9"/>
            </a:solidFill>
            <a:prstDash val="solid"/>
          </a:ln>
        </p:spPr>
      </p:sp>
      <p:sp>
        <p:nvSpPr>
          <p:cNvPr id="23" name="Text 21"/>
          <p:cNvSpPr txBox="1"/>
          <p:nvPr/>
        </p:nvSpPr>
        <p:spPr>
          <a:xfrm>
            <a:off x="7424928" y="3822192"/>
            <a:ext cx="1645920" cy="274320"/>
          </a:xfrm>
          <a:prstGeom prst="rect">
            <a:avLst/>
          </a:prstGeom>
          <a:noFill/>
          <a:ln/>
        </p:spPr>
        <p:txBody>
          <a:bodyPr wrap="square" lIns="0" tIns="0" rIns="0" bIns="0" rtlCol="0" anchor="ctr"/>
          <a:lstStyle/>
          <a:p>
            <a:pPr indent="0" marL="0">
              <a:buNone/>
            </a:pPr>
            <a:r>
              <a:rPr lang="en-US" sz="850" b="1" spc="100" kern="0" dirty="0">
                <a:solidFill>
                  <a:srgbClr val="7A7266"/>
                </a:solidFill>
                <a:latin typeface="Calibri" pitchFamily="34" charset="0"/>
                <a:ea typeface="Calibri" pitchFamily="34" charset="-122"/>
                <a:cs typeface="Calibri" pitchFamily="34" charset="-120"/>
              </a:rPr>
              <a:t>FRESHNESS</a:t>
            </a:r>
            <a:endParaRPr lang="en-US" sz="850" dirty="0"/>
          </a:p>
        </p:txBody>
      </p:sp>
      <p:sp>
        <p:nvSpPr>
          <p:cNvPr id="24" name="Text 22"/>
          <p:cNvSpPr txBox="1"/>
          <p:nvPr/>
        </p:nvSpPr>
        <p:spPr>
          <a:xfrm>
            <a:off x="7424928" y="4133088"/>
            <a:ext cx="1645920" cy="457200"/>
          </a:xfrm>
          <a:prstGeom prst="rect">
            <a:avLst/>
          </a:prstGeom>
          <a:noFill/>
          <a:ln/>
        </p:spPr>
        <p:txBody>
          <a:bodyPr wrap="square" lIns="0" tIns="0" rIns="0" bIns="0" rtlCol="0" anchor="ctr"/>
          <a:lstStyle/>
          <a:p>
            <a:pPr indent="0" marL="0">
              <a:buNone/>
            </a:pPr>
            <a:r>
              <a:rPr lang="en-US" sz="1100" dirty="0">
                <a:solidFill>
                  <a:srgbClr val="1D1A15"/>
                </a:solidFill>
                <a:latin typeface="Calibri" pitchFamily="34" charset="0"/>
                <a:ea typeface="Calibri" pitchFamily="34" charset="-122"/>
                <a:cs typeface="Calibri" pitchFamily="34" charset="-120"/>
              </a:rPr>
              <a:t>last-updated stamps</a:t>
            </a:r>
            <a:endParaRPr lang="en-US" sz="1100" dirty="0"/>
          </a:p>
        </p:txBody>
      </p:sp>
      <p:sp>
        <p:nvSpPr>
          <p:cNvPr id="25" name="Shape 23"/>
          <p:cNvSpPr/>
          <p:nvPr/>
        </p:nvSpPr>
        <p:spPr>
          <a:xfrm>
            <a:off x="9363456" y="3675888"/>
            <a:ext cx="1901952" cy="1298448"/>
          </a:xfrm>
          <a:prstGeom prst="roundRect">
            <a:avLst>
              <a:gd name="adj" fmla="val 4225"/>
            </a:avLst>
          </a:prstGeom>
          <a:solidFill>
            <a:srgbClr val="FBFAF6"/>
          </a:solidFill>
          <a:ln w="12700">
            <a:solidFill>
              <a:srgbClr val="E4DCC9"/>
            </a:solidFill>
            <a:prstDash val="solid"/>
          </a:ln>
        </p:spPr>
      </p:sp>
      <p:sp>
        <p:nvSpPr>
          <p:cNvPr id="26" name="Text 24"/>
          <p:cNvSpPr txBox="1"/>
          <p:nvPr/>
        </p:nvSpPr>
        <p:spPr>
          <a:xfrm>
            <a:off x="9491472" y="3822192"/>
            <a:ext cx="1645920" cy="274320"/>
          </a:xfrm>
          <a:prstGeom prst="rect">
            <a:avLst/>
          </a:prstGeom>
          <a:noFill/>
          <a:ln/>
        </p:spPr>
        <p:txBody>
          <a:bodyPr wrap="square" lIns="0" tIns="0" rIns="0" bIns="0" rtlCol="0" anchor="ctr"/>
          <a:lstStyle/>
          <a:p>
            <a:pPr indent="0" marL="0">
              <a:buNone/>
            </a:pPr>
            <a:r>
              <a:rPr lang="en-US" sz="850" b="1" spc="100" kern="0" dirty="0">
                <a:solidFill>
                  <a:srgbClr val="7A7266"/>
                </a:solidFill>
                <a:latin typeface="Calibri" pitchFamily="34" charset="0"/>
                <a:ea typeface="Calibri" pitchFamily="34" charset="-122"/>
                <a:cs typeface="Calibri" pitchFamily="34" charset="-120"/>
              </a:rPr>
              <a:t>SECRETS</a:t>
            </a:r>
            <a:endParaRPr lang="en-US" sz="850" dirty="0"/>
          </a:p>
        </p:txBody>
      </p:sp>
      <p:sp>
        <p:nvSpPr>
          <p:cNvPr id="27" name="Text 25"/>
          <p:cNvSpPr txBox="1"/>
          <p:nvPr/>
        </p:nvSpPr>
        <p:spPr>
          <a:xfrm>
            <a:off x="9491472" y="4133088"/>
            <a:ext cx="1645920" cy="457200"/>
          </a:xfrm>
          <a:prstGeom prst="rect">
            <a:avLst/>
          </a:prstGeom>
          <a:noFill/>
          <a:ln/>
        </p:spPr>
        <p:txBody>
          <a:bodyPr wrap="square" lIns="0" tIns="0" rIns="0" bIns="0" rtlCol="0" anchor="ctr"/>
          <a:lstStyle/>
          <a:p>
            <a:pPr indent="0" marL="0">
              <a:buNone/>
            </a:pPr>
            <a:r>
              <a:rPr lang="en-US" sz="1100" dirty="0">
                <a:solidFill>
                  <a:srgbClr val="1D1A15"/>
                </a:solidFill>
                <a:latin typeface="Calibri" pitchFamily="34" charset="0"/>
                <a:ea typeface="Calibri" pitchFamily="34" charset="-122"/>
                <a:cs typeface="Calibri" pitchFamily="34" charset="-120"/>
              </a:rPr>
              <a:t>in a secure vault</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822960" y="777240"/>
            <a:ext cx="7315200" cy="274320"/>
          </a:xfrm>
          <a:prstGeom prst="rect">
            <a:avLst/>
          </a:prstGeom>
          <a:noFill/>
          <a:ln/>
        </p:spPr>
        <p:txBody>
          <a:bodyPr wrap="square" lIns="0" tIns="0" rIns="0" bIns="0" rtlCol="0" anchor="ctr"/>
          <a:lstStyle/>
          <a:p>
            <a:pPr indent="0" marL="0">
              <a:buNone/>
            </a:pPr>
            <a:r>
              <a:rPr lang="en-US" sz="1100" b="1" spc="300" kern="0" dirty="0">
                <a:solidFill>
                  <a:srgbClr val="9C7C2E"/>
                </a:solidFill>
                <a:latin typeface="Calibri" pitchFamily="34" charset="0"/>
                <a:ea typeface="Calibri" pitchFamily="34" charset="-122"/>
                <a:cs typeface="Calibri" pitchFamily="34" charset="-120"/>
              </a:rPr>
              <a:t>WHAT WE’D BUILD · ASSISTANT</a:t>
            </a:r>
            <a:endParaRPr lang="en-US" sz="1100" dirty="0"/>
          </a:p>
        </p:txBody>
      </p:sp>
      <p:sp>
        <p:nvSpPr>
          <p:cNvPr id="3" name="Shape 1"/>
          <p:cNvSpPr/>
          <p:nvPr/>
        </p:nvSpPr>
        <p:spPr>
          <a:xfrm>
            <a:off x="10314432" y="731520"/>
            <a:ext cx="1051560" cy="310896"/>
          </a:xfrm>
          <a:prstGeom prst="roundRect">
            <a:avLst>
              <a:gd name="adj" fmla="val 50000"/>
            </a:avLst>
          </a:prstGeom>
          <a:solidFill>
            <a:srgbClr val="F3E7C8"/>
          </a:solidFill>
          <a:ln w="9525">
            <a:solidFill>
              <a:srgbClr val="9C7C2E"/>
            </a:solidFill>
            <a:prstDash val="solid"/>
          </a:ln>
        </p:spPr>
      </p:sp>
      <p:sp>
        <p:nvSpPr>
          <p:cNvPr id="4" name="Text 2"/>
          <p:cNvSpPr txBox="1"/>
          <p:nvPr/>
        </p:nvSpPr>
        <p:spPr>
          <a:xfrm>
            <a:off x="10314432" y="722376"/>
            <a:ext cx="1051560" cy="320040"/>
          </a:xfrm>
          <a:prstGeom prst="rect">
            <a:avLst/>
          </a:prstGeom>
          <a:noFill/>
          <a:ln/>
        </p:spPr>
        <p:txBody>
          <a:bodyPr wrap="square" lIns="0" tIns="0" rIns="0" bIns="0" rtlCol="0" anchor="ctr"/>
          <a:lstStyle/>
          <a:p>
            <a:pPr algn="ctr" indent="0" marL="0">
              <a:buNone/>
            </a:pPr>
            <a:r>
              <a:rPr lang="en-US" sz="850" b="1" spc="100" kern="0" dirty="0">
                <a:solidFill>
                  <a:srgbClr val="7A5A12"/>
                </a:solidFill>
                <a:latin typeface="Calibri" pitchFamily="34" charset="0"/>
                <a:ea typeface="Calibri" pitchFamily="34" charset="-122"/>
                <a:cs typeface="Calibri" pitchFamily="34" charset="-120"/>
              </a:rPr>
              <a:t>PHASE 3</a:t>
            </a:r>
            <a:endParaRPr lang="en-US" sz="850" dirty="0"/>
          </a:p>
        </p:txBody>
      </p:sp>
      <p:sp>
        <p:nvSpPr>
          <p:cNvPr id="5" name="Text 3"/>
          <p:cNvSpPr txBox="1"/>
          <p:nvPr/>
        </p:nvSpPr>
        <p:spPr>
          <a:xfrm>
            <a:off x="822960" y="1097280"/>
            <a:ext cx="5760720" cy="1371600"/>
          </a:xfrm>
          <a:prstGeom prst="rect">
            <a:avLst/>
          </a:prstGeom>
          <a:noFill/>
          <a:ln/>
        </p:spPr>
        <p:txBody>
          <a:bodyPr wrap="square" lIns="0" tIns="0" rIns="0" bIns="0" rtlCol="0" anchor="t"/>
          <a:lstStyle/>
          <a:p>
            <a:pPr indent="0" marL="0">
              <a:lnSpc>
                <a:spcPct val="98000"/>
              </a:lnSpc>
              <a:buNone/>
            </a:pPr>
            <a:r>
              <a:rPr lang="en-US" sz="2800" b="1" dirty="0">
                <a:solidFill>
                  <a:srgbClr val="1D1A15"/>
                </a:solidFill>
                <a:latin typeface="Georgia" pitchFamily="34" charset="0"/>
                <a:ea typeface="Georgia" pitchFamily="34" charset="-122"/>
                <a:cs typeface="Georgia" pitchFamily="34" charset="-120"/>
              </a:rPr>
              <a:t>A DeepRoots helper that knows who you are</a:t>
            </a:r>
            <a:endParaRPr lang="en-US" sz="2800" dirty="0"/>
          </a:p>
        </p:txBody>
      </p:sp>
      <p:sp>
        <p:nvSpPr>
          <p:cNvPr id="6" name="Text 4"/>
          <p:cNvSpPr txBox="1"/>
          <p:nvPr/>
        </p:nvSpPr>
        <p:spPr>
          <a:xfrm>
            <a:off x="822960" y="2286000"/>
            <a:ext cx="5760720" cy="1371600"/>
          </a:xfrm>
          <a:prstGeom prst="rect">
            <a:avLst/>
          </a:prstGeom>
          <a:noFill/>
          <a:ln/>
        </p:spPr>
        <p:txBody>
          <a:bodyPr wrap="square" lIns="0" tIns="0" rIns="0" bIns="0" rtlCol="0" anchor="t"/>
          <a:lstStyle/>
          <a:p>
            <a:pPr indent="0" marL="0">
              <a:lnSpc>
                <a:spcPct val="115000"/>
              </a:lnSpc>
              <a:buNone/>
            </a:pPr>
            <a:r>
              <a:rPr lang="en-US" sz="1500" dirty="0">
                <a:solidFill>
                  <a:srgbClr val="7A7266"/>
                </a:solidFill>
                <a:latin typeface="Calibri" pitchFamily="34" charset="0"/>
                <a:ea typeface="Calibri" pitchFamily="34" charset="-122"/>
                <a:cs typeface="Calibri" pitchFamily="34" charset="-120"/>
              </a:rPr>
              <a:t>A built-in helper that answers questions and guides each person by their role. Sign in as a teacher and it points you to lesson help; as a new employee, straight to the Employee Handbook and where to find things.</a:t>
            </a:r>
            <a:endParaRPr lang="en-US" sz="1500" dirty="0"/>
          </a:p>
        </p:txBody>
      </p:sp>
      <p:sp>
        <p:nvSpPr>
          <p:cNvPr id="7" name="Text 5"/>
          <p:cNvSpPr txBox="1"/>
          <p:nvPr/>
        </p:nvSpPr>
        <p:spPr>
          <a:xfrm>
            <a:off x="822960" y="3657600"/>
            <a:ext cx="5760720" cy="1115568"/>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1D1A15"/>
                </a:solidFill>
                <a:latin typeface="Calibri" pitchFamily="34" charset="0"/>
                <a:ea typeface="Calibri" pitchFamily="34" charset="-122"/>
                <a:cs typeface="Calibri" pitchFamily="34" charset="-120"/>
              </a:rPr>
              <a:t>Teacher: “How do I reset a student login?”</a:t>
            </a:r>
            <a:endParaRPr lang="en-US" sz="1350" dirty="0"/>
          </a:p>
          <a:p>
            <a:pPr marL="177800" indent="-177800">
              <a:spcAft>
                <a:spcPts val="800"/>
              </a:spcAft>
              <a:buSzPct val="100000"/>
              <a:buChar char="•"/>
            </a:pPr>
            <a:r>
              <a:rPr lang="en-US" sz="1350" dirty="0">
                <a:solidFill>
                  <a:srgbClr val="1D1A15"/>
                </a:solidFill>
                <a:latin typeface="Calibri" pitchFamily="34" charset="0"/>
                <a:ea typeface="Calibri" pitchFamily="34" charset="-122"/>
                <a:cs typeface="Calibri" pitchFamily="34" charset="-120"/>
              </a:rPr>
              <a:t>New hire: “Where is the Employee Handbook?”</a:t>
            </a:r>
            <a:endParaRPr lang="en-US" sz="1350" dirty="0"/>
          </a:p>
          <a:p>
            <a:pPr marL="177800" indent="-177800">
              <a:spcAft>
                <a:spcPts val="800"/>
              </a:spcAft>
              <a:buSzPct val="100000"/>
              <a:buChar char="•"/>
            </a:pPr>
            <a:r>
              <a:rPr lang="en-US" sz="1350" dirty="0">
                <a:solidFill>
                  <a:srgbClr val="1D1A15"/>
                </a:solidFill>
                <a:latin typeface="Calibri" pitchFamily="34" charset="0"/>
                <a:ea typeface="Calibri" pitchFamily="34" charset="-122"/>
                <a:cs typeface="Calibri" pitchFamily="34" charset="-120"/>
              </a:rPr>
              <a:t>Sales Ambassador: “Which schools are due to renew?”</a:t>
            </a:r>
            <a:endParaRPr lang="en-US" sz="1350" dirty="0"/>
          </a:p>
        </p:txBody>
      </p:sp>
      <p:sp>
        <p:nvSpPr>
          <p:cNvPr id="8" name="Shape 6"/>
          <p:cNvSpPr/>
          <p:nvPr/>
        </p:nvSpPr>
        <p:spPr>
          <a:xfrm>
            <a:off x="822960" y="4956048"/>
            <a:ext cx="1508760" cy="384048"/>
          </a:xfrm>
          <a:prstGeom prst="roundRect">
            <a:avLst>
              <a:gd name="adj" fmla="val 50000"/>
            </a:avLst>
          </a:prstGeom>
          <a:solidFill>
            <a:srgbClr val="FFFFFF"/>
          </a:solidFill>
          <a:ln w="12700">
            <a:solidFill>
              <a:srgbClr val="E4DCC9"/>
            </a:solidFill>
            <a:prstDash val="solid"/>
          </a:ln>
        </p:spPr>
      </p:sp>
      <p:sp>
        <p:nvSpPr>
          <p:cNvPr id="9" name="Text 7"/>
          <p:cNvSpPr txBox="1"/>
          <p:nvPr/>
        </p:nvSpPr>
        <p:spPr>
          <a:xfrm>
            <a:off x="969264" y="4937760"/>
            <a:ext cx="1234440" cy="420624"/>
          </a:xfrm>
          <a:prstGeom prst="rect">
            <a:avLst/>
          </a:prstGeom>
          <a:noFill/>
          <a:ln/>
        </p:spPr>
        <p:txBody>
          <a:bodyPr wrap="square" lIns="0" tIns="0" rIns="0" bIns="0" rtlCol="0" anchor="ctr"/>
          <a:lstStyle/>
          <a:p>
            <a:pPr indent="0" marL="0">
              <a:buNone/>
            </a:pPr>
            <a:r>
              <a:rPr lang="en-US" sz="1050" dirty="0">
                <a:solidFill>
                  <a:srgbClr val="1D1A15"/>
                </a:solidFill>
                <a:latin typeface="Calibri" pitchFamily="34" charset="0"/>
                <a:ea typeface="Calibri" pitchFamily="34" charset="-122"/>
                <a:cs typeface="Calibri" pitchFamily="34" charset="-120"/>
              </a:rPr>
              <a:t>Knows your role</a:t>
            </a:r>
            <a:endParaRPr lang="en-US" sz="1050" dirty="0"/>
          </a:p>
        </p:txBody>
      </p:sp>
      <p:sp>
        <p:nvSpPr>
          <p:cNvPr id="10" name="Shape 8"/>
          <p:cNvSpPr/>
          <p:nvPr/>
        </p:nvSpPr>
        <p:spPr>
          <a:xfrm>
            <a:off x="2496312" y="4956048"/>
            <a:ext cx="1097280" cy="384048"/>
          </a:xfrm>
          <a:prstGeom prst="roundRect">
            <a:avLst>
              <a:gd name="adj" fmla="val 50000"/>
            </a:avLst>
          </a:prstGeom>
          <a:solidFill>
            <a:srgbClr val="FFFFFF"/>
          </a:solidFill>
          <a:ln w="12700">
            <a:solidFill>
              <a:srgbClr val="E4DCC9"/>
            </a:solidFill>
            <a:prstDash val="solid"/>
          </a:ln>
        </p:spPr>
      </p:sp>
      <p:sp>
        <p:nvSpPr>
          <p:cNvPr id="11" name="Shape 9"/>
          <p:cNvSpPr/>
          <p:nvPr/>
        </p:nvSpPr>
        <p:spPr>
          <a:xfrm>
            <a:off x="2642616" y="5097780"/>
            <a:ext cx="100584" cy="100584"/>
          </a:xfrm>
          <a:prstGeom prst="ellipse">
            <a:avLst/>
          </a:prstGeom>
          <a:solidFill>
            <a:srgbClr val="B0842F"/>
          </a:solidFill>
          <a:ln/>
        </p:spPr>
      </p:sp>
      <p:sp>
        <p:nvSpPr>
          <p:cNvPr id="12" name="Text 10"/>
          <p:cNvSpPr txBox="1"/>
          <p:nvPr/>
        </p:nvSpPr>
        <p:spPr>
          <a:xfrm>
            <a:off x="2807208" y="4937760"/>
            <a:ext cx="822960" cy="420624"/>
          </a:xfrm>
          <a:prstGeom prst="rect">
            <a:avLst/>
          </a:prstGeom>
          <a:noFill/>
          <a:ln/>
        </p:spPr>
        <p:txBody>
          <a:bodyPr wrap="square" lIns="0" tIns="0" rIns="0" bIns="0" rtlCol="0" anchor="ctr"/>
          <a:lstStyle/>
          <a:p>
            <a:pPr indent="0" marL="0">
              <a:buNone/>
            </a:pPr>
            <a:r>
              <a:rPr lang="en-US" sz="1050" dirty="0">
                <a:solidFill>
                  <a:srgbClr val="1D1A15"/>
                </a:solidFill>
                <a:latin typeface="Calibri" pitchFamily="34" charset="0"/>
                <a:ea typeface="Calibri" pitchFamily="34" charset="-122"/>
                <a:cs typeface="Calibri" pitchFamily="34" charset="-120"/>
              </a:rPr>
              <a:t>Planned</a:t>
            </a:r>
            <a:endParaRPr lang="en-US" sz="1050" dirty="0"/>
          </a:p>
        </p:txBody>
      </p:sp>
      <p:sp>
        <p:nvSpPr>
          <p:cNvPr id="13" name="Shape 11"/>
          <p:cNvSpPr/>
          <p:nvPr/>
        </p:nvSpPr>
        <p:spPr>
          <a:xfrm>
            <a:off x="7040880" y="1645920"/>
            <a:ext cx="4480560" cy="3566160"/>
          </a:xfrm>
          <a:prstGeom prst="roundRect">
            <a:avLst>
              <a:gd name="adj" fmla="val 3077"/>
            </a:avLst>
          </a:prstGeom>
          <a:solidFill>
            <a:srgbClr val="FFFFFF"/>
          </a:solidFill>
          <a:ln w="12700">
            <a:solidFill>
              <a:srgbClr val="E4DCC9"/>
            </a:solidFill>
            <a:prstDash val="solid"/>
          </a:ln>
          <a:effectLst>
            <a:outerShdw sx="100000" sy="100000" kx="0" ky="0" algn="bl" rotWithShape="0" blurRad="127000" dist="38100" dir="5400000">
              <a:srgbClr val="6B6252">
                <a:alpha val="35000"/>
              </a:srgbClr>
            </a:outerShdw>
          </a:effectLst>
        </p:spPr>
      </p:sp>
      <p:sp>
        <p:nvSpPr>
          <p:cNvPr id="14" name="Shape 12"/>
          <p:cNvSpPr/>
          <p:nvPr/>
        </p:nvSpPr>
        <p:spPr>
          <a:xfrm>
            <a:off x="7040880" y="1645920"/>
            <a:ext cx="4480560" cy="384048"/>
          </a:xfrm>
          <a:prstGeom prst="roundRect">
            <a:avLst>
              <a:gd name="adj" fmla="val 28571"/>
            </a:avLst>
          </a:prstGeom>
          <a:solidFill>
            <a:srgbClr val="FBFAF6"/>
          </a:solidFill>
          <a:ln/>
        </p:spPr>
      </p:sp>
      <p:sp>
        <p:nvSpPr>
          <p:cNvPr id="15" name="Shape 13"/>
          <p:cNvSpPr/>
          <p:nvPr/>
        </p:nvSpPr>
        <p:spPr>
          <a:xfrm>
            <a:off x="7040880" y="1901952"/>
            <a:ext cx="4480560" cy="128016"/>
          </a:xfrm>
          <a:prstGeom prst="rect">
            <a:avLst/>
          </a:prstGeom>
          <a:solidFill>
            <a:srgbClr val="FBFAF6"/>
          </a:solidFill>
          <a:ln/>
        </p:spPr>
      </p:sp>
      <p:sp>
        <p:nvSpPr>
          <p:cNvPr id="16" name="Shape 14"/>
          <p:cNvSpPr/>
          <p:nvPr/>
        </p:nvSpPr>
        <p:spPr>
          <a:xfrm>
            <a:off x="7205472" y="1783080"/>
            <a:ext cx="100584" cy="100584"/>
          </a:xfrm>
          <a:prstGeom prst="ellipse">
            <a:avLst/>
          </a:prstGeom>
          <a:solidFill>
            <a:srgbClr val="C9BFA9"/>
          </a:solidFill>
          <a:ln/>
        </p:spPr>
      </p:sp>
      <p:sp>
        <p:nvSpPr>
          <p:cNvPr id="17" name="Shape 15"/>
          <p:cNvSpPr/>
          <p:nvPr/>
        </p:nvSpPr>
        <p:spPr>
          <a:xfrm>
            <a:off x="7388352" y="1783080"/>
            <a:ext cx="100584" cy="100584"/>
          </a:xfrm>
          <a:prstGeom prst="ellipse">
            <a:avLst/>
          </a:prstGeom>
          <a:solidFill>
            <a:srgbClr val="C9BFA9"/>
          </a:solidFill>
          <a:ln/>
        </p:spPr>
      </p:sp>
      <p:sp>
        <p:nvSpPr>
          <p:cNvPr id="18" name="Shape 16"/>
          <p:cNvSpPr/>
          <p:nvPr/>
        </p:nvSpPr>
        <p:spPr>
          <a:xfrm>
            <a:off x="7571232" y="1783080"/>
            <a:ext cx="100584" cy="100584"/>
          </a:xfrm>
          <a:prstGeom prst="ellipse">
            <a:avLst/>
          </a:prstGeom>
          <a:solidFill>
            <a:srgbClr val="C9BFA9"/>
          </a:solidFill>
          <a:ln/>
        </p:spPr>
      </p:sp>
      <p:sp>
        <p:nvSpPr>
          <p:cNvPr id="19" name="Text 17"/>
          <p:cNvSpPr txBox="1"/>
          <p:nvPr/>
        </p:nvSpPr>
        <p:spPr>
          <a:xfrm>
            <a:off x="7818120" y="1673352"/>
            <a:ext cx="3566160" cy="329184"/>
          </a:xfrm>
          <a:prstGeom prst="rect">
            <a:avLst/>
          </a:prstGeom>
          <a:noFill/>
          <a:ln/>
        </p:spPr>
        <p:txBody>
          <a:bodyPr wrap="square" lIns="0" tIns="0" rIns="0" bIns="0" rtlCol="0" anchor="ctr"/>
          <a:lstStyle/>
          <a:p>
            <a:pPr indent="0" marL="0">
              <a:buNone/>
            </a:pPr>
            <a:endParaRPr lang="en-US" sz="900" dirty="0"/>
          </a:p>
        </p:txBody>
      </p:sp>
      <p:sp>
        <p:nvSpPr>
          <p:cNvPr id="20" name="Shape 18"/>
          <p:cNvSpPr/>
          <p:nvPr/>
        </p:nvSpPr>
        <p:spPr>
          <a:xfrm>
            <a:off x="7040880" y="2029968"/>
            <a:ext cx="4480560" cy="0"/>
          </a:xfrm>
          <a:prstGeom prst="line">
            <a:avLst/>
          </a:prstGeom>
          <a:noFill/>
          <a:ln w="12700">
            <a:solidFill>
              <a:srgbClr val="E4DCC9"/>
            </a:solidFill>
            <a:prstDash val="solid"/>
          </a:ln>
        </p:spPr>
      </p:sp>
      <p:sp>
        <p:nvSpPr>
          <p:cNvPr id="21" name="Shape 19"/>
          <p:cNvSpPr/>
          <p:nvPr/>
        </p:nvSpPr>
        <p:spPr>
          <a:xfrm>
            <a:off x="7296912" y="2212848"/>
            <a:ext cx="3254167" cy="566928"/>
          </a:xfrm>
          <a:prstGeom prst="roundRect">
            <a:avLst>
              <a:gd name="adj" fmla="val 19355"/>
            </a:avLst>
          </a:prstGeom>
          <a:solidFill>
            <a:srgbClr val="FBFAF6"/>
          </a:solidFill>
          <a:ln w="12700">
            <a:solidFill>
              <a:srgbClr val="E4DCC9"/>
            </a:solidFill>
            <a:prstDash val="solid"/>
          </a:ln>
        </p:spPr>
      </p:sp>
      <p:sp>
        <p:nvSpPr>
          <p:cNvPr id="22" name="Text 20"/>
          <p:cNvSpPr txBox="1"/>
          <p:nvPr/>
        </p:nvSpPr>
        <p:spPr>
          <a:xfrm>
            <a:off x="7424928" y="2212848"/>
            <a:ext cx="2998135" cy="566928"/>
          </a:xfrm>
          <a:prstGeom prst="rect">
            <a:avLst/>
          </a:prstGeom>
          <a:noFill/>
          <a:ln/>
        </p:spPr>
        <p:txBody>
          <a:bodyPr wrap="square" lIns="0" tIns="0" rIns="0" bIns="0" rtlCol="0" anchor="ctr"/>
          <a:lstStyle/>
          <a:p>
            <a:pPr indent="0" marL="0">
              <a:buNone/>
            </a:pPr>
            <a:r>
              <a:rPr lang="en-US" sz="900" dirty="0">
                <a:solidFill>
                  <a:srgbClr val="1D1A15"/>
                </a:solidFill>
                <a:latin typeface="Calibri" pitchFamily="34" charset="0"/>
                <a:ea typeface="Calibri" pitchFamily="34" charset="-122"/>
                <a:cs typeface="Calibri" pitchFamily="34" charset="-120"/>
              </a:rPr>
              <a:t>Hi! I can help. What do you need?</a:t>
            </a:r>
            <a:endParaRPr lang="en-US" sz="900" dirty="0"/>
          </a:p>
        </p:txBody>
      </p:sp>
      <p:sp>
        <p:nvSpPr>
          <p:cNvPr id="23" name="Shape 21"/>
          <p:cNvSpPr/>
          <p:nvPr/>
        </p:nvSpPr>
        <p:spPr>
          <a:xfrm>
            <a:off x="8408091" y="2907792"/>
            <a:ext cx="2857317" cy="457200"/>
          </a:xfrm>
          <a:prstGeom prst="roundRect">
            <a:avLst>
              <a:gd name="adj" fmla="val 24000"/>
            </a:avLst>
          </a:prstGeom>
          <a:solidFill>
            <a:srgbClr val="F3E7C8"/>
          </a:solidFill>
          <a:ln w="9525">
            <a:solidFill>
              <a:srgbClr val="9C7C2E"/>
            </a:solidFill>
            <a:prstDash val="solid"/>
          </a:ln>
        </p:spPr>
      </p:sp>
      <p:sp>
        <p:nvSpPr>
          <p:cNvPr id="24" name="Text 22"/>
          <p:cNvSpPr txBox="1"/>
          <p:nvPr/>
        </p:nvSpPr>
        <p:spPr>
          <a:xfrm>
            <a:off x="8536107" y="2907792"/>
            <a:ext cx="2601285" cy="457200"/>
          </a:xfrm>
          <a:prstGeom prst="rect">
            <a:avLst/>
          </a:prstGeom>
          <a:noFill/>
          <a:ln/>
        </p:spPr>
        <p:txBody>
          <a:bodyPr wrap="square" lIns="0" tIns="0" rIns="0" bIns="0" rtlCol="0" anchor="ctr"/>
          <a:lstStyle/>
          <a:p>
            <a:pPr indent="0" marL="0">
              <a:buNone/>
            </a:pPr>
            <a:r>
              <a:rPr lang="en-US" sz="900" dirty="0">
                <a:solidFill>
                  <a:srgbClr val="7A5A12"/>
                </a:solidFill>
                <a:latin typeface="Calibri" pitchFamily="34" charset="0"/>
                <a:ea typeface="Calibri" pitchFamily="34" charset="-122"/>
                <a:cs typeface="Calibri" pitchFamily="34" charset="-120"/>
              </a:rPr>
              <a:t>Where is the Employee Handbook?</a:t>
            </a:r>
            <a:endParaRPr lang="en-US" sz="900" dirty="0"/>
          </a:p>
        </p:txBody>
      </p:sp>
      <p:sp>
        <p:nvSpPr>
          <p:cNvPr id="25" name="Shape 23"/>
          <p:cNvSpPr/>
          <p:nvPr/>
        </p:nvSpPr>
        <p:spPr>
          <a:xfrm>
            <a:off x="7296912" y="3493008"/>
            <a:ext cx="3412907" cy="786384"/>
          </a:xfrm>
          <a:prstGeom prst="roundRect">
            <a:avLst>
              <a:gd name="adj" fmla="val 13953"/>
            </a:avLst>
          </a:prstGeom>
          <a:solidFill>
            <a:srgbClr val="FBFAF6"/>
          </a:solidFill>
          <a:ln w="12700">
            <a:solidFill>
              <a:srgbClr val="E4DCC9"/>
            </a:solidFill>
            <a:prstDash val="solid"/>
          </a:ln>
        </p:spPr>
      </p:sp>
      <p:sp>
        <p:nvSpPr>
          <p:cNvPr id="26" name="Text 24"/>
          <p:cNvSpPr txBox="1"/>
          <p:nvPr/>
        </p:nvSpPr>
        <p:spPr>
          <a:xfrm>
            <a:off x="7424928" y="3566160"/>
            <a:ext cx="3156875" cy="329184"/>
          </a:xfrm>
          <a:prstGeom prst="rect">
            <a:avLst/>
          </a:prstGeom>
          <a:noFill/>
          <a:ln/>
        </p:spPr>
        <p:txBody>
          <a:bodyPr wrap="square" lIns="0" tIns="0" rIns="0" bIns="0" rtlCol="0" anchor="ctr"/>
          <a:lstStyle/>
          <a:p>
            <a:pPr indent="0" marL="0">
              <a:buNone/>
            </a:pPr>
            <a:r>
              <a:rPr lang="en-US" sz="900" dirty="0">
                <a:solidFill>
                  <a:srgbClr val="1D1A15"/>
                </a:solidFill>
                <a:latin typeface="Calibri" pitchFamily="34" charset="0"/>
                <a:ea typeface="Calibri" pitchFamily="34" charset="-122"/>
                <a:cs typeface="Calibri" pitchFamily="34" charset="-120"/>
              </a:rPr>
              <a:t>Here it is, plus your first-week checklist:</a:t>
            </a:r>
            <a:endParaRPr lang="en-US" sz="900" dirty="0"/>
          </a:p>
        </p:txBody>
      </p:sp>
      <p:sp>
        <p:nvSpPr>
          <p:cNvPr id="27" name="Shape 25"/>
          <p:cNvSpPr/>
          <p:nvPr/>
        </p:nvSpPr>
        <p:spPr>
          <a:xfrm>
            <a:off x="7424928" y="3913632"/>
            <a:ext cx="1783080" cy="274320"/>
          </a:xfrm>
          <a:prstGeom prst="roundRect">
            <a:avLst>
              <a:gd name="adj" fmla="val 50000"/>
            </a:avLst>
          </a:prstGeom>
          <a:solidFill>
            <a:srgbClr val="FFFFFF"/>
          </a:solidFill>
          <a:ln w="9525">
            <a:solidFill>
              <a:srgbClr val="9C7C2E"/>
            </a:solidFill>
            <a:prstDash val="solid"/>
          </a:ln>
        </p:spPr>
      </p:sp>
      <p:sp>
        <p:nvSpPr>
          <p:cNvPr id="28" name="Shape 26"/>
          <p:cNvSpPr/>
          <p:nvPr/>
        </p:nvSpPr>
        <p:spPr>
          <a:xfrm>
            <a:off x="7534656" y="3968496"/>
            <a:ext cx="118872" cy="155448"/>
          </a:xfrm>
          <a:prstGeom prst="roundRect">
            <a:avLst>
              <a:gd name="adj" fmla="val 15385"/>
            </a:avLst>
          </a:prstGeom>
          <a:solidFill>
            <a:srgbClr val="FFFFFF"/>
          </a:solidFill>
          <a:ln w="12700">
            <a:solidFill>
              <a:srgbClr val="9C7C2E"/>
            </a:solidFill>
            <a:prstDash val="solid"/>
          </a:ln>
        </p:spPr>
      </p:sp>
      <p:sp>
        <p:nvSpPr>
          <p:cNvPr id="29" name="Shape 27"/>
          <p:cNvSpPr/>
          <p:nvPr/>
        </p:nvSpPr>
        <p:spPr>
          <a:xfrm>
            <a:off x="7562088" y="4023360"/>
            <a:ext cx="64008" cy="0"/>
          </a:xfrm>
          <a:prstGeom prst="line">
            <a:avLst/>
          </a:prstGeom>
          <a:noFill/>
          <a:ln w="9525">
            <a:solidFill>
              <a:srgbClr val="9C7C2E"/>
            </a:solidFill>
            <a:prstDash val="solid"/>
          </a:ln>
        </p:spPr>
      </p:sp>
      <p:sp>
        <p:nvSpPr>
          <p:cNvPr id="30" name="Shape 28"/>
          <p:cNvSpPr/>
          <p:nvPr/>
        </p:nvSpPr>
        <p:spPr>
          <a:xfrm>
            <a:off x="7562088" y="4059936"/>
            <a:ext cx="64008" cy="0"/>
          </a:xfrm>
          <a:prstGeom prst="line">
            <a:avLst/>
          </a:prstGeom>
          <a:noFill/>
          <a:ln w="9525">
            <a:solidFill>
              <a:srgbClr val="9C7C2E"/>
            </a:solidFill>
            <a:prstDash val="solid"/>
          </a:ln>
        </p:spPr>
      </p:sp>
      <p:sp>
        <p:nvSpPr>
          <p:cNvPr id="31" name="Text 29"/>
          <p:cNvSpPr txBox="1"/>
          <p:nvPr/>
        </p:nvSpPr>
        <p:spPr>
          <a:xfrm>
            <a:off x="7717536" y="3904488"/>
            <a:ext cx="1463040" cy="292608"/>
          </a:xfrm>
          <a:prstGeom prst="rect">
            <a:avLst/>
          </a:prstGeom>
          <a:noFill/>
          <a:ln/>
        </p:spPr>
        <p:txBody>
          <a:bodyPr wrap="square" lIns="0" tIns="0" rIns="0" bIns="0" rtlCol="0" anchor="ctr"/>
          <a:lstStyle/>
          <a:p>
            <a:pPr indent="0" marL="0">
              <a:buNone/>
            </a:pPr>
            <a:r>
              <a:rPr lang="en-US" sz="750" b="1" dirty="0">
                <a:solidFill>
                  <a:srgbClr val="9C7C2E"/>
                </a:solidFill>
                <a:latin typeface="Calibri" pitchFamily="34" charset="0"/>
                <a:ea typeface="Calibri" pitchFamily="34" charset="-122"/>
                <a:cs typeface="Calibri" pitchFamily="34" charset="-120"/>
              </a:rPr>
              <a:t>Employee Handbook</a:t>
            </a:r>
            <a:endParaRPr lang="en-US" sz="750" dirty="0"/>
          </a:p>
        </p:txBody>
      </p:sp>
      <p:sp>
        <p:nvSpPr>
          <p:cNvPr id="32" name="Shape 30"/>
          <p:cNvSpPr/>
          <p:nvPr/>
        </p:nvSpPr>
        <p:spPr>
          <a:xfrm>
            <a:off x="7296912" y="4590288"/>
            <a:ext cx="3968496" cy="365760"/>
          </a:xfrm>
          <a:prstGeom prst="roundRect">
            <a:avLst>
              <a:gd name="adj" fmla="val 50000"/>
            </a:avLst>
          </a:prstGeom>
          <a:solidFill>
            <a:srgbClr val="FFFFFF"/>
          </a:solidFill>
          <a:ln w="12700">
            <a:solidFill>
              <a:srgbClr val="E4DCC9"/>
            </a:solidFill>
            <a:prstDash val="solid"/>
          </a:ln>
        </p:spPr>
      </p:sp>
      <p:sp>
        <p:nvSpPr>
          <p:cNvPr id="33" name="Text 31"/>
          <p:cNvSpPr txBox="1"/>
          <p:nvPr/>
        </p:nvSpPr>
        <p:spPr>
          <a:xfrm>
            <a:off x="7443216" y="4590288"/>
            <a:ext cx="3054096" cy="365760"/>
          </a:xfrm>
          <a:prstGeom prst="rect">
            <a:avLst/>
          </a:prstGeom>
          <a:noFill/>
          <a:ln/>
        </p:spPr>
        <p:txBody>
          <a:bodyPr wrap="square" lIns="0" tIns="0" rIns="0" bIns="0" rtlCol="0" anchor="ctr"/>
          <a:lstStyle/>
          <a:p>
            <a:pPr indent="0" marL="0">
              <a:buNone/>
            </a:pPr>
            <a:r>
              <a:rPr lang="en-US" sz="850" dirty="0">
                <a:solidFill>
                  <a:srgbClr val="7A7266"/>
                </a:solidFill>
                <a:latin typeface="Calibri" pitchFamily="34" charset="0"/>
                <a:ea typeface="Calibri" pitchFamily="34" charset="-122"/>
                <a:cs typeface="Calibri" pitchFamily="34" charset="-120"/>
              </a:rPr>
              <a:t>Ask DeepRoots…</a:t>
            </a:r>
            <a:endParaRPr lang="en-US" sz="850" dirty="0"/>
          </a:p>
        </p:txBody>
      </p:sp>
      <p:sp>
        <p:nvSpPr>
          <p:cNvPr id="34" name="Shape 32"/>
          <p:cNvSpPr/>
          <p:nvPr/>
        </p:nvSpPr>
        <p:spPr>
          <a:xfrm>
            <a:off x="10927080" y="4636008"/>
            <a:ext cx="274320" cy="274320"/>
          </a:xfrm>
          <a:prstGeom prst="ellipse">
            <a:avLst/>
          </a:prstGeom>
          <a:solidFill>
            <a:srgbClr val="9C7C2E"/>
          </a:solidFill>
          <a:ln/>
        </p:spPr>
      </p:sp>
      <p:sp>
        <p:nvSpPr>
          <p:cNvPr id="35" name="Text 33"/>
          <p:cNvSpPr txBox="1"/>
          <p:nvPr/>
        </p:nvSpPr>
        <p:spPr>
          <a:xfrm>
            <a:off x="10927080" y="4617720"/>
            <a:ext cx="2743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822960" y="777240"/>
            <a:ext cx="7315200" cy="274320"/>
          </a:xfrm>
          <a:prstGeom prst="rect">
            <a:avLst/>
          </a:prstGeom>
          <a:noFill/>
          <a:ln/>
        </p:spPr>
        <p:txBody>
          <a:bodyPr wrap="square" lIns="0" tIns="0" rIns="0" bIns="0" rtlCol="0" anchor="ctr"/>
          <a:lstStyle/>
          <a:p>
            <a:pPr indent="0" marL="0">
              <a:buNone/>
            </a:pPr>
            <a:r>
              <a:rPr lang="en-US" sz="1100" b="1" spc="300" kern="0" dirty="0">
                <a:solidFill>
                  <a:srgbClr val="9C7C2E"/>
                </a:solidFill>
                <a:latin typeface="Calibri" pitchFamily="34" charset="0"/>
                <a:ea typeface="Calibri" pitchFamily="34" charset="-122"/>
                <a:cs typeface="Calibri" pitchFamily="34" charset="-120"/>
              </a:rPr>
              <a:t>THE ROAD AHEAD</a:t>
            </a:r>
            <a:endParaRPr lang="en-US" sz="1100" dirty="0"/>
          </a:p>
        </p:txBody>
      </p:sp>
      <p:sp>
        <p:nvSpPr>
          <p:cNvPr id="3" name="Shape 1"/>
          <p:cNvSpPr/>
          <p:nvPr/>
        </p:nvSpPr>
        <p:spPr>
          <a:xfrm>
            <a:off x="10314432" y="731520"/>
            <a:ext cx="1051560" cy="310896"/>
          </a:xfrm>
          <a:prstGeom prst="roundRect">
            <a:avLst>
              <a:gd name="adj" fmla="val 50000"/>
            </a:avLst>
          </a:prstGeom>
          <a:solidFill>
            <a:srgbClr val="F3E7C8"/>
          </a:solidFill>
          <a:ln w="9525">
            <a:solidFill>
              <a:srgbClr val="9C7C2E"/>
            </a:solidFill>
            <a:prstDash val="solid"/>
          </a:ln>
        </p:spPr>
      </p:sp>
      <p:sp>
        <p:nvSpPr>
          <p:cNvPr id="4" name="Text 2"/>
          <p:cNvSpPr txBox="1"/>
          <p:nvPr/>
        </p:nvSpPr>
        <p:spPr>
          <a:xfrm>
            <a:off x="10314432" y="722376"/>
            <a:ext cx="1051560" cy="320040"/>
          </a:xfrm>
          <a:prstGeom prst="rect">
            <a:avLst/>
          </a:prstGeom>
          <a:noFill/>
          <a:ln/>
        </p:spPr>
        <p:txBody>
          <a:bodyPr wrap="square" lIns="0" tIns="0" rIns="0" bIns="0" rtlCol="0" anchor="ctr"/>
          <a:lstStyle/>
          <a:p>
            <a:pPr algn="ctr" indent="0" marL="0">
              <a:buNone/>
            </a:pPr>
            <a:r>
              <a:rPr lang="en-US" sz="850" b="1" spc="100" kern="0" dirty="0">
                <a:solidFill>
                  <a:srgbClr val="7A5A12"/>
                </a:solidFill>
                <a:latin typeface="Calibri" pitchFamily="34" charset="0"/>
                <a:ea typeface="Calibri" pitchFamily="34" charset="-122"/>
                <a:cs typeface="Calibri" pitchFamily="34" charset="-120"/>
              </a:rPr>
              <a:t>PHASE 3</a:t>
            </a:r>
            <a:endParaRPr lang="en-US" sz="850" dirty="0"/>
          </a:p>
        </p:txBody>
      </p:sp>
      <p:sp>
        <p:nvSpPr>
          <p:cNvPr id="5" name="Text 3"/>
          <p:cNvSpPr txBox="1"/>
          <p:nvPr/>
        </p:nvSpPr>
        <p:spPr>
          <a:xfrm>
            <a:off x="822960" y="1097280"/>
            <a:ext cx="5760720" cy="1371600"/>
          </a:xfrm>
          <a:prstGeom prst="rect">
            <a:avLst/>
          </a:prstGeom>
          <a:noFill/>
          <a:ln/>
        </p:spPr>
        <p:txBody>
          <a:bodyPr wrap="square" lIns="0" tIns="0" rIns="0" bIns="0" rtlCol="0" anchor="t"/>
          <a:lstStyle/>
          <a:p>
            <a:pPr indent="0" marL="0">
              <a:lnSpc>
                <a:spcPct val="98000"/>
              </a:lnSpc>
              <a:buNone/>
            </a:pPr>
            <a:r>
              <a:rPr lang="en-US" sz="3200" b="1" dirty="0">
                <a:solidFill>
                  <a:srgbClr val="1D1A15"/>
                </a:solidFill>
                <a:latin typeface="Georgia" pitchFamily="34" charset="0"/>
                <a:ea typeface="Georgia" pitchFamily="34" charset="-122"/>
                <a:cs typeface="Georgia" pitchFamily="34" charset="-120"/>
              </a:rPr>
              <a:t>More advanced features, as we go</a:t>
            </a:r>
            <a:endParaRPr lang="en-US" sz="3200" dirty="0"/>
          </a:p>
        </p:txBody>
      </p:sp>
      <p:sp>
        <p:nvSpPr>
          <p:cNvPr id="6" name="Text 4"/>
          <p:cNvSpPr txBox="1"/>
          <p:nvPr/>
        </p:nvSpPr>
        <p:spPr>
          <a:xfrm>
            <a:off x="822960" y="2286000"/>
            <a:ext cx="5760720" cy="1371600"/>
          </a:xfrm>
          <a:prstGeom prst="rect">
            <a:avLst/>
          </a:prstGeom>
          <a:noFill/>
          <a:ln/>
        </p:spPr>
        <p:txBody>
          <a:bodyPr wrap="square" lIns="0" tIns="0" rIns="0" bIns="0" rtlCol="0" anchor="t"/>
          <a:lstStyle/>
          <a:p>
            <a:pPr indent="0" marL="0">
              <a:lnSpc>
                <a:spcPct val="115000"/>
              </a:lnSpc>
              <a:buNone/>
            </a:pPr>
            <a:r>
              <a:rPr lang="en-US" sz="1500" dirty="0">
                <a:solidFill>
                  <a:srgbClr val="7A7266"/>
                </a:solidFill>
                <a:latin typeface="Calibri" pitchFamily="34" charset="0"/>
                <a:ea typeface="Calibri" pitchFamily="34" charset="-122"/>
                <a:cs typeface="Calibri" pitchFamily="34" charset="-120"/>
              </a:rPr>
              <a:t>This is the foundation. As development continues we’ll layer on deeper capabilities, prioritized with the team.</a:t>
            </a:r>
            <a:endParaRPr lang="en-US" sz="1500" dirty="0"/>
          </a:p>
        </p:txBody>
      </p:sp>
      <p:sp>
        <p:nvSpPr>
          <p:cNvPr id="7" name="Shape 5"/>
          <p:cNvSpPr/>
          <p:nvPr/>
        </p:nvSpPr>
        <p:spPr>
          <a:xfrm>
            <a:off x="822960" y="3657600"/>
            <a:ext cx="2258568" cy="384048"/>
          </a:xfrm>
          <a:prstGeom prst="roundRect">
            <a:avLst>
              <a:gd name="adj" fmla="val 50000"/>
            </a:avLst>
          </a:prstGeom>
          <a:solidFill>
            <a:srgbClr val="FFFFFF"/>
          </a:solidFill>
          <a:ln w="12700">
            <a:solidFill>
              <a:srgbClr val="E4DCC9"/>
            </a:solidFill>
            <a:prstDash val="solid"/>
          </a:ln>
        </p:spPr>
      </p:sp>
      <p:sp>
        <p:nvSpPr>
          <p:cNvPr id="8" name="Text 6"/>
          <p:cNvSpPr txBox="1"/>
          <p:nvPr/>
        </p:nvSpPr>
        <p:spPr>
          <a:xfrm>
            <a:off x="969264" y="3639312"/>
            <a:ext cx="1984248" cy="420624"/>
          </a:xfrm>
          <a:prstGeom prst="rect">
            <a:avLst/>
          </a:prstGeom>
          <a:noFill/>
          <a:ln/>
        </p:spPr>
        <p:txBody>
          <a:bodyPr wrap="square" lIns="0" tIns="0" rIns="0" bIns="0" rtlCol="0" anchor="ctr"/>
          <a:lstStyle/>
          <a:p>
            <a:pPr indent="0" marL="0">
              <a:buNone/>
            </a:pPr>
            <a:r>
              <a:rPr lang="en-US" sz="1050" dirty="0">
                <a:solidFill>
                  <a:srgbClr val="1D1A15"/>
                </a:solidFill>
                <a:latin typeface="Calibri" pitchFamily="34" charset="0"/>
                <a:ea typeface="Calibri" pitchFamily="34" charset="-122"/>
                <a:cs typeface="Calibri" pitchFamily="34" charset="-120"/>
              </a:rPr>
              <a:t>Prioritized with the team</a:t>
            </a:r>
            <a:endParaRPr lang="en-US" sz="1050" dirty="0"/>
          </a:p>
        </p:txBody>
      </p:sp>
      <p:sp>
        <p:nvSpPr>
          <p:cNvPr id="9" name="Shape 7"/>
          <p:cNvSpPr/>
          <p:nvPr/>
        </p:nvSpPr>
        <p:spPr>
          <a:xfrm>
            <a:off x="3246120" y="3657600"/>
            <a:ext cx="1097280" cy="384048"/>
          </a:xfrm>
          <a:prstGeom prst="roundRect">
            <a:avLst>
              <a:gd name="adj" fmla="val 50000"/>
            </a:avLst>
          </a:prstGeom>
          <a:solidFill>
            <a:srgbClr val="FFFFFF"/>
          </a:solidFill>
          <a:ln w="12700">
            <a:solidFill>
              <a:srgbClr val="E4DCC9"/>
            </a:solidFill>
            <a:prstDash val="solid"/>
          </a:ln>
        </p:spPr>
      </p:sp>
      <p:sp>
        <p:nvSpPr>
          <p:cNvPr id="10" name="Shape 8"/>
          <p:cNvSpPr/>
          <p:nvPr/>
        </p:nvSpPr>
        <p:spPr>
          <a:xfrm>
            <a:off x="3392424" y="3799332"/>
            <a:ext cx="100584" cy="100584"/>
          </a:xfrm>
          <a:prstGeom prst="ellipse">
            <a:avLst/>
          </a:prstGeom>
          <a:solidFill>
            <a:srgbClr val="B0842F"/>
          </a:solidFill>
          <a:ln/>
        </p:spPr>
      </p:sp>
      <p:sp>
        <p:nvSpPr>
          <p:cNvPr id="11" name="Text 9"/>
          <p:cNvSpPr txBox="1"/>
          <p:nvPr/>
        </p:nvSpPr>
        <p:spPr>
          <a:xfrm>
            <a:off x="3557016" y="3639312"/>
            <a:ext cx="822960" cy="420624"/>
          </a:xfrm>
          <a:prstGeom prst="rect">
            <a:avLst/>
          </a:prstGeom>
          <a:noFill/>
          <a:ln/>
        </p:spPr>
        <p:txBody>
          <a:bodyPr wrap="square" lIns="0" tIns="0" rIns="0" bIns="0" rtlCol="0" anchor="ctr"/>
          <a:lstStyle/>
          <a:p>
            <a:pPr indent="0" marL="0">
              <a:buNone/>
            </a:pPr>
            <a:r>
              <a:rPr lang="en-US" sz="1050" dirty="0">
                <a:solidFill>
                  <a:srgbClr val="1D1A15"/>
                </a:solidFill>
                <a:latin typeface="Calibri" pitchFamily="34" charset="0"/>
                <a:ea typeface="Calibri" pitchFamily="34" charset="-122"/>
                <a:cs typeface="Calibri" pitchFamily="34" charset="-120"/>
              </a:rPr>
              <a:t>Planned</a:t>
            </a:r>
            <a:endParaRPr lang="en-US" sz="1050" dirty="0"/>
          </a:p>
        </p:txBody>
      </p:sp>
      <p:sp>
        <p:nvSpPr>
          <p:cNvPr id="12" name="Shape 10"/>
          <p:cNvSpPr/>
          <p:nvPr/>
        </p:nvSpPr>
        <p:spPr>
          <a:xfrm>
            <a:off x="7040880" y="1645920"/>
            <a:ext cx="4480560" cy="3566160"/>
          </a:xfrm>
          <a:prstGeom prst="roundRect">
            <a:avLst>
              <a:gd name="adj" fmla="val 3077"/>
            </a:avLst>
          </a:prstGeom>
          <a:solidFill>
            <a:srgbClr val="FFFFFF"/>
          </a:solidFill>
          <a:ln w="12700">
            <a:solidFill>
              <a:srgbClr val="E4DCC9"/>
            </a:solidFill>
            <a:prstDash val="solid"/>
          </a:ln>
          <a:effectLst>
            <a:outerShdw sx="100000" sy="100000" kx="0" ky="0" algn="bl" rotWithShape="0" blurRad="127000" dist="38100" dir="5400000">
              <a:srgbClr val="6B6252">
                <a:alpha val="35000"/>
              </a:srgbClr>
            </a:outerShdw>
          </a:effectLst>
        </p:spPr>
      </p:sp>
      <p:sp>
        <p:nvSpPr>
          <p:cNvPr id="13" name="Shape 11"/>
          <p:cNvSpPr/>
          <p:nvPr/>
        </p:nvSpPr>
        <p:spPr>
          <a:xfrm>
            <a:off x="7040880" y="1645920"/>
            <a:ext cx="4480560" cy="384048"/>
          </a:xfrm>
          <a:prstGeom prst="roundRect">
            <a:avLst>
              <a:gd name="adj" fmla="val 28571"/>
            </a:avLst>
          </a:prstGeom>
          <a:solidFill>
            <a:srgbClr val="FBFAF6"/>
          </a:solidFill>
          <a:ln/>
        </p:spPr>
      </p:sp>
      <p:sp>
        <p:nvSpPr>
          <p:cNvPr id="14" name="Shape 12"/>
          <p:cNvSpPr/>
          <p:nvPr/>
        </p:nvSpPr>
        <p:spPr>
          <a:xfrm>
            <a:off x="7040880" y="1901952"/>
            <a:ext cx="4480560" cy="128016"/>
          </a:xfrm>
          <a:prstGeom prst="rect">
            <a:avLst/>
          </a:prstGeom>
          <a:solidFill>
            <a:srgbClr val="FBFAF6"/>
          </a:solidFill>
          <a:ln/>
        </p:spPr>
      </p:sp>
      <p:sp>
        <p:nvSpPr>
          <p:cNvPr id="15" name="Shape 13"/>
          <p:cNvSpPr/>
          <p:nvPr/>
        </p:nvSpPr>
        <p:spPr>
          <a:xfrm>
            <a:off x="7205472" y="1783080"/>
            <a:ext cx="100584" cy="100584"/>
          </a:xfrm>
          <a:prstGeom prst="ellipse">
            <a:avLst/>
          </a:prstGeom>
          <a:solidFill>
            <a:srgbClr val="C9BFA9"/>
          </a:solidFill>
          <a:ln/>
        </p:spPr>
      </p:sp>
      <p:sp>
        <p:nvSpPr>
          <p:cNvPr id="16" name="Shape 14"/>
          <p:cNvSpPr/>
          <p:nvPr/>
        </p:nvSpPr>
        <p:spPr>
          <a:xfrm>
            <a:off x="7388352" y="1783080"/>
            <a:ext cx="100584" cy="100584"/>
          </a:xfrm>
          <a:prstGeom prst="ellipse">
            <a:avLst/>
          </a:prstGeom>
          <a:solidFill>
            <a:srgbClr val="C9BFA9"/>
          </a:solidFill>
          <a:ln/>
        </p:spPr>
      </p:sp>
      <p:sp>
        <p:nvSpPr>
          <p:cNvPr id="17" name="Shape 15"/>
          <p:cNvSpPr/>
          <p:nvPr/>
        </p:nvSpPr>
        <p:spPr>
          <a:xfrm>
            <a:off x="7571232" y="1783080"/>
            <a:ext cx="100584" cy="100584"/>
          </a:xfrm>
          <a:prstGeom prst="ellipse">
            <a:avLst/>
          </a:prstGeom>
          <a:solidFill>
            <a:srgbClr val="C9BFA9"/>
          </a:solidFill>
          <a:ln/>
        </p:spPr>
      </p:sp>
      <p:sp>
        <p:nvSpPr>
          <p:cNvPr id="18" name="Text 16"/>
          <p:cNvSpPr txBox="1"/>
          <p:nvPr/>
        </p:nvSpPr>
        <p:spPr>
          <a:xfrm>
            <a:off x="7818120" y="1673352"/>
            <a:ext cx="3566160" cy="329184"/>
          </a:xfrm>
          <a:prstGeom prst="rect">
            <a:avLst/>
          </a:prstGeom>
          <a:noFill/>
          <a:ln/>
        </p:spPr>
        <p:txBody>
          <a:bodyPr wrap="square" lIns="0" tIns="0" rIns="0" bIns="0" rtlCol="0" anchor="ctr"/>
          <a:lstStyle/>
          <a:p>
            <a:pPr indent="0" marL="0">
              <a:buNone/>
            </a:pPr>
            <a:endParaRPr lang="en-US" sz="900" dirty="0"/>
          </a:p>
        </p:txBody>
      </p:sp>
      <p:sp>
        <p:nvSpPr>
          <p:cNvPr id="19" name="Shape 17"/>
          <p:cNvSpPr/>
          <p:nvPr/>
        </p:nvSpPr>
        <p:spPr>
          <a:xfrm>
            <a:off x="7040880" y="2029968"/>
            <a:ext cx="4480560" cy="0"/>
          </a:xfrm>
          <a:prstGeom prst="line">
            <a:avLst/>
          </a:prstGeom>
          <a:noFill/>
          <a:ln w="12700">
            <a:solidFill>
              <a:srgbClr val="E4DCC9"/>
            </a:solidFill>
            <a:prstDash val="solid"/>
          </a:ln>
        </p:spPr>
      </p:sp>
      <p:sp>
        <p:nvSpPr>
          <p:cNvPr id="20" name="Shape 18"/>
          <p:cNvSpPr/>
          <p:nvPr/>
        </p:nvSpPr>
        <p:spPr>
          <a:xfrm>
            <a:off x="7296912" y="2212848"/>
            <a:ext cx="1911096" cy="368808"/>
          </a:xfrm>
          <a:prstGeom prst="roundRect">
            <a:avLst>
              <a:gd name="adj" fmla="val 14876"/>
            </a:avLst>
          </a:prstGeom>
          <a:solidFill>
            <a:srgbClr val="FBFAF6"/>
          </a:solidFill>
          <a:ln w="12700">
            <a:solidFill>
              <a:srgbClr val="E4DCC9"/>
            </a:solidFill>
            <a:prstDash val="solid"/>
          </a:ln>
        </p:spPr>
      </p:sp>
      <p:sp>
        <p:nvSpPr>
          <p:cNvPr id="21" name="Shape 19"/>
          <p:cNvSpPr/>
          <p:nvPr/>
        </p:nvSpPr>
        <p:spPr>
          <a:xfrm>
            <a:off x="7424928" y="2356104"/>
            <a:ext cx="82296" cy="82296"/>
          </a:xfrm>
          <a:prstGeom prst="ellipse">
            <a:avLst/>
          </a:prstGeom>
          <a:solidFill>
            <a:srgbClr val="9C7C2E"/>
          </a:solidFill>
          <a:ln/>
        </p:spPr>
      </p:sp>
      <p:sp>
        <p:nvSpPr>
          <p:cNvPr id="22" name="Text 20"/>
          <p:cNvSpPr txBox="1"/>
          <p:nvPr/>
        </p:nvSpPr>
        <p:spPr>
          <a:xfrm>
            <a:off x="7589520" y="2212848"/>
            <a:ext cx="1527048" cy="368808"/>
          </a:xfrm>
          <a:prstGeom prst="rect">
            <a:avLst/>
          </a:prstGeom>
          <a:noFill/>
          <a:ln/>
        </p:spPr>
        <p:txBody>
          <a:bodyPr wrap="square" lIns="0" tIns="0" rIns="0" bIns="0" rtlCol="0" anchor="ctr"/>
          <a:lstStyle/>
          <a:p>
            <a:pPr indent="0" marL="0">
              <a:buNone/>
            </a:pPr>
            <a:r>
              <a:rPr lang="en-US" sz="800" dirty="0">
                <a:solidFill>
                  <a:srgbClr val="1D1A15"/>
                </a:solidFill>
                <a:latin typeface="Calibri" pitchFamily="34" charset="0"/>
                <a:ea typeface="Calibri" pitchFamily="34" charset="-122"/>
                <a:cs typeface="Calibri" pitchFamily="34" charset="-120"/>
              </a:rPr>
              <a:t>Automated renewal outreach</a:t>
            </a:r>
            <a:endParaRPr lang="en-US" sz="800" dirty="0"/>
          </a:p>
        </p:txBody>
      </p:sp>
      <p:sp>
        <p:nvSpPr>
          <p:cNvPr id="23" name="Shape 21"/>
          <p:cNvSpPr/>
          <p:nvPr/>
        </p:nvSpPr>
        <p:spPr>
          <a:xfrm>
            <a:off x="9354312" y="2212848"/>
            <a:ext cx="1911096" cy="368808"/>
          </a:xfrm>
          <a:prstGeom prst="roundRect">
            <a:avLst>
              <a:gd name="adj" fmla="val 14876"/>
            </a:avLst>
          </a:prstGeom>
          <a:solidFill>
            <a:srgbClr val="FBFAF6"/>
          </a:solidFill>
          <a:ln w="12700">
            <a:solidFill>
              <a:srgbClr val="E4DCC9"/>
            </a:solidFill>
            <a:prstDash val="solid"/>
          </a:ln>
        </p:spPr>
      </p:sp>
      <p:sp>
        <p:nvSpPr>
          <p:cNvPr id="24" name="Shape 22"/>
          <p:cNvSpPr/>
          <p:nvPr/>
        </p:nvSpPr>
        <p:spPr>
          <a:xfrm>
            <a:off x="9482328" y="2356104"/>
            <a:ext cx="82296" cy="82296"/>
          </a:xfrm>
          <a:prstGeom prst="ellipse">
            <a:avLst/>
          </a:prstGeom>
          <a:solidFill>
            <a:srgbClr val="9C7C2E"/>
          </a:solidFill>
          <a:ln/>
        </p:spPr>
      </p:sp>
      <p:sp>
        <p:nvSpPr>
          <p:cNvPr id="25" name="Text 23"/>
          <p:cNvSpPr txBox="1"/>
          <p:nvPr/>
        </p:nvSpPr>
        <p:spPr>
          <a:xfrm>
            <a:off x="9646920" y="2212848"/>
            <a:ext cx="1527048" cy="368808"/>
          </a:xfrm>
          <a:prstGeom prst="rect">
            <a:avLst/>
          </a:prstGeom>
          <a:noFill/>
          <a:ln/>
        </p:spPr>
        <p:txBody>
          <a:bodyPr wrap="square" lIns="0" tIns="0" rIns="0" bIns="0" rtlCol="0" anchor="ctr"/>
          <a:lstStyle/>
          <a:p>
            <a:pPr indent="0" marL="0">
              <a:buNone/>
            </a:pPr>
            <a:r>
              <a:rPr lang="en-US" sz="800" dirty="0">
                <a:solidFill>
                  <a:srgbClr val="1D1A15"/>
                </a:solidFill>
                <a:latin typeface="Calibri" pitchFamily="34" charset="0"/>
                <a:ea typeface="Calibri" pitchFamily="34" charset="-122"/>
                <a:cs typeface="Calibri" pitchFamily="34" charset="-120"/>
              </a:rPr>
              <a:t>Real-time data across every hub</a:t>
            </a:r>
            <a:endParaRPr lang="en-US" sz="800" dirty="0"/>
          </a:p>
        </p:txBody>
      </p:sp>
      <p:sp>
        <p:nvSpPr>
          <p:cNvPr id="26" name="Shape 24"/>
          <p:cNvSpPr/>
          <p:nvPr/>
        </p:nvSpPr>
        <p:spPr>
          <a:xfrm>
            <a:off x="7296912" y="2691384"/>
            <a:ext cx="1911096" cy="368808"/>
          </a:xfrm>
          <a:prstGeom prst="roundRect">
            <a:avLst>
              <a:gd name="adj" fmla="val 14876"/>
            </a:avLst>
          </a:prstGeom>
          <a:solidFill>
            <a:srgbClr val="FBFAF6"/>
          </a:solidFill>
          <a:ln w="12700">
            <a:solidFill>
              <a:srgbClr val="E4DCC9"/>
            </a:solidFill>
            <a:prstDash val="solid"/>
          </a:ln>
        </p:spPr>
      </p:sp>
      <p:sp>
        <p:nvSpPr>
          <p:cNvPr id="27" name="Shape 25"/>
          <p:cNvSpPr/>
          <p:nvPr/>
        </p:nvSpPr>
        <p:spPr>
          <a:xfrm>
            <a:off x="7424928" y="2834640"/>
            <a:ext cx="82296" cy="82296"/>
          </a:xfrm>
          <a:prstGeom prst="ellipse">
            <a:avLst/>
          </a:prstGeom>
          <a:solidFill>
            <a:srgbClr val="9C7C2E"/>
          </a:solidFill>
          <a:ln/>
        </p:spPr>
      </p:sp>
      <p:sp>
        <p:nvSpPr>
          <p:cNvPr id="28" name="Text 26"/>
          <p:cNvSpPr txBox="1"/>
          <p:nvPr/>
        </p:nvSpPr>
        <p:spPr>
          <a:xfrm>
            <a:off x="7589520" y="2691384"/>
            <a:ext cx="1527048" cy="368808"/>
          </a:xfrm>
          <a:prstGeom prst="rect">
            <a:avLst/>
          </a:prstGeom>
          <a:noFill/>
          <a:ln/>
        </p:spPr>
        <p:txBody>
          <a:bodyPr wrap="square" lIns="0" tIns="0" rIns="0" bIns="0" rtlCol="0" anchor="ctr"/>
          <a:lstStyle/>
          <a:p>
            <a:pPr indent="0" marL="0">
              <a:buNone/>
            </a:pPr>
            <a:r>
              <a:rPr lang="en-US" sz="800" dirty="0">
                <a:solidFill>
                  <a:srgbClr val="1D1A15"/>
                </a:solidFill>
                <a:latin typeface="Calibri" pitchFamily="34" charset="0"/>
                <a:ea typeface="Calibri" pitchFamily="34" charset="-122"/>
                <a:cs typeface="Calibri" pitchFamily="34" charset="-120"/>
              </a:rPr>
              <a:t>Parent engagement portal</a:t>
            </a:r>
            <a:endParaRPr lang="en-US" sz="800" dirty="0"/>
          </a:p>
        </p:txBody>
      </p:sp>
      <p:sp>
        <p:nvSpPr>
          <p:cNvPr id="29" name="Shape 27"/>
          <p:cNvSpPr/>
          <p:nvPr/>
        </p:nvSpPr>
        <p:spPr>
          <a:xfrm>
            <a:off x="9354312" y="2691384"/>
            <a:ext cx="1911096" cy="368808"/>
          </a:xfrm>
          <a:prstGeom prst="roundRect">
            <a:avLst>
              <a:gd name="adj" fmla="val 14876"/>
            </a:avLst>
          </a:prstGeom>
          <a:solidFill>
            <a:srgbClr val="FBFAF6"/>
          </a:solidFill>
          <a:ln w="12700">
            <a:solidFill>
              <a:srgbClr val="E4DCC9"/>
            </a:solidFill>
            <a:prstDash val="solid"/>
          </a:ln>
        </p:spPr>
      </p:sp>
      <p:sp>
        <p:nvSpPr>
          <p:cNvPr id="30" name="Shape 28"/>
          <p:cNvSpPr/>
          <p:nvPr/>
        </p:nvSpPr>
        <p:spPr>
          <a:xfrm>
            <a:off x="9482328" y="2834640"/>
            <a:ext cx="82296" cy="82296"/>
          </a:xfrm>
          <a:prstGeom prst="ellipse">
            <a:avLst/>
          </a:prstGeom>
          <a:solidFill>
            <a:srgbClr val="9C7C2E"/>
          </a:solidFill>
          <a:ln/>
        </p:spPr>
      </p:sp>
      <p:sp>
        <p:nvSpPr>
          <p:cNvPr id="31" name="Text 29"/>
          <p:cNvSpPr txBox="1"/>
          <p:nvPr/>
        </p:nvSpPr>
        <p:spPr>
          <a:xfrm>
            <a:off x="9646920" y="2691384"/>
            <a:ext cx="1527048" cy="368808"/>
          </a:xfrm>
          <a:prstGeom prst="rect">
            <a:avLst/>
          </a:prstGeom>
          <a:noFill/>
          <a:ln/>
        </p:spPr>
        <p:txBody>
          <a:bodyPr wrap="square" lIns="0" tIns="0" rIns="0" bIns="0" rtlCol="0" anchor="ctr"/>
          <a:lstStyle/>
          <a:p>
            <a:pPr indent="0" marL="0">
              <a:buNone/>
            </a:pPr>
            <a:r>
              <a:rPr lang="en-US" sz="800" dirty="0">
                <a:solidFill>
                  <a:srgbClr val="1D1A15"/>
                </a:solidFill>
                <a:latin typeface="Calibri" pitchFamily="34" charset="0"/>
                <a:ea typeface="Calibri" pitchFamily="34" charset="-122"/>
                <a:cs typeface="Calibri" pitchFamily="34" charset="-120"/>
              </a:rPr>
              <a:t>Analytics &amp; forecasting</a:t>
            </a:r>
            <a:endParaRPr lang="en-US" sz="800" dirty="0"/>
          </a:p>
        </p:txBody>
      </p:sp>
      <p:sp>
        <p:nvSpPr>
          <p:cNvPr id="32" name="Shape 30"/>
          <p:cNvSpPr/>
          <p:nvPr/>
        </p:nvSpPr>
        <p:spPr>
          <a:xfrm>
            <a:off x="7296912" y="3169920"/>
            <a:ext cx="1911096" cy="368808"/>
          </a:xfrm>
          <a:prstGeom prst="roundRect">
            <a:avLst>
              <a:gd name="adj" fmla="val 14876"/>
            </a:avLst>
          </a:prstGeom>
          <a:solidFill>
            <a:srgbClr val="FBFAF6"/>
          </a:solidFill>
          <a:ln w="12700">
            <a:solidFill>
              <a:srgbClr val="E4DCC9"/>
            </a:solidFill>
            <a:prstDash val="solid"/>
          </a:ln>
        </p:spPr>
      </p:sp>
      <p:sp>
        <p:nvSpPr>
          <p:cNvPr id="33" name="Shape 31"/>
          <p:cNvSpPr/>
          <p:nvPr/>
        </p:nvSpPr>
        <p:spPr>
          <a:xfrm>
            <a:off x="7424928" y="3313176"/>
            <a:ext cx="82296" cy="82296"/>
          </a:xfrm>
          <a:prstGeom prst="ellipse">
            <a:avLst/>
          </a:prstGeom>
          <a:solidFill>
            <a:srgbClr val="9C7C2E"/>
          </a:solidFill>
          <a:ln/>
        </p:spPr>
      </p:sp>
      <p:sp>
        <p:nvSpPr>
          <p:cNvPr id="34" name="Text 32"/>
          <p:cNvSpPr txBox="1"/>
          <p:nvPr/>
        </p:nvSpPr>
        <p:spPr>
          <a:xfrm>
            <a:off x="7589520" y="3169920"/>
            <a:ext cx="1527048" cy="368808"/>
          </a:xfrm>
          <a:prstGeom prst="rect">
            <a:avLst/>
          </a:prstGeom>
          <a:noFill/>
          <a:ln/>
        </p:spPr>
        <p:txBody>
          <a:bodyPr wrap="square" lIns="0" tIns="0" rIns="0" bIns="0" rtlCol="0" anchor="ctr"/>
          <a:lstStyle/>
          <a:p>
            <a:pPr indent="0" marL="0">
              <a:buNone/>
            </a:pPr>
            <a:r>
              <a:rPr lang="en-US" sz="800" dirty="0">
                <a:solidFill>
                  <a:srgbClr val="1D1A15"/>
                </a:solidFill>
                <a:latin typeface="Calibri" pitchFamily="34" charset="0"/>
                <a:ea typeface="Calibri" pitchFamily="34" charset="-122"/>
                <a:cs typeface="Calibri" pitchFamily="34" charset="-120"/>
              </a:rPr>
              <a:t>Handbook &amp; document library</a:t>
            </a:r>
            <a:endParaRPr lang="en-US" sz="800" dirty="0"/>
          </a:p>
        </p:txBody>
      </p:sp>
      <p:sp>
        <p:nvSpPr>
          <p:cNvPr id="35" name="Shape 33"/>
          <p:cNvSpPr/>
          <p:nvPr/>
        </p:nvSpPr>
        <p:spPr>
          <a:xfrm>
            <a:off x="9354312" y="3169920"/>
            <a:ext cx="1911096" cy="368808"/>
          </a:xfrm>
          <a:prstGeom prst="roundRect">
            <a:avLst>
              <a:gd name="adj" fmla="val 14876"/>
            </a:avLst>
          </a:prstGeom>
          <a:solidFill>
            <a:srgbClr val="FBFAF6"/>
          </a:solidFill>
          <a:ln w="12700">
            <a:solidFill>
              <a:srgbClr val="E4DCC9"/>
            </a:solidFill>
            <a:prstDash val="solid"/>
          </a:ln>
        </p:spPr>
      </p:sp>
      <p:sp>
        <p:nvSpPr>
          <p:cNvPr id="36" name="Shape 34"/>
          <p:cNvSpPr/>
          <p:nvPr/>
        </p:nvSpPr>
        <p:spPr>
          <a:xfrm>
            <a:off x="9482328" y="3313176"/>
            <a:ext cx="82296" cy="82296"/>
          </a:xfrm>
          <a:prstGeom prst="ellipse">
            <a:avLst/>
          </a:prstGeom>
          <a:solidFill>
            <a:srgbClr val="9C7C2E"/>
          </a:solidFill>
          <a:ln/>
        </p:spPr>
      </p:sp>
      <p:sp>
        <p:nvSpPr>
          <p:cNvPr id="37" name="Text 35"/>
          <p:cNvSpPr txBox="1"/>
          <p:nvPr/>
        </p:nvSpPr>
        <p:spPr>
          <a:xfrm>
            <a:off x="9646920" y="3169920"/>
            <a:ext cx="1527048" cy="368808"/>
          </a:xfrm>
          <a:prstGeom prst="rect">
            <a:avLst/>
          </a:prstGeom>
          <a:noFill/>
          <a:ln/>
        </p:spPr>
        <p:txBody>
          <a:bodyPr wrap="square" lIns="0" tIns="0" rIns="0" bIns="0" rtlCol="0" anchor="ctr"/>
          <a:lstStyle/>
          <a:p>
            <a:pPr indent="0" marL="0">
              <a:buNone/>
            </a:pPr>
            <a:r>
              <a:rPr lang="en-US" sz="800" dirty="0">
                <a:solidFill>
                  <a:srgbClr val="1D1A15"/>
                </a:solidFill>
                <a:latin typeface="Calibri" pitchFamily="34" charset="0"/>
                <a:ea typeface="Calibri" pitchFamily="34" charset="-122"/>
                <a:cs typeface="Calibri" pitchFamily="34" charset="-120"/>
              </a:rPr>
              <a:t>Mobile app for teachers &amp; parents</a:t>
            </a:r>
            <a:endParaRPr lang="en-US" sz="800" dirty="0"/>
          </a:p>
        </p:txBody>
      </p:sp>
      <p:sp>
        <p:nvSpPr>
          <p:cNvPr id="38" name="Shape 36"/>
          <p:cNvSpPr/>
          <p:nvPr/>
        </p:nvSpPr>
        <p:spPr>
          <a:xfrm>
            <a:off x="7296912" y="3648456"/>
            <a:ext cx="1911096" cy="368808"/>
          </a:xfrm>
          <a:prstGeom prst="roundRect">
            <a:avLst>
              <a:gd name="adj" fmla="val 14876"/>
            </a:avLst>
          </a:prstGeom>
          <a:solidFill>
            <a:srgbClr val="FBFAF6"/>
          </a:solidFill>
          <a:ln w="12700">
            <a:solidFill>
              <a:srgbClr val="E4DCC9"/>
            </a:solidFill>
            <a:prstDash val="solid"/>
          </a:ln>
        </p:spPr>
      </p:sp>
      <p:sp>
        <p:nvSpPr>
          <p:cNvPr id="39" name="Shape 37"/>
          <p:cNvSpPr/>
          <p:nvPr/>
        </p:nvSpPr>
        <p:spPr>
          <a:xfrm>
            <a:off x="7424928" y="3791712"/>
            <a:ext cx="82296" cy="82296"/>
          </a:xfrm>
          <a:prstGeom prst="ellipse">
            <a:avLst/>
          </a:prstGeom>
          <a:solidFill>
            <a:srgbClr val="9C7C2E"/>
          </a:solidFill>
          <a:ln/>
        </p:spPr>
      </p:sp>
      <p:sp>
        <p:nvSpPr>
          <p:cNvPr id="40" name="Text 38"/>
          <p:cNvSpPr txBox="1"/>
          <p:nvPr/>
        </p:nvSpPr>
        <p:spPr>
          <a:xfrm>
            <a:off x="7589520" y="3648456"/>
            <a:ext cx="1527048" cy="368808"/>
          </a:xfrm>
          <a:prstGeom prst="rect">
            <a:avLst/>
          </a:prstGeom>
          <a:noFill/>
          <a:ln/>
        </p:spPr>
        <p:txBody>
          <a:bodyPr wrap="square" lIns="0" tIns="0" rIns="0" bIns="0" rtlCol="0" anchor="ctr"/>
          <a:lstStyle/>
          <a:p>
            <a:pPr indent="0" marL="0">
              <a:buNone/>
            </a:pPr>
            <a:r>
              <a:rPr lang="en-US" sz="800" dirty="0">
                <a:solidFill>
                  <a:srgbClr val="1D1A15"/>
                </a:solidFill>
                <a:latin typeface="Calibri" pitchFamily="34" charset="0"/>
                <a:ea typeface="Calibri" pitchFamily="34" charset="-122"/>
                <a:cs typeface="Calibri" pitchFamily="34" charset="-120"/>
              </a:rPr>
              <a:t>Single sign-on across tools</a:t>
            </a:r>
            <a:endParaRPr lang="en-US" sz="800" dirty="0"/>
          </a:p>
        </p:txBody>
      </p:sp>
      <p:sp>
        <p:nvSpPr>
          <p:cNvPr id="41" name="Shape 39"/>
          <p:cNvSpPr/>
          <p:nvPr/>
        </p:nvSpPr>
        <p:spPr>
          <a:xfrm>
            <a:off x="9354312" y="3648456"/>
            <a:ext cx="1911096" cy="368808"/>
          </a:xfrm>
          <a:prstGeom prst="roundRect">
            <a:avLst>
              <a:gd name="adj" fmla="val 14876"/>
            </a:avLst>
          </a:prstGeom>
          <a:solidFill>
            <a:srgbClr val="FBFAF6"/>
          </a:solidFill>
          <a:ln w="12700">
            <a:solidFill>
              <a:srgbClr val="E4DCC9"/>
            </a:solidFill>
            <a:prstDash val="solid"/>
          </a:ln>
        </p:spPr>
      </p:sp>
      <p:sp>
        <p:nvSpPr>
          <p:cNvPr id="42" name="Shape 40"/>
          <p:cNvSpPr/>
          <p:nvPr/>
        </p:nvSpPr>
        <p:spPr>
          <a:xfrm>
            <a:off x="9482328" y="3791712"/>
            <a:ext cx="82296" cy="82296"/>
          </a:xfrm>
          <a:prstGeom prst="ellipse">
            <a:avLst/>
          </a:prstGeom>
          <a:solidFill>
            <a:srgbClr val="9C7C2E"/>
          </a:solidFill>
          <a:ln/>
        </p:spPr>
      </p:sp>
      <p:sp>
        <p:nvSpPr>
          <p:cNvPr id="43" name="Text 41"/>
          <p:cNvSpPr txBox="1"/>
          <p:nvPr/>
        </p:nvSpPr>
        <p:spPr>
          <a:xfrm>
            <a:off x="9646920" y="3648456"/>
            <a:ext cx="1527048" cy="368808"/>
          </a:xfrm>
          <a:prstGeom prst="rect">
            <a:avLst/>
          </a:prstGeom>
          <a:noFill/>
          <a:ln/>
        </p:spPr>
        <p:txBody>
          <a:bodyPr wrap="square" lIns="0" tIns="0" rIns="0" bIns="0" rtlCol="0" anchor="ctr"/>
          <a:lstStyle/>
          <a:p>
            <a:pPr indent="0" marL="0">
              <a:buNone/>
            </a:pPr>
            <a:r>
              <a:rPr lang="en-US" sz="800" dirty="0">
                <a:solidFill>
                  <a:srgbClr val="1D1A15"/>
                </a:solidFill>
                <a:latin typeface="Calibri" pitchFamily="34" charset="0"/>
                <a:ea typeface="Calibri" pitchFamily="34" charset="-122"/>
                <a:cs typeface="Calibri" pitchFamily="34" charset="-120"/>
              </a:rPr>
              <a:t>Automated emails &amp; reminders</a:t>
            </a:r>
            <a:endParaRPr lang="en-US" sz="800" dirty="0"/>
          </a:p>
        </p:txBody>
      </p:sp>
      <p:sp>
        <p:nvSpPr>
          <p:cNvPr id="44" name="Shape 42"/>
          <p:cNvSpPr/>
          <p:nvPr/>
        </p:nvSpPr>
        <p:spPr>
          <a:xfrm>
            <a:off x="7296912" y="4126992"/>
            <a:ext cx="1911096" cy="368808"/>
          </a:xfrm>
          <a:prstGeom prst="roundRect">
            <a:avLst>
              <a:gd name="adj" fmla="val 14876"/>
            </a:avLst>
          </a:prstGeom>
          <a:solidFill>
            <a:srgbClr val="FBFAF6"/>
          </a:solidFill>
          <a:ln w="12700">
            <a:solidFill>
              <a:srgbClr val="E4DCC9"/>
            </a:solidFill>
            <a:prstDash val="solid"/>
          </a:ln>
        </p:spPr>
      </p:sp>
      <p:sp>
        <p:nvSpPr>
          <p:cNvPr id="45" name="Shape 43"/>
          <p:cNvSpPr/>
          <p:nvPr/>
        </p:nvSpPr>
        <p:spPr>
          <a:xfrm>
            <a:off x="7424928" y="4270248"/>
            <a:ext cx="82296" cy="82296"/>
          </a:xfrm>
          <a:prstGeom prst="ellipse">
            <a:avLst/>
          </a:prstGeom>
          <a:solidFill>
            <a:srgbClr val="9C7C2E"/>
          </a:solidFill>
          <a:ln/>
        </p:spPr>
      </p:sp>
      <p:sp>
        <p:nvSpPr>
          <p:cNvPr id="46" name="Text 44"/>
          <p:cNvSpPr txBox="1"/>
          <p:nvPr/>
        </p:nvSpPr>
        <p:spPr>
          <a:xfrm>
            <a:off x="7589520" y="4126992"/>
            <a:ext cx="1527048" cy="368808"/>
          </a:xfrm>
          <a:prstGeom prst="rect">
            <a:avLst/>
          </a:prstGeom>
          <a:noFill/>
          <a:ln/>
        </p:spPr>
        <p:txBody>
          <a:bodyPr wrap="square" lIns="0" tIns="0" rIns="0" bIns="0" rtlCol="0" anchor="ctr"/>
          <a:lstStyle/>
          <a:p>
            <a:pPr indent="0" marL="0">
              <a:buNone/>
            </a:pPr>
            <a:r>
              <a:rPr lang="en-US" sz="800" dirty="0">
                <a:solidFill>
                  <a:srgbClr val="1D1A15"/>
                </a:solidFill>
                <a:latin typeface="Calibri" pitchFamily="34" charset="0"/>
                <a:ea typeface="Calibri" pitchFamily="34" charset="-122"/>
                <a:cs typeface="Calibri" pitchFamily="34" charset="-120"/>
              </a:rPr>
              <a:t>Donor &amp; fundraising tracking</a:t>
            </a:r>
            <a:endParaRPr lang="en-US" sz="800" dirty="0"/>
          </a:p>
        </p:txBody>
      </p:sp>
      <p:sp>
        <p:nvSpPr>
          <p:cNvPr id="47" name="Shape 45"/>
          <p:cNvSpPr/>
          <p:nvPr/>
        </p:nvSpPr>
        <p:spPr>
          <a:xfrm>
            <a:off x="9354312" y="4126992"/>
            <a:ext cx="1911096" cy="368808"/>
          </a:xfrm>
          <a:prstGeom prst="roundRect">
            <a:avLst>
              <a:gd name="adj" fmla="val 14876"/>
            </a:avLst>
          </a:prstGeom>
          <a:solidFill>
            <a:srgbClr val="FBFAF6"/>
          </a:solidFill>
          <a:ln w="12700">
            <a:solidFill>
              <a:srgbClr val="E4DCC9"/>
            </a:solidFill>
            <a:prstDash val="solid"/>
          </a:ln>
        </p:spPr>
      </p:sp>
      <p:sp>
        <p:nvSpPr>
          <p:cNvPr id="48" name="Shape 46"/>
          <p:cNvSpPr/>
          <p:nvPr/>
        </p:nvSpPr>
        <p:spPr>
          <a:xfrm>
            <a:off x="9482328" y="4270248"/>
            <a:ext cx="82296" cy="82296"/>
          </a:xfrm>
          <a:prstGeom prst="ellipse">
            <a:avLst/>
          </a:prstGeom>
          <a:solidFill>
            <a:srgbClr val="9C7C2E"/>
          </a:solidFill>
          <a:ln/>
        </p:spPr>
      </p:sp>
      <p:sp>
        <p:nvSpPr>
          <p:cNvPr id="49" name="Text 47"/>
          <p:cNvSpPr txBox="1"/>
          <p:nvPr/>
        </p:nvSpPr>
        <p:spPr>
          <a:xfrm>
            <a:off x="9646920" y="4126992"/>
            <a:ext cx="1527048" cy="368808"/>
          </a:xfrm>
          <a:prstGeom prst="rect">
            <a:avLst/>
          </a:prstGeom>
          <a:noFill/>
          <a:ln/>
        </p:spPr>
        <p:txBody>
          <a:bodyPr wrap="square" lIns="0" tIns="0" rIns="0" bIns="0" rtlCol="0" anchor="ctr"/>
          <a:lstStyle/>
          <a:p>
            <a:pPr indent="0" marL="0">
              <a:buNone/>
            </a:pPr>
            <a:r>
              <a:rPr lang="en-US" sz="800" dirty="0">
                <a:solidFill>
                  <a:srgbClr val="1D1A15"/>
                </a:solidFill>
                <a:latin typeface="Calibri" pitchFamily="34" charset="0"/>
                <a:ea typeface="Calibri" pitchFamily="34" charset="-122"/>
                <a:cs typeface="Calibri" pitchFamily="34" charset="-120"/>
              </a:rPr>
              <a:t>Student progress insights</a:t>
            </a:r>
            <a:endParaRPr lang="en-US" sz="800" dirty="0"/>
          </a:p>
        </p:txBody>
      </p:sp>
      <p:sp>
        <p:nvSpPr>
          <p:cNvPr id="50" name="Shape 48"/>
          <p:cNvSpPr/>
          <p:nvPr/>
        </p:nvSpPr>
        <p:spPr>
          <a:xfrm>
            <a:off x="7296912" y="4605528"/>
            <a:ext cx="1911096" cy="368808"/>
          </a:xfrm>
          <a:prstGeom prst="roundRect">
            <a:avLst>
              <a:gd name="adj" fmla="val 14876"/>
            </a:avLst>
          </a:prstGeom>
          <a:solidFill>
            <a:srgbClr val="FBFAF6"/>
          </a:solidFill>
          <a:ln w="12700">
            <a:solidFill>
              <a:srgbClr val="E4DCC9"/>
            </a:solidFill>
            <a:prstDash val="solid"/>
          </a:ln>
        </p:spPr>
      </p:sp>
      <p:sp>
        <p:nvSpPr>
          <p:cNvPr id="51" name="Shape 49"/>
          <p:cNvSpPr/>
          <p:nvPr/>
        </p:nvSpPr>
        <p:spPr>
          <a:xfrm>
            <a:off x="7424928" y="4748784"/>
            <a:ext cx="82296" cy="82296"/>
          </a:xfrm>
          <a:prstGeom prst="ellipse">
            <a:avLst/>
          </a:prstGeom>
          <a:solidFill>
            <a:srgbClr val="9C7C2E"/>
          </a:solidFill>
          <a:ln/>
        </p:spPr>
      </p:sp>
      <p:sp>
        <p:nvSpPr>
          <p:cNvPr id="52" name="Text 50"/>
          <p:cNvSpPr txBox="1"/>
          <p:nvPr/>
        </p:nvSpPr>
        <p:spPr>
          <a:xfrm>
            <a:off x="7589520" y="4605528"/>
            <a:ext cx="1527048" cy="368808"/>
          </a:xfrm>
          <a:prstGeom prst="rect">
            <a:avLst/>
          </a:prstGeom>
          <a:noFill/>
          <a:ln/>
        </p:spPr>
        <p:txBody>
          <a:bodyPr wrap="square" lIns="0" tIns="0" rIns="0" bIns="0" rtlCol="0" anchor="ctr"/>
          <a:lstStyle/>
          <a:p>
            <a:pPr indent="0" marL="0">
              <a:buNone/>
            </a:pPr>
            <a:r>
              <a:rPr lang="en-US" sz="800" dirty="0">
                <a:solidFill>
                  <a:srgbClr val="1D1A15"/>
                </a:solidFill>
                <a:latin typeface="Calibri" pitchFamily="34" charset="0"/>
                <a:ea typeface="Calibri" pitchFamily="34" charset="-122"/>
                <a:cs typeface="Calibri" pitchFamily="34" charset="-120"/>
              </a:rPr>
              <a:t>Spanish support</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822960" y="777240"/>
            <a:ext cx="7315200" cy="274320"/>
          </a:xfrm>
          <a:prstGeom prst="rect">
            <a:avLst/>
          </a:prstGeom>
          <a:noFill/>
          <a:ln/>
        </p:spPr>
        <p:txBody>
          <a:bodyPr wrap="square" lIns="0" tIns="0" rIns="0" bIns="0" rtlCol="0" anchor="ctr"/>
          <a:lstStyle/>
          <a:p>
            <a:pPr indent="0" marL="0">
              <a:buNone/>
            </a:pPr>
            <a:r>
              <a:rPr lang="en-US" sz="1100" b="1" spc="300" kern="0" dirty="0">
                <a:solidFill>
                  <a:srgbClr val="9C7C2E"/>
                </a:solidFill>
                <a:latin typeface="Calibri" pitchFamily="34" charset="0"/>
                <a:ea typeface="Calibri" pitchFamily="34" charset="-122"/>
                <a:cs typeface="Calibri" pitchFamily="34" charset="-120"/>
              </a:rPr>
              <a:t>STATUS &amp; ROADMAP</a:t>
            </a:r>
            <a:endParaRPr lang="en-US" sz="1100" dirty="0"/>
          </a:p>
        </p:txBody>
      </p:sp>
      <p:sp>
        <p:nvSpPr>
          <p:cNvPr id="3" name="Text 1"/>
          <p:cNvSpPr txBox="1"/>
          <p:nvPr/>
        </p:nvSpPr>
        <p:spPr>
          <a:xfrm>
            <a:off x="822960" y="1097280"/>
            <a:ext cx="5760720" cy="1371600"/>
          </a:xfrm>
          <a:prstGeom prst="rect">
            <a:avLst/>
          </a:prstGeom>
          <a:noFill/>
          <a:ln/>
        </p:spPr>
        <p:txBody>
          <a:bodyPr wrap="square" lIns="0" tIns="0" rIns="0" bIns="0" rtlCol="0" anchor="t"/>
          <a:lstStyle/>
          <a:p>
            <a:pPr indent="0" marL="0">
              <a:lnSpc>
                <a:spcPct val="98000"/>
              </a:lnSpc>
              <a:buNone/>
            </a:pPr>
            <a:r>
              <a:rPr lang="en-US" sz="3000" b="1" dirty="0">
                <a:solidFill>
                  <a:srgbClr val="1D1A15"/>
                </a:solidFill>
                <a:latin typeface="Georgia" pitchFamily="34" charset="0"/>
                <a:ea typeface="Georgia" pitchFamily="34" charset="-122"/>
                <a:cs typeface="Georgia" pitchFamily="34" charset="-120"/>
              </a:rPr>
              <a:t>Where it stands and what’s next</a:t>
            </a:r>
            <a:endParaRPr lang="en-US" sz="3000" dirty="0"/>
          </a:p>
        </p:txBody>
      </p:sp>
      <p:sp>
        <p:nvSpPr>
          <p:cNvPr id="4" name="Text 2"/>
          <p:cNvSpPr txBox="1"/>
          <p:nvPr/>
        </p:nvSpPr>
        <p:spPr>
          <a:xfrm>
            <a:off x="822960" y="2286000"/>
            <a:ext cx="5760720" cy="1371600"/>
          </a:xfrm>
          <a:prstGeom prst="rect">
            <a:avLst/>
          </a:prstGeom>
          <a:noFill/>
          <a:ln/>
        </p:spPr>
        <p:txBody>
          <a:bodyPr wrap="square" lIns="0" tIns="0" rIns="0" bIns="0" rtlCol="0" anchor="t"/>
          <a:lstStyle/>
          <a:p>
            <a:pPr indent="0" marL="0">
              <a:lnSpc>
                <a:spcPct val="115000"/>
              </a:lnSpc>
              <a:buNone/>
            </a:pPr>
            <a:r>
              <a:rPr lang="en-US" sz="1500" dirty="0">
                <a:solidFill>
                  <a:srgbClr val="7A7266"/>
                </a:solidFill>
                <a:latin typeface="Calibri" pitchFamily="34" charset="0"/>
                <a:ea typeface="Calibri" pitchFamily="34" charset="-122"/>
                <a:cs typeface="Calibri" pitchFamily="34" charset="-120"/>
              </a:rPr>
              <a:t>You can click through every screen, but this is early: what’s live today is mostly mockups, not real data yet. The build ahead is what makes each area real.</a:t>
            </a:r>
            <a:endParaRPr lang="en-US" sz="1500" dirty="0"/>
          </a:p>
        </p:txBody>
      </p:sp>
      <p:sp>
        <p:nvSpPr>
          <p:cNvPr id="5" name="Text 3"/>
          <p:cNvSpPr txBox="1"/>
          <p:nvPr/>
        </p:nvSpPr>
        <p:spPr>
          <a:xfrm>
            <a:off x="822960" y="3657600"/>
            <a:ext cx="5760720" cy="1115568"/>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1D1A15"/>
                </a:solidFill>
                <a:latin typeface="Calibri" pitchFamily="34" charset="0"/>
                <a:ea typeface="Calibri" pitchFamily="34" charset="-122"/>
                <a:cs typeface="Calibri" pitchFamily="34" charset="-120"/>
              </a:rPr>
              <a:t>Today: mockups and workflow processes documented.</a:t>
            </a:r>
            <a:endParaRPr lang="en-US" sz="1350" dirty="0"/>
          </a:p>
          <a:p>
            <a:pPr marL="177800" indent="-177800">
              <a:spcAft>
                <a:spcPts val="800"/>
              </a:spcAft>
              <a:buSzPct val="100000"/>
              <a:buChar char="•"/>
            </a:pPr>
            <a:r>
              <a:rPr lang="en-US" sz="1350" dirty="0">
                <a:solidFill>
                  <a:srgbClr val="1D1A15"/>
                </a:solidFill>
                <a:latin typeface="Calibri" pitchFamily="34" charset="0"/>
                <a:ea typeface="Calibri" pitchFamily="34" charset="-122"/>
                <a:cs typeface="Calibri" pitchFamily="34" charset="-120"/>
              </a:rPr>
              <a:t>Next: connect the real data sources, aiming for an end-of-March go-live.</a:t>
            </a:r>
            <a:endParaRPr lang="en-US" sz="1350" dirty="0"/>
          </a:p>
          <a:p>
            <a:pPr marL="177800" indent="-177800">
              <a:spcAft>
                <a:spcPts val="800"/>
              </a:spcAft>
              <a:buSzPct val="100000"/>
              <a:buChar char="•"/>
            </a:pPr>
            <a:r>
              <a:rPr lang="en-US" sz="1350" dirty="0">
                <a:solidFill>
                  <a:srgbClr val="1D1A15"/>
                </a:solidFill>
                <a:latin typeface="Calibri" pitchFamily="34" charset="0"/>
                <a:ea typeface="Calibri" pitchFamily="34" charset="-122"/>
                <a:cs typeface="Calibri" pitchFamily="34" charset="-120"/>
              </a:rPr>
              <a:t>Roadmap: Pre-K → finish 8th grade → churches → self-taught path.</a:t>
            </a:r>
            <a:endParaRPr lang="en-US" sz="1350" dirty="0"/>
          </a:p>
        </p:txBody>
      </p:sp>
      <p:sp>
        <p:nvSpPr>
          <p:cNvPr id="6" name="Shape 4"/>
          <p:cNvSpPr/>
          <p:nvPr/>
        </p:nvSpPr>
        <p:spPr>
          <a:xfrm>
            <a:off x="7040880" y="1645920"/>
            <a:ext cx="4480560" cy="3566160"/>
          </a:xfrm>
          <a:prstGeom prst="roundRect">
            <a:avLst>
              <a:gd name="adj" fmla="val 3077"/>
            </a:avLst>
          </a:prstGeom>
          <a:solidFill>
            <a:srgbClr val="FFFFFF"/>
          </a:solidFill>
          <a:ln w="12700">
            <a:solidFill>
              <a:srgbClr val="E4DCC9"/>
            </a:solidFill>
            <a:prstDash val="solid"/>
          </a:ln>
          <a:effectLst>
            <a:outerShdw sx="100000" sy="100000" kx="0" ky="0" algn="bl" rotWithShape="0" blurRad="127000" dist="38100" dir="5400000">
              <a:srgbClr val="6B6252">
                <a:alpha val="35000"/>
              </a:srgbClr>
            </a:outerShdw>
          </a:effectLst>
        </p:spPr>
      </p:sp>
      <p:sp>
        <p:nvSpPr>
          <p:cNvPr id="7" name="Shape 5"/>
          <p:cNvSpPr/>
          <p:nvPr/>
        </p:nvSpPr>
        <p:spPr>
          <a:xfrm>
            <a:off x="7040880" y="1645920"/>
            <a:ext cx="4480560" cy="384048"/>
          </a:xfrm>
          <a:prstGeom prst="roundRect">
            <a:avLst>
              <a:gd name="adj" fmla="val 28571"/>
            </a:avLst>
          </a:prstGeom>
          <a:solidFill>
            <a:srgbClr val="FBFAF6"/>
          </a:solidFill>
          <a:ln/>
        </p:spPr>
      </p:sp>
      <p:sp>
        <p:nvSpPr>
          <p:cNvPr id="8" name="Shape 6"/>
          <p:cNvSpPr/>
          <p:nvPr/>
        </p:nvSpPr>
        <p:spPr>
          <a:xfrm>
            <a:off x="7040880" y="1901952"/>
            <a:ext cx="4480560" cy="128016"/>
          </a:xfrm>
          <a:prstGeom prst="rect">
            <a:avLst/>
          </a:prstGeom>
          <a:solidFill>
            <a:srgbClr val="FBFAF6"/>
          </a:solidFill>
          <a:ln/>
        </p:spPr>
      </p:sp>
      <p:sp>
        <p:nvSpPr>
          <p:cNvPr id="9" name="Shape 7"/>
          <p:cNvSpPr/>
          <p:nvPr/>
        </p:nvSpPr>
        <p:spPr>
          <a:xfrm>
            <a:off x="7205472" y="1783080"/>
            <a:ext cx="100584" cy="100584"/>
          </a:xfrm>
          <a:prstGeom prst="ellipse">
            <a:avLst/>
          </a:prstGeom>
          <a:solidFill>
            <a:srgbClr val="C9BFA9"/>
          </a:solidFill>
          <a:ln/>
        </p:spPr>
      </p:sp>
      <p:sp>
        <p:nvSpPr>
          <p:cNvPr id="10" name="Shape 8"/>
          <p:cNvSpPr/>
          <p:nvPr/>
        </p:nvSpPr>
        <p:spPr>
          <a:xfrm>
            <a:off x="7388352" y="1783080"/>
            <a:ext cx="100584" cy="100584"/>
          </a:xfrm>
          <a:prstGeom prst="ellipse">
            <a:avLst/>
          </a:prstGeom>
          <a:solidFill>
            <a:srgbClr val="C9BFA9"/>
          </a:solidFill>
          <a:ln/>
        </p:spPr>
      </p:sp>
      <p:sp>
        <p:nvSpPr>
          <p:cNvPr id="11" name="Shape 9"/>
          <p:cNvSpPr/>
          <p:nvPr/>
        </p:nvSpPr>
        <p:spPr>
          <a:xfrm>
            <a:off x="7571232" y="1783080"/>
            <a:ext cx="100584" cy="100584"/>
          </a:xfrm>
          <a:prstGeom prst="ellipse">
            <a:avLst/>
          </a:prstGeom>
          <a:solidFill>
            <a:srgbClr val="C9BFA9"/>
          </a:solidFill>
          <a:ln/>
        </p:spPr>
      </p:sp>
      <p:sp>
        <p:nvSpPr>
          <p:cNvPr id="12" name="Text 10"/>
          <p:cNvSpPr txBox="1"/>
          <p:nvPr/>
        </p:nvSpPr>
        <p:spPr>
          <a:xfrm>
            <a:off x="7818120" y="1673352"/>
            <a:ext cx="3566160" cy="329184"/>
          </a:xfrm>
          <a:prstGeom prst="rect">
            <a:avLst/>
          </a:prstGeom>
          <a:noFill/>
          <a:ln/>
        </p:spPr>
        <p:txBody>
          <a:bodyPr wrap="square" lIns="0" tIns="0" rIns="0" bIns="0" rtlCol="0" anchor="ctr"/>
          <a:lstStyle/>
          <a:p>
            <a:pPr indent="0" marL="0">
              <a:buNone/>
            </a:pPr>
            <a:r>
              <a:rPr lang="en-US" sz="900" dirty="0">
                <a:solidFill>
                  <a:srgbClr val="7A7266"/>
                </a:solidFill>
                <a:latin typeface="Calibri" pitchFamily="34" charset="0"/>
                <a:ea typeface="Calibri" pitchFamily="34" charset="-122"/>
                <a:cs typeface="Calibri" pitchFamily="34" charset="-120"/>
              </a:rPr>
              <a:t>roadmap</a:t>
            </a:r>
            <a:endParaRPr lang="en-US" sz="900" dirty="0"/>
          </a:p>
        </p:txBody>
      </p:sp>
      <p:sp>
        <p:nvSpPr>
          <p:cNvPr id="13" name="Shape 11"/>
          <p:cNvSpPr/>
          <p:nvPr/>
        </p:nvSpPr>
        <p:spPr>
          <a:xfrm>
            <a:off x="7040880" y="2029968"/>
            <a:ext cx="4480560" cy="0"/>
          </a:xfrm>
          <a:prstGeom prst="line">
            <a:avLst/>
          </a:prstGeom>
          <a:noFill/>
          <a:ln w="12700">
            <a:solidFill>
              <a:srgbClr val="E4DCC9"/>
            </a:solidFill>
            <a:prstDash val="solid"/>
          </a:ln>
        </p:spPr>
      </p:sp>
      <p:sp>
        <p:nvSpPr>
          <p:cNvPr id="14" name="Shape 12"/>
          <p:cNvSpPr/>
          <p:nvPr/>
        </p:nvSpPr>
        <p:spPr>
          <a:xfrm>
            <a:off x="7516368" y="2615184"/>
            <a:ext cx="3529584" cy="0"/>
          </a:xfrm>
          <a:prstGeom prst="line">
            <a:avLst/>
          </a:prstGeom>
          <a:noFill/>
          <a:ln w="25400">
            <a:solidFill>
              <a:srgbClr val="E4DCC9"/>
            </a:solidFill>
            <a:prstDash val="solid"/>
          </a:ln>
        </p:spPr>
      </p:sp>
      <p:sp>
        <p:nvSpPr>
          <p:cNvPr id="15" name="Shape 13"/>
          <p:cNvSpPr/>
          <p:nvPr/>
        </p:nvSpPr>
        <p:spPr>
          <a:xfrm>
            <a:off x="7296912" y="2395728"/>
            <a:ext cx="438912" cy="438912"/>
          </a:xfrm>
          <a:prstGeom prst="ellipse">
            <a:avLst/>
          </a:prstGeom>
          <a:solidFill>
            <a:srgbClr val="FFFFFF"/>
          </a:solidFill>
          <a:ln w="25400">
            <a:solidFill>
              <a:srgbClr val="9C7C2E"/>
            </a:solidFill>
            <a:prstDash val="solid"/>
          </a:ln>
        </p:spPr>
      </p:sp>
      <p:sp>
        <p:nvSpPr>
          <p:cNvPr id="16" name="Text 14"/>
          <p:cNvSpPr txBox="1"/>
          <p:nvPr/>
        </p:nvSpPr>
        <p:spPr>
          <a:xfrm>
            <a:off x="7296912" y="2386584"/>
            <a:ext cx="438912" cy="438912"/>
          </a:xfrm>
          <a:prstGeom prst="rect">
            <a:avLst/>
          </a:prstGeom>
          <a:noFill/>
          <a:ln/>
        </p:spPr>
        <p:txBody>
          <a:bodyPr wrap="square" lIns="0" tIns="0" rIns="0" bIns="0" rtlCol="0" anchor="ctr"/>
          <a:lstStyle/>
          <a:p>
            <a:pPr algn="ctr" indent="0" marL="0">
              <a:buNone/>
            </a:pPr>
            <a:r>
              <a:rPr lang="en-US" sz="1100" b="1" dirty="0">
                <a:solidFill>
                  <a:srgbClr val="9C7C2E"/>
                </a:solidFill>
                <a:latin typeface="Calibri" pitchFamily="34" charset="0"/>
                <a:ea typeface="Calibri" pitchFamily="34" charset="-122"/>
                <a:cs typeface="Calibri" pitchFamily="34" charset="-120"/>
              </a:rPr>
              <a:t>1</a:t>
            </a:r>
            <a:endParaRPr lang="en-US" sz="1100" dirty="0"/>
          </a:p>
        </p:txBody>
      </p:sp>
      <p:sp>
        <p:nvSpPr>
          <p:cNvPr id="17" name="Shape 15"/>
          <p:cNvSpPr/>
          <p:nvPr/>
        </p:nvSpPr>
        <p:spPr>
          <a:xfrm>
            <a:off x="9061704" y="2395728"/>
            <a:ext cx="438912" cy="438912"/>
          </a:xfrm>
          <a:prstGeom prst="ellipse">
            <a:avLst/>
          </a:prstGeom>
          <a:solidFill>
            <a:srgbClr val="FFFFFF"/>
          </a:solidFill>
          <a:ln w="25400">
            <a:solidFill>
              <a:srgbClr val="9C7C2E"/>
            </a:solidFill>
            <a:prstDash val="solid"/>
          </a:ln>
        </p:spPr>
      </p:sp>
      <p:sp>
        <p:nvSpPr>
          <p:cNvPr id="18" name="Text 16"/>
          <p:cNvSpPr txBox="1"/>
          <p:nvPr/>
        </p:nvSpPr>
        <p:spPr>
          <a:xfrm>
            <a:off x="9061704" y="2386584"/>
            <a:ext cx="438912" cy="438912"/>
          </a:xfrm>
          <a:prstGeom prst="rect">
            <a:avLst/>
          </a:prstGeom>
          <a:noFill/>
          <a:ln/>
        </p:spPr>
        <p:txBody>
          <a:bodyPr wrap="square" lIns="0" tIns="0" rIns="0" bIns="0" rtlCol="0" anchor="ctr"/>
          <a:lstStyle/>
          <a:p>
            <a:pPr algn="ctr" indent="0" marL="0">
              <a:buNone/>
            </a:pPr>
            <a:r>
              <a:rPr lang="en-US" sz="1100" b="1" dirty="0">
                <a:solidFill>
                  <a:srgbClr val="9C7C2E"/>
                </a:solidFill>
                <a:latin typeface="Calibri" pitchFamily="34" charset="0"/>
                <a:ea typeface="Calibri" pitchFamily="34" charset="-122"/>
                <a:cs typeface="Calibri" pitchFamily="34" charset="-120"/>
              </a:rPr>
              <a:t>2</a:t>
            </a:r>
            <a:endParaRPr lang="en-US" sz="1100" dirty="0"/>
          </a:p>
        </p:txBody>
      </p:sp>
      <p:sp>
        <p:nvSpPr>
          <p:cNvPr id="19" name="Shape 17"/>
          <p:cNvSpPr/>
          <p:nvPr/>
        </p:nvSpPr>
        <p:spPr>
          <a:xfrm>
            <a:off x="10826496" y="2395728"/>
            <a:ext cx="438912" cy="438912"/>
          </a:xfrm>
          <a:prstGeom prst="ellipse">
            <a:avLst/>
          </a:prstGeom>
          <a:solidFill>
            <a:srgbClr val="FFFFFF"/>
          </a:solidFill>
          <a:ln w="25400">
            <a:solidFill>
              <a:srgbClr val="9C7C2E"/>
            </a:solidFill>
            <a:prstDash val="solid"/>
          </a:ln>
        </p:spPr>
      </p:sp>
      <p:sp>
        <p:nvSpPr>
          <p:cNvPr id="20" name="Text 18"/>
          <p:cNvSpPr txBox="1"/>
          <p:nvPr/>
        </p:nvSpPr>
        <p:spPr>
          <a:xfrm>
            <a:off x="10826496" y="2386584"/>
            <a:ext cx="438912" cy="438912"/>
          </a:xfrm>
          <a:prstGeom prst="rect">
            <a:avLst/>
          </a:prstGeom>
          <a:noFill/>
          <a:ln/>
        </p:spPr>
        <p:txBody>
          <a:bodyPr wrap="square" lIns="0" tIns="0" rIns="0" bIns="0" rtlCol="0" anchor="ctr"/>
          <a:lstStyle/>
          <a:p>
            <a:pPr algn="ctr" indent="0" marL="0">
              <a:buNone/>
            </a:pPr>
            <a:r>
              <a:rPr lang="en-US" sz="1100" b="1" dirty="0">
                <a:solidFill>
                  <a:srgbClr val="9C7C2E"/>
                </a:solidFill>
                <a:latin typeface="Calibri" pitchFamily="34" charset="0"/>
                <a:ea typeface="Calibri" pitchFamily="34" charset="-122"/>
                <a:cs typeface="Calibri" pitchFamily="34" charset="-120"/>
              </a:rPr>
              <a:t>3</a:t>
            </a:r>
            <a:endParaRPr lang="en-US" sz="1100" dirty="0"/>
          </a:p>
        </p:txBody>
      </p:sp>
      <p:sp>
        <p:nvSpPr>
          <p:cNvPr id="21" name="Shape 19"/>
          <p:cNvSpPr/>
          <p:nvPr/>
        </p:nvSpPr>
        <p:spPr>
          <a:xfrm>
            <a:off x="7296912" y="3154680"/>
            <a:ext cx="3968496" cy="566928"/>
          </a:xfrm>
          <a:prstGeom prst="roundRect">
            <a:avLst>
              <a:gd name="adj" fmla="val 8065"/>
            </a:avLst>
          </a:prstGeom>
          <a:solidFill>
            <a:srgbClr val="FBFAF6"/>
          </a:solidFill>
          <a:ln w="12700">
            <a:solidFill>
              <a:srgbClr val="E4DCC9"/>
            </a:solidFill>
            <a:prstDash val="solid"/>
          </a:ln>
        </p:spPr>
      </p:sp>
      <p:sp>
        <p:nvSpPr>
          <p:cNvPr id="22" name="Shape 20"/>
          <p:cNvSpPr/>
          <p:nvPr/>
        </p:nvSpPr>
        <p:spPr>
          <a:xfrm>
            <a:off x="7443216" y="3387852"/>
            <a:ext cx="100584" cy="100584"/>
          </a:xfrm>
          <a:prstGeom prst="ellipse">
            <a:avLst/>
          </a:prstGeom>
          <a:solidFill>
            <a:srgbClr val="B0842F"/>
          </a:solidFill>
          <a:ln/>
        </p:spPr>
      </p:sp>
      <p:sp>
        <p:nvSpPr>
          <p:cNvPr id="23" name="Shape 21"/>
          <p:cNvSpPr/>
          <p:nvPr/>
        </p:nvSpPr>
        <p:spPr>
          <a:xfrm>
            <a:off x="7680960" y="3396996"/>
            <a:ext cx="1825508" cy="82296"/>
          </a:xfrm>
          <a:prstGeom prst="roundRect">
            <a:avLst>
              <a:gd name="adj" fmla="val 50000"/>
            </a:avLst>
          </a:prstGeom>
          <a:solidFill>
            <a:srgbClr val="E4DCC9"/>
          </a:solidFill>
          <a:ln/>
        </p:spPr>
      </p:sp>
      <p:sp>
        <p:nvSpPr>
          <p:cNvPr id="24" name="Shape 22"/>
          <p:cNvSpPr/>
          <p:nvPr/>
        </p:nvSpPr>
        <p:spPr>
          <a:xfrm>
            <a:off x="7680960" y="3396996"/>
            <a:ext cx="1314366" cy="82296"/>
          </a:xfrm>
          <a:prstGeom prst="roundRect">
            <a:avLst>
              <a:gd name="adj" fmla="val 50000"/>
            </a:avLst>
          </a:prstGeom>
          <a:solidFill>
            <a:srgbClr val="9C7C2E"/>
          </a:solidFill>
          <a:ln/>
        </p:spPr>
      </p:sp>
      <p:sp>
        <p:nvSpPr>
          <p:cNvPr id="25" name="Shape 23"/>
          <p:cNvSpPr/>
          <p:nvPr/>
        </p:nvSpPr>
        <p:spPr>
          <a:xfrm>
            <a:off x="10062972" y="3291840"/>
            <a:ext cx="1074420" cy="292608"/>
          </a:xfrm>
          <a:prstGeom prst="roundRect">
            <a:avLst>
              <a:gd name="adj" fmla="val 50000"/>
            </a:avLst>
          </a:prstGeom>
          <a:solidFill>
            <a:srgbClr val="FFFFFF"/>
          </a:solidFill>
          <a:ln w="12700">
            <a:solidFill>
              <a:srgbClr val="E4DCC9"/>
            </a:solidFill>
            <a:prstDash val="solid"/>
          </a:ln>
        </p:spPr>
      </p:sp>
      <p:sp>
        <p:nvSpPr>
          <p:cNvPr id="26" name="Text 24"/>
          <p:cNvSpPr txBox="1"/>
          <p:nvPr/>
        </p:nvSpPr>
        <p:spPr>
          <a:xfrm>
            <a:off x="10062972" y="3282696"/>
            <a:ext cx="1074420" cy="310896"/>
          </a:xfrm>
          <a:prstGeom prst="rect">
            <a:avLst/>
          </a:prstGeom>
          <a:noFill/>
          <a:ln/>
        </p:spPr>
        <p:txBody>
          <a:bodyPr wrap="square" lIns="0" tIns="0" rIns="0" bIns="0" rtlCol="0" anchor="ctr"/>
          <a:lstStyle/>
          <a:p>
            <a:pPr algn="ctr" indent="0" marL="0">
              <a:buNone/>
            </a:pPr>
            <a:r>
              <a:rPr lang="en-US" sz="850" dirty="0">
                <a:solidFill>
                  <a:srgbClr val="7A7266"/>
                </a:solidFill>
                <a:latin typeface="Calibri" pitchFamily="34" charset="0"/>
                <a:ea typeface="Calibri" pitchFamily="34" charset="-122"/>
                <a:cs typeface="Calibri" pitchFamily="34" charset="-120"/>
              </a:rPr>
              <a:t>in progress</a:t>
            </a:r>
            <a:endParaRPr lang="en-US" sz="850" dirty="0"/>
          </a:p>
        </p:txBody>
      </p:sp>
      <p:sp>
        <p:nvSpPr>
          <p:cNvPr id="27" name="Shape 25"/>
          <p:cNvSpPr/>
          <p:nvPr/>
        </p:nvSpPr>
        <p:spPr>
          <a:xfrm>
            <a:off x="7296912" y="3849624"/>
            <a:ext cx="3968496" cy="566928"/>
          </a:xfrm>
          <a:prstGeom prst="roundRect">
            <a:avLst>
              <a:gd name="adj" fmla="val 8065"/>
            </a:avLst>
          </a:prstGeom>
          <a:solidFill>
            <a:srgbClr val="FBFAF6"/>
          </a:solidFill>
          <a:ln w="12700">
            <a:solidFill>
              <a:srgbClr val="E4DCC9"/>
            </a:solidFill>
            <a:prstDash val="solid"/>
          </a:ln>
        </p:spPr>
      </p:sp>
      <p:sp>
        <p:nvSpPr>
          <p:cNvPr id="28" name="Shape 26"/>
          <p:cNvSpPr/>
          <p:nvPr/>
        </p:nvSpPr>
        <p:spPr>
          <a:xfrm>
            <a:off x="7443216" y="4082796"/>
            <a:ext cx="100584" cy="100584"/>
          </a:xfrm>
          <a:prstGeom prst="ellipse">
            <a:avLst/>
          </a:prstGeom>
          <a:solidFill>
            <a:srgbClr val="A4442F"/>
          </a:solidFill>
          <a:ln/>
        </p:spPr>
      </p:sp>
      <p:sp>
        <p:nvSpPr>
          <p:cNvPr id="29" name="Shape 27"/>
          <p:cNvSpPr/>
          <p:nvPr/>
        </p:nvSpPr>
        <p:spPr>
          <a:xfrm>
            <a:off x="7680960" y="4091940"/>
            <a:ext cx="1825508" cy="82296"/>
          </a:xfrm>
          <a:prstGeom prst="roundRect">
            <a:avLst>
              <a:gd name="adj" fmla="val 50000"/>
            </a:avLst>
          </a:prstGeom>
          <a:solidFill>
            <a:srgbClr val="E4DCC9"/>
          </a:solidFill>
          <a:ln/>
        </p:spPr>
      </p:sp>
      <p:sp>
        <p:nvSpPr>
          <p:cNvPr id="30" name="Shape 28"/>
          <p:cNvSpPr/>
          <p:nvPr/>
        </p:nvSpPr>
        <p:spPr>
          <a:xfrm>
            <a:off x="7680960" y="4091940"/>
            <a:ext cx="839734" cy="82296"/>
          </a:xfrm>
          <a:prstGeom prst="roundRect">
            <a:avLst>
              <a:gd name="adj" fmla="val 50000"/>
            </a:avLst>
          </a:prstGeom>
          <a:solidFill>
            <a:srgbClr val="9C7C2E"/>
          </a:solidFill>
          <a:ln/>
        </p:spPr>
      </p:sp>
      <p:sp>
        <p:nvSpPr>
          <p:cNvPr id="31" name="Shape 29"/>
          <p:cNvSpPr/>
          <p:nvPr/>
        </p:nvSpPr>
        <p:spPr>
          <a:xfrm>
            <a:off x="9994392" y="3986784"/>
            <a:ext cx="1143000" cy="292608"/>
          </a:xfrm>
          <a:prstGeom prst="roundRect">
            <a:avLst>
              <a:gd name="adj" fmla="val 50000"/>
            </a:avLst>
          </a:prstGeom>
          <a:solidFill>
            <a:srgbClr val="FFFFFF"/>
          </a:solidFill>
          <a:ln w="12700">
            <a:solidFill>
              <a:srgbClr val="E4DCC9"/>
            </a:solidFill>
            <a:prstDash val="solid"/>
          </a:ln>
        </p:spPr>
      </p:sp>
      <p:sp>
        <p:nvSpPr>
          <p:cNvPr id="32" name="Text 30"/>
          <p:cNvSpPr txBox="1"/>
          <p:nvPr/>
        </p:nvSpPr>
        <p:spPr>
          <a:xfrm>
            <a:off x="9994392" y="3977640"/>
            <a:ext cx="1143000" cy="310896"/>
          </a:xfrm>
          <a:prstGeom prst="rect">
            <a:avLst/>
          </a:prstGeom>
          <a:noFill/>
          <a:ln/>
        </p:spPr>
        <p:txBody>
          <a:bodyPr wrap="square" lIns="0" tIns="0" rIns="0" bIns="0" rtlCol="0" anchor="ctr"/>
          <a:lstStyle/>
          <a:p>
            <a:pPr algn="ctr" indent="0" marL="0">
              <a:buNone/>
            </a:pPr>
            <a:r>
              <a:rPr lang="en-US" sz="850" dirty="0">
                <a:solidFill>
                  <a:srgbClr val="7A7266"/>
                </a:solidFill>
                <a:latin typeface="Calibri" pitchFamily="34" charset="0"/>
                <a:ea typeface="Calibri" pitchFamily="34" charset="-122"/>
                <a:cs typeface="Calibri" pitchFamily="34" charset="-120"/>
              </a:rPr>
              <a:t>mockups only</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211B12"/>
        </a:solidFill>
      </p:bgPr>
    </p:bg>
    <p:spTree>
      <p:nvGrpSpPr>
        <p:cNvPr id="1" name=""/>
        <p:cNvGrpSpPr/>
        <p:nvPr/>
      </p:nvGrpSpPr>
      <p:grpSpPr>
        <a:xfrm>
          <a:off x="0" y="0"/>
          <a:ext cx="0" cy="0"/>
          <a:chOff x="0" y="0"/>
          <a:chExt cx="0" cy="0"/>
        </a:xfrm>
      </p:grpSpPr>
      <p:sp>
        <p:nvSpPr>
          <p:cNvPr id="2" name="Shape 0"/>
          <p:cNvSpPr/>
          <p:nvPr/>
        </p:nvSpPr>
        <p:spPr>
          <a:xfrm>
            <a:off x="9079992" y="-1463040"/>
            <a:ext cx="4206240" cy="4206240"/>
          </a:xfrm>
          <a:prstGeom prst="ellipse">
            <a:avLst/>
          </a:prstGeom>
          <a:ln w="15875">
            <a:solidFill>
              <a:srgbClr val="9C7C2E">
                <a:alpha val="45000"/>
              </a:srgbClr>
            </a:solidFill>
            <a:prstDash val="solid"/>
          </a:ln>
        </p:spPr>
      </p:sp>
      <p:sp>
        <p:nvSpPr>
          <p:cNvPr id="3" name="Shape 1"/>
          <p:cNvSpPr/>
          <p:nvPr/>
        </p:nvSpPr>
        <p:spPr>
          <a:xfrm>
            <a:off x="10085832" y="4846320"/>
            <a:ext cx="3108960" cy="3108960"/>
          </a:xfrm>
          <a:prstGeom prst="ellipse">
            <a:avLst/>
          </a:prstGeom>
          <a:ln w="12700">
            <a:solidFill>
              <a:srgbClr val="9C7C2E">
                <a:alpha val="30000"/>
              </a:srgbClr>
            </a:solidFill>
            <a:prstDash val="solid"/>
          </a:ln>
        </p:spPr>
      </p:sp>
      <p:sp>
        <p:nvSpPr>
          <p:cNvPr id="4" name="Text 2"/>
          <p:cNvSpPr txBox="1"/>
          <p:nvPr/>
        </p:nvSpPr>
        <p:spPr>
          <a:xfrm>
            <a:off x="822960" y="2194560"/>
            <a:ext cx="7315200" cy="274320"/>
          </a:xfrm>
          <a:prstGeom prst="rect">
            <a:avLst/>
          </a:prstGeom>
          <a:noFill/>
          <a:ln/>
        </p:spPr>
        <p:txBody>
          <a:bodyPr wrap="square" lIns="0" tIns="0" rIns="0" bIns="0" rtlCol="0" anchor="ctr"/>
          <a:lstStyle/>
          <a:p>
            <a:pPr indent="0" marL="0">
              <a:buNone/>
            </a:pPr>
            <a:r>
              <a:rPr lang="en-US" sz="1100" b="1" spc="300" kern="0" dirty="0">
                <a:solidFill>
                  <a:srgbClr val="C4A24E"/>
                </a:solidFill>
                <a:latin typeface="Calibri" pitchFamily="34" charset="0"/>
                <a:ea typeface="Calibri" pitchFamily="34" charset="-122"/>
                <a:cs typeface="Calibri" pitchFamily="34" charset="-120"/>
              </a:rPr>
              <a:t>DEEPROOTS · PORTAL &amp; OPTIMIZATION</a:t>
            </a:r>
            <a:endParaRPr lang="en-US" sz="1100" dirty="0"/>
          </a:p>
        </p:txBody>
      </p:sp>
      <p:sp>
        <p:nvSpPr>
          <p:cNvPr id="5" name="Text 3"/>
          <p:cNvSpPr txBox="1"/>
          <p:nvPr/>
        </p:nvSpPr>
        <p:spPr>
          <a:xfrm>
            <a:off x="822960" y="2514600"/>
            <a:ext cx="9601200" cy="1828800"/>
          </a:xfrm>
          <a:prstGeom prst="rect">
            <a:avLst/>
          </a:prstGeom>
          <a:noFill/>
          <a:ln/>
        </p:spPr>
        <p:txBody>
          <a:bodyPr wrap="square" lIns="0" tIns="0" rIns="0" bIns="0" rtlCol="0" anchor="ctr"/>
          <a:lstStyle/>
          <a:p>
            <a:pPr indent="0" marL="0">
              <a:lnSpc>
                <a:spcPct val="98000"/>
              </a:lnSpc>
              <a:buNone/>
            </a:pPr>
            <a:r>
              <a:rPr lang="en-US" sz="4000" b="1" dirty="0">
                <a:solidFill>
                  <a:srgbClr val="F3ECDD"/>
                </a:solidFill>
                <a:latin typeface="Georgia" pitchFamily="34" charset="0"/>
                <a:ea typeface="Georgia" pitchFamily="34" charset="-122"/>
                <a:cs typeface="Georgia" pitchFamily="34" charset="-120"/>
              </a:rPr>
              <a:t>What we’d build</a:t>
            </a:r>
            <a:endParaRPr lang="en-US" sz="4000" dirty="0"/>
          </a:p>
        </p:txBody>
      </p:sp>
      <p:sp>
        <p:nvSpPr>
          <p:cNvPr id="6" name="Text 4"/>
          <p:cNvSpPr txBox="1"/>
          <p:nvPr/>
        </p:nvSpPr>
        <p:spPr>
          <a:xfrm>
            <a:off x="822960" y="4114800"/>
            <a:ext cx="8686800" cy="1280160"/>
          </a:xfrm>
          <a:prstGeom prst="rect">
            <a:avLst/>
          </a:prstGeom>
          <a:noFill/>
          <a:ln/>
        </p:spPr>
        <p:txBody>
          <a:bodyPr wrap="square" lIns="0" tIns="0" rIns="0" bIns="0" rtlCol="0" anchor="ctr"/>
          <a:lstStyle/>
          <a:p>
            <a:pPr indent="0" marL="0">
              <a:lnSpc>
                <a:spcPct val="120000"/>
              </a:lnSpc>
              <a:buNone/>
            </a:pPr>
            <a:r>
              <a:rPr lang="en-US" sz="1500" dirty="0">
                <a:solidFill>
                  <a:srgbClr val="B7AE9E"/>
                </a:solidFill>
                <a:latin typeface="Calibri" pitchFamily="34" charset="0"/>
                <a:ea typeface="Calibri" pitchFamily="34" charset="-122"/>
                <a:cs typeface="Calibri" pitchFamily="34" charset="-120"/>
              </a:rPr>
              <a:t>One operating picture: public site, staff portal, and School Portal over a modern data backbone. The system we’d build for DeepRoots, honest by design.</a:t>
            </a:r>
            <a:endParaRPr lang="en-US" sz="1500" dirty="0"/>
          </a:p>
        </p:txBody>
      </p:sp>
      <p:sp>
        <p:nvSpPr>
          <p:cNvPr id="7" name="Shape 5"/>
          <p:cNvSpPr/>
          <p:nvPr/>
        </p:nvSpPr>
        <p:spPr>
          <a:xfrm>
            <a:off x="822960" y="5120640"/>
            <a:ext cx="3291840" cy="512064"/>
          </a:xfrm>
          <a:prstGeom prst="roundRect">
            <a:avLst>
              <a:gd name="adj" fmla="val 50000"/>
            </a:avLst>
          </a:prstGeom>
          <a:solidFill>
            <a:srgbClr val="9C7C2E"/>
          </a:solidFill>
          <a:ln/>
        </p:spPr>
      </p:sp>
      <p:sp>
        <p:nvSpPr>
          <p:cNvPr id="8" name="Text 6"/>
          <p:cNvSpPr txBox="1"/>
          <p:nvPr/>
        </p:nvSpPr>
        <p:spPr>
          <a:xfrm>
            <a:off x="822960" y="5111496"/>
            <a:ext cx="329184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Approve Phase 1 to begin</a:t>
            </a:r>
            <a:endParaRPr lang="en-US" sz="1200" dirty="0"/>
          </a:p>
        </p:txBody>
      </p:sp>
      <p:sp>
        <p:nvSpPr>
          <p:cNvPr id="9" name="Text 7"/>
          <p:cNvSpPr txBox="1"/>
          <p:nvPr/>
        </p:nvSpPr>
        <p:spPr>
          <a:xfrm>
            <a:off x="822960" y="5806440"/>
            <a:ext cx="8686800" cy="365760"/>
          </a:xfrm>
          <a:prstGeom prst="rect">
            <a:avLst/>
          </a:prstGeom>
          <a:noFill/>
          <a:ln/>
        </p:spPr>
        <p:txBody>
          <a:bodyPr wrap="square" lIns="0" tIns="0" rIns="0" bIns="0" rtlCol="0" anchor="ctr"/>
          <a:lstStyle/>
          <a:p>
            <a:pPr indent="0" marL="0">
              <a:buNone/>
            </a:pPr>
            <a:r>
              <a:rPr lang="en-US" sz="1100" dirty="0">
                <a:solidFill>
                  <a:srgbClr val="B7AE9E"/>
                </a:solidFill>
                <a:latin typeface="Calibri" pitchFamily="34" charset="0"/>
                <a:ea typeface="Calibri" pitchFamily="34" charset="-122"/>
                <a:cs typeface="Calibri" pitchFamily="34" charset="-120"/>
              </a:rPr>
              <a:t>Targeting an end-of-March go-live   ·   tdwinkler@deeprootsbible.com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2026-09-17T18:26:10Z</dcterms:created>
  <dcterms:modified xsi:type="dcterms:W3CDTF">2026-09-17T18:26:10Z</dcterms:modified>
</cp:coreProperties>
</file>