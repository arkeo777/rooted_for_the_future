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DeepRoots Portal &amp; Optimization, tour of everything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everything built for the DeepRoots Portal and the optimization/data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proposed system, three surfaces over one data backbone. This is what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8897112" y="-1737360"/>
            <a:ext cx="4572000" cy="4572000"/>
          </a:xfrm>
          <a:prstGeom prst="ellipse">
            <a:avLst/>
          </a:prstGeom>
          <a:ln w="15875">
            <a:solidFill>
              <a:srgbClr val="9C7C2E">
                <a:alpha val="42000"/>
              </a:srgbClr>
            </a:solidFill>
            <a:prstDash val="solid"/>
          </a:ln>
        </p:spPr>
      </p:sp>
      <p:sp>
        <p:nvSpPr>
          <p:cNvPr id="3" name="Shape 1"/>
          <p:cNvSpPr/>
          <p:nvPr/>
        </p:nvSpPr>
        <p:spPr>
          <a:xfrm>
            <a:off x="-1554480" y="4846320"/>
            <a:ext cx="3474720" cy="3474720"/>
          </a:xfrm>
          <a:prstGeom prst="ellipse">
            <a:avLst/>
          </a:prstGeom>
          <a:ln w="12700">
            <a:solidFill>
              <a:srgbClr val="9C7C2E">
                <a:alpha val="28000"/>
              </a:srgbClr>
            </a:solidFill>
            <a:prstDash val="solid"/>
          </a:ln>
        </p:spPr>
      </p:sp>
      <p:pic>
        <p:nvPicPr>
          <p:cNvPr id="4" name="Image 0" descr="/private/tmp/claude-502/-Users-DRBTroy-Documents-Projects-DeepRoots/3b403855-4530-4100-a3e2-ac51fe60ce6e/scratchpad/logo-cream.png">    </p:cNvPr>
          <p:cNvPicPr>
            <a:picLocks noChangeAspect="1"/>
          </p:cNvPicPr>
          <p:nvPr/>
        </p:nvPicPr>
        <p:blipFill>
          <a:blip r:embed="rId1"/>
          <a:stretch>
            <a:fillRect/>
          </a:stretch>
        </p:blipFill>
        <p:spPr>
          <a:xfrm>
            <a:off x="3808476" y="2148840"/>
            <a:ext cx="4572000" cy="1730829"/>
          </a:xfrm>
          <a:prstGeom prst="rect">
            <a:avLst/>
          </a:prstGeom>
        </p:spPr>
      </p:pic>
      <p:sp>
        <p:nvSpPr>
          <p:cNvPr id="5" name="Shape 2"/>
          <p:cNvSpPr/>
          <p:nvPr/>
        </p:nvSpPr>
        <p:spPr>
          <a:xfrm>
            <a:off x="6057900" y="4041648"/>
            <a:ext cx="73152" cy="73152"/>
          </a:xfrm>
          <a:prstGeom prst="ellipse">
            <a:avLst/>
          </a:prstGeom>
          <a:solidFill>
            <a:srgbClr val="9C7C2E"/>
          </a:solidFill>
          <a:ln/>
        </p:spPr>
      </p:sp>
      <p:sp>
        <p:nvSpPr>
          <p:cNvPr id="6" name="Text 3"/>
          <p:cNvSpPr txBox="1"/>
          <p:nvPr/>
        </p:nvSpPr>
        <p:spPr>
          <a:xfrm>
            <a:off x="914400" y="4160520"/>
            <a:ext cx="10360152" cy="731520"/>
          </a:xfrm>
          <a:prstGeom prst="rect">
            <a:avLst/>
          </a:prstGeom>
          <a:noFill/>
          <a:ln/>
        </p:spPr>
        <p:txBody>
          <a:bodyPr wrap="square" lIns="0" tIns="0" rIns="0" bIns="0" rtlCol="0" anchor="ctr"/>
          <a:lstStyle/>
          <a:p>
            <a:pPr algn="ctr" indent="0" marL="0">
              <a:buNone/>
            </a:pPr>
            <a:r>
              <a:rPr lang="en-US" sz="3400" dirty="0">
                <a:solidFill>
                  <a:srgbClr val="F3ECDD"/>
                </a:solidFill>
                <a:latin typeface="Georgia" pitchFamily="34" charset="0"/>
                <a:ea typeface="Georgia" pitchFamily="34" charset="-122"/>
                <a:cs typeface="Georgia" pitchFamily="34" charset="-120"/>
              </a:rPr>
              <a:t>Rooted for the Future</a:t>
            </a:r>
            <a:endParaRPr lang="en-US" sz="3400" dirty="0"/>
          </a:p>
        </p:txBody>
      </p:sp>
      <p:sp>
        <p:nvSpPr>
          <p:cNvPr id="7" name="Text 4"/>
          <p:cNvSpPr txBox="1"/>
          <p:nvPr/>
        </p:nvSpPr>
        <p:spPr>
          <a:xfrm>
            <a:off x="914400" y="5029200"/>
            <a:ext cx="10360152" cy="457200"/>
          </a:xfrm>
          <a:prstGeom prst="rect">
            <a:avLst/>
          </a:prstGeom>
          <a:noFill/>
          <a:ln/>
        </p:spPr>
        <p:txBody>
          <a:bodyPr wrap="square" lIns="0" tIns="0" rIns="0" bIns="0" rtlCol="0" anchor="ctr"/>
          <a:lstStyle/>
          <a:p>
            <a:pPr algn="ctr" indent="0" marL="0">
              <a:buNone/>
            </a:pPr>
            <a:r>
              <a:rPr lang="en-US" sz="1300" spc="100" kern="0" dirty="0">
                <a:solidFill>
                  <a:srgbClr val="B7AE9E"/>
                </a:solidFill>
                <a:latin typeface="Calibri" pitchFamily="34" charset="0"/>
                <a:ea typeface="Calibri" pitchFamily="34" charset="-122"/>
                <a:cs typeface="Calibri" pitchFamily="34" charset="-120"/>
              </a:rPr>
              <a:t>The DeepRoots Portal &amp; Optimization plan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192024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240280"/>
            <a:ext cx="9601200" cy="1828800"/>
          </a:xfrm>
          <a:prstGeom prst="rect">
            <a:avLst/>
          </a:prstGeom>
          <a:noFill/>
          <a:ln/>
        </p:spPr>
        <p:txBody>
          <a:bodyPr wrap="square" lIns="0" tIns="0" rIns="0" bIns="0" rtlCol="0" anchor="ctr"/>
          <a:lstStyle/>
          <a:p>
            <a:pPr indent="0" marL="0">
              <a:lnSpc>
                <a:spcPct val="98000"/>
              </a:lnSpc>
              <a:buNone/>
            </a:pPr>
            <a:r>
              <a:rPr lang="en-US" sz="5200" b="1" dirty="0">
                <a:solidFill>
                  <a:srgbClr val="F3ECDD"/>
                </a:solidFill>
                <a:latin typeface="Georgia" pitchFamily="34" charset="0"/>
                <a:ea typeface="Georgia" pitchFamily="34" charset="-122"/>
                <a:cs typeface="Georgia" pitchFamily="34" charset="-120"/>
              </a:rPr>
              <a:t>What we’d build</a:t>
            </a:r>
            <a:endParaRPr lang="en-US" sz="5200" dirty="0"/>
          </a:p>
        </p:txBody>
      </p:sp>
      <p:sp>
        <p:nvSpPr>
          <p:cNvPr id="6" name="Text 4"/>
          <p:cNvSpPr txBox="1"/>
          <p:nvPr/>
        </p:nvSpPr>
        <p:spPr>
          <a:xfrm>
            <a:off x="822960" y="3977640"/>
            <a:ext cx="8412480" cy="109728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operating system we’d build for DeepRoots, a public site, an internal staff portal, a School Portal, and the data backbone beneath them.</a:t>
            </a:r>
            <a:endParaRPr lang="en-US" sz="1500" dirty="0"/>
          </a:p>
        </p:txBody>
      </p:sp>
      <p:sp>
        <p:nvSpPr>
          <p:cNvPr id="7" name="Text 5"/>
          <p:cNvSpPr txBox="1"/>
          <p:nvPr/>
        </p:nvSpPr>
        <p:spPr>
          <a:xfrm>
            <a:off x="822960" y="5943600"/>
            <a:ext cx="10058400" cy="365760"/>
          </a:xfrm>
          <a:prstGeom prst="rect">
            <a:avLst/>
          </a:prstGeom>
          <a:noFill/>
          <a:ln/>
        </p:spPr>
        <p:txBody>
          <a:bodyPr wrap="square" lIns="0" tIns="0" rIns="0" bIns="0" rtlCol="0" anchor="ctr"/>
          <a:lstStyle/>
          <a:p>
            <a:pPr indent="0" marL="0">
              <a:buNone/>
            </a:pPr>
            <a:r>
              <a:rPr lang="en-US" sz="1100" dirty="0">
                <a:solidFill>
                  <a:srgbClr val="7A7266"/>
                </a:solidFill>
                <a:latin typeface="Calibri" pitchFamily="34" charset="0"/>
                <a:ea typeface="Calibri" pitchFamily="34" charset="-122"/>
                <a:cs typeface="Calibri" pitchFamily="34" charset="-120"/>
              </a:rPr>
              <a:t>Shown as working mockups, illustrative data throughout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PICTURE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One system, three surfaces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Everything DeepRoots does would live in one operating picture and one design system, no scattered tools, no per-team restyling.</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Shown here as working mockups, illustrative data throughout.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One dashboard as the single operating view.</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three surfaces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231392" cy="2121408"/>
          </a:xfrm>
          <a:prstGeom prst="roundRect">
            <a:avLst>
              <a:gd name="adj" fmla="val 4455"/>
            </a:avLst>
          </a:prstGeom>
          <a:solidFill>
            <a:srgbClr val="FBFAF6"/>
          </a:solidFill>
          <a:ln w="12700">
            <a:solidFill>
              <a:srgbClr val="E4DCC9"/>
            </a:solidFill>
            <a:prstDash val="solid"/>
          </a:ln>
        </p:spPr>
      </p:sp>
      <p:sp>
        <p:nvSpPr>
          <p:cNvPr id="15" name="Text 13"/>
          <p:cNvSpPr txBox="1"/>
          <p:nvPr/>
        </p:nvSpPr>
        <p:spPr>
          <a:xfrm>
            <a:off x="7370064"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Public site</a:t>
            </a:r>
            <a:endParaRPr lang="en-US" sz="1200" dirty="0"/>
          </a:p>
        </p:txBody>
      </p:sp>
      <p:sp>
        <p:nvSpPr>
          <p:cNvPr id="16" name="Text 14"/>
          <p:cNvSpPr txBox="1"/>
          <p:nvPr/>
        </p:nvSpPr>
        <p:spPr>
          <a:xfrm>
            <a:off x="7351776"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Marketing · sign-ups</a:t>
            </a:r>
            <a:endParaRPr lang="en-US" sz="850" dirty="0"/>
          </a:p>
        </p:txBody>
      </p:sp>
      <p:sp>
        <p:nvSpPr>
          <p:cNvPr id="17" name="Shape 15"/>
          <p:cNvSpPr/>
          <p:nvPr/>
        </p:nvSpPr>
        <p:spPr>
          <a:xfrm>
            <a:off x="8665464" y="2212848"/>
            <a:ext cx="1231392" cy="2121408"/>
          </a:xfrm>
          <a:prstGeom prst="roundRect">
            <a:avLst>
              <a:gd name="adj" fmla="val 4455"/>
            </a:avLst>
          </a:prstGeom>
          <a:solidFill>
            <a:srgbClr val="FBFAF6"/>
          </a:solidFill>
          <a:ln w="12700">
            <a:solidFill>
              <a:srgbClr val="E4DCC9"/>
            </a:solidFill>
            <a:prstDash val="solid"/>
          </a:ln>
        </p:spPr>
      </p:sp>
      <p:sp>
        <p:nvSpPr>
          <p:cNvPr id="18" name="Text 16"/>
          <p:cNvSpPr txBox="1"/>
          <p:nvPr/>
        </p:nvSpPr>
        <p:spPr>
          <a:xfrm>
            <a:off x="8738616"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Staff portal</a:t>
            </a:r>
            <a:endParaRPr lang="en-US" sz="1200" dirty="0"/>
          </a:p>
        </p:txBody>
      </p:sp>
      <p:sp>
        <p:nvSpPr>
          <p:cNvPr id="19" name="Text 17"/>
          <p:cNvSpPr txBox="1"/>
          <p:nvPr/>
        </p:nvSpPr>
        <p:spPr>
          <a:xfrm>
            <a:off x="8720328"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Hubs · inbox · flows</a:t>
            </a:r>
            <a:endParaRPr lang="en-US" sz="850" dirty="0"/>
          </a:p>
        </p:txBody>
      </p:sp>
      <p:sp>
        <p:nvSpPr>
          <p:cNvPr id="20" name="Shape 18"/>
          <p:cNvSpPr/>
          <p:nvPr/>
        </p:nvSpPr>
        <p:spPr>
          <a:xfrm>
            <a:off x="10034016" y="2212848"/>
            <a:ext cx="1231392" cy="2121408"/>
          </a:xfrm>
          <a:prstGeom prst="roundRect">
            <a:avLst>
              <a:gd name="adj" fmla="val 4455"/>
            </a:avLst>
          </a:prstGeom>
          <a:solidFill>
            <a:srgbClr val="FBFAF6"/>
          </a:solidFill>
          <a:ln w="12700">
            <a:solidFill>
              <a:srgbClr val="E4DCC9"/>
            </a:solidFill>
            <a:prstDash val="solid"/>
          </a:ln>
        </p:spPr>
      </p:sp>
      <p:sp>
        <p:nvSpPr>
          <p:cNvPr id="21" name="Text 19"/>
          <p:cNvSpPr txBox="1"/>
          <p:nvPr/>
        </p:nvSpPr>
        <p:spPr>
          <a:xfrm>
            <a:off x="10107168"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School Portal</a:t>
            </a:r>
            <a:endParaRPr lang="en-US" sz="1200" dirty="0"/>
          </a:p>
        </p:txBody>
      </p:sp>
      <p:sp>
        <p:nvSpPr>
          <p:cNvPr id="22" name="Text 20"/>
          <p:cNvSpPr txBox="1"/>
          <p:nvPr/>
        </p:nvSpPr>
        <p:spPr>
          <a:xfrm>
            <a:off x="10088880"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Self-serve onboarding</a:t>
            </a:r>
            <a:endParaRPr lang="en-US" sz="850" dirty="0"/>
          </a:p>
        </p:txBody>
      </p:sp>
      <p:sp>
        <p:nvSpPr>
          <p:cNvPr id="23" name="Shape 21"/>
          <p:cNvSpPr/>
          <p:nvPr/>
        </p:nvSpPr>
        <p:spPr>
          <a:xfrm>
            <a:off x="7296912" y="4471416"/>
            <a:ext cx="3968496" cy="457200"/>
          </a:xfrm>
          <a:prstGeom prst="roundRect">
            <a:avLst>
              <a:gd name="adj" fmla="val 12000"/>
            </a:avLst>
          </a:prstGeom>
          <a:solidFill>
            <a:srgbClr val="F0E9D8"/>
          </a:solidFill>
          <a:ln w="12700">
            <a:solidFill>
              <a:srgbClr val="E4DCC9"/>
            </a:solidFill>
            <a:prstDash val="dash"/>
          </a:ln>
        </p:spPr>
      </p:sp>
      <p:sp>
        <p:nvSpPr>
          <p:cNvPr id="24" name="Text 22"/>
          <p:cNvSpPr txBox="1"/>
          <p:nvPr/>
        </p:nvSpPr>
        <p:spPr>
          <a:xfrm>
            <a:off x="7296912" y="4462272"/>
            <a:ext cx="3968496" cy="45720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The data behind it all: Salesforce, the learning platform, and one secure database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PLAN · BUILD PHASES</a:t>
            </a:r>
            <a:endParaRPr lang="en-US" sz="1100" dirty="0"/>
          </a:p>
        </p:txBody>
      </p:sp>
      <p:sp>
        <p:nvSpPr>
          <p:cNvPr id="3" name="Text 1"/>
          <p:cNvSpPr txBox="1"/>
          <p:nvPr/>
        </p:nvSpPr>
        <p:spPr>
          <a:xfrm>
            <a:off x="822960" y="1143000"/>
            <a:ext cx="10515600" cy="822960"/>
          </a:xfrm>
          <a:prstGeom prst="rect">
            <a:avLst/>
          </a:prstGeom>
          <a:noFill/>
          <a:ln/>
        </p:spPr>
        <p:txBody>
          <a:bodyPr wrap="square" lIns="0" tIns="0" rIns="0" bIns="0" rtlCol="0" anchor="t"/>
          <a:lstStyle/>
          <a:p>
            <a:pPr indent="0" marL="0">
              <a:buNone/>
            </a:pPr>
            <a:r>
              <a:rPr lang="en-US" sz="3000" b="1" dirty="0">
                <a:solidFill>
                  <a:srgbClr val="1D1A15"/>
                </a:solidFill>
                <a:latin typeface="Georgia" pitchFamily="34" charset="0"/>
                <a:ea typeface="Georgia" pitchFamily="34" charset="-122"/>
                <a:cs typeface="Georgia" pitchFamily="34" charset="-120"/>
              </a:rPr>
              <a:t>How we’ll build it, in three phases</a:t>
            </a:r>
            <a:endParaRPr lang="en-US" sz="3000" dirty="0"/>
          </a:p>
        </p:txBody>
      </p:sp>
      <p:sp>
        <p:nvSpPr>
          <p:cNvPr id="4" name="Shape 2"/>
          <p:cNvSpPr/>
          <p:nvPr/>
        </p:nvSpPr>
        <p:spPr>
          <a:xfrm>
            <a:off x="822960"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5" name="Shape 3"/>
          <p:cNvSpPr/>
          <p:nvPr/>
        </p:nvSpPr>
        <p:spPr>
          <a:xfrm>
            <a:off x="1115568" y="2578608"/>
            <a:ext cx="457200" cy="457200"/>
          </a:xfrm>
          <a:prstGeom prst="ellipse">
            <a:avLst/>
          </a:prstGeom>
          <a:solidFill>
            <a:srgbClr val="9C7C2E"/>
          </a:solidFill>
          <a:ln/>
        </p:spPr>
      </p:sp>
      <p:sp>
        <p:nvSpPr>
          <p:cNvPr id="6" name="Text 4"/>
          <p:cNvSpPr txBox="1"/>
          <p:nvPr/>
        </p:nvSpPr>
        <p:spPr>
          <a:xfrm>
            <a:off x="1115568"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7" name="Text 5"/>
          <p:cNvSpPr txBox="1"/>
          <p:nvPr/>
        </p:nvSpPr>
        <p:spPr>
          <a:xfrm>
            <a:off x="1682496"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1</a:t>
            </a:r>
            <a:endParaRPr lang="en-US" sz="900" dirty="0"/>
          </a:p>
        </p:txBody>
      </p:sp>
      <p:sp>
        <p:nvSpPr>
          <p:cNvPr id="8" name="Shape 6"/>
          <p:cNvSpPr/>
          <p:nvPr/>
        </p:nvSpPr>
        <p:spPr>
          <a:xfrm>
            <a:off x="1115568" y="3218688"/>
            <a:ext cx="1394460" cy="274320"/>
          </a:xfrm>
          <a:prstGeom prst="roundRect">
            <a:avLst>
              <a:gd name="adj" fmla="val 50000"/>
            </a:avLst>
          </a:prstGeom>
          <a:solidFill>
            <a:srgbClr val="F3E7C8"/>
          </a:solidFill>
          <a:ln w="9525">
            <a:solidFill>
              <a:srgbClr val="9C7C2E"/>
            </a:solidFill>
            <a:prstDash val="solid"/>
          </a:ln>
        </p:spPr>
      </p:sp>
      <p:sp>
        <p:nvSpPr>
          <p:cNvPr id="9" name="Text 7"/>
          <p:cNvSpPr txBox="1"/>
          <p:nvPr/>
        </p:nvSpPr>
        <p:spPr>
          <a:xfrm>
            <a:off x="1115568" y="3209544"/>
            <a:ext cx="139446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Goes live first</a:t>
            </a:r>
            <a:endParaRPr lang="en-US" sz="800" dirty="0"/>
          </a:p>
        </p:txBody>
      </p:sp>
      <p:sp>
        <p:nvSpPr>
          <p:cNvPr id="10" name="Text 8"/>
          <p:cNvSpPr txBox="1"/>
          <p:nvPr/>
        </p:nvSpPr>
        <p:spPr>
          <a:xfrm>
            <a:off x="1115568"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public website</a:t>
            </a:r>
            <a:endParaRPr lang="en-US" sz="1500" dirty="0"/>
          </a:p>
        </p:txBody>
      </p:sp>
      <p:sp>
        <p:nvSpPr>
          <p:cNvPr id="11" name="Text 9"/>
          <p:cNvSpPr txBox="1"/>
          <p:nvPr/>
        </p:nvSpPr>
        <p:spPr>
          <a:xfrm>
            <a:off x="1115568"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The front-facing site, the first thing we take live.</a:t>
            </a:r>
            <a:endParaRPr lang="en-US" sz="900" dirty="0"/>
          </a:p>
        </p:txBody>
      </p:sp>
      <p:sp>
        <p:nvSpPr>
          <p:cNvPr id="12" name="Shape 10"/>
          <p:cNvSpPr/>
          <p:nvPr/>
        </p:nvSpPr>
        <p:spPr>
          <a:xfrm>
            <a:off x="1115568" y="4736592"/>
            <a:ext cx="73152" cy="73152"/>
          </a:xfrm>
          <a:prstGeom prst="ellipse">
            <a:avLst/>
          </a:prstGeom>
          <a:solidFill>
            <a:srgbClr val="9C7C2E"/>
          </a:solidFill>
          <a:ln/>
        </p:spPr>
      </p:sp>
      <p:sp>
        <p:nvSpPr>
          <p:cNvPr id="13" name="Text 11"/>
          <p:cNvSpPr txBox="1"/>
          <p:nvPr/>
        </p:nvSpPr>
        <p:spPr>
          <a:xfrm>
            <a:off x="1298448"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Marketing website</a:t>
            </a:r>
            <a:endParaRPr lang="en-US" sz="950" dirty="0"/>
          </a:p>
        </p:txBody>
      </p:sp>
      <p:sp>
        <p:nvSpPr>
          <p:cNvPr id="14" name="Shape 12"/>
          <p:cNvSpPr/>
          <p:nvPr/>
        </p:nvSpPr>
        <p:spPr>
          <a:xfrm>
            <a:off x="1115568" y="5084064"/>
            <a:ext cx="73152" cy="73152"/>
          </a:xfrm>
          <a:prstGeom prst="ellipse">
            <a:avLst/>
          </a:prstGeom>
          <a:solidFill>
            <a:srgbClr val="9C7C2E"/>
          </a:solidFill>
          <a:ln/>
        </p:spPr>
      </p:sp>
      <p:sp>
        <p:nvSpPr>
          <p:cNvPr id="15" name="Text 13"/>
          <p:cNvSpPr txBox="1"/>
          <p:nvPr/>
        </p:nvSpPr>
        <p:spPr>
          <a:xfrm>
            <a:off x="1298448"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Shop &amp; checkout</a:t>
            </a:r>
            <a:endParaRPr lang="en-US" sz="950" dirty="0"/>
          </a:p>
        </p:txBody>
      </p:sp>
      <p:sp>
        <p:nvSpPr>
          <p:cNvPr id="16" name="Shape 14"/>
          <p:cNvSpPr/>
          <p:nvPr/>
        </p:nvSpPr>
        <p:spPr>
          <a:xfrm>
            <a:off x="1115568" y="5431536"/>
            <a:ext cx="73152" cy="73152"/>
          </a:xfrm>
          <a:prstGeom prst="ellipse">
            <a:avLst/>
          </a:prstGeom>
          <a:solidFill>
            <a:srgbClr val="9C7C2E"/>
          </a:solidFill>
          <a:ln/>
        </p:spPr>
      </p:sp>
      <p:sp>
        <p:nvSpPr>
          <p:cNvPr id="17" name="Text 15"/>
          <p:cNvSpPr txBox="1"/>
          <p:nvPr/>
        </p:nvSpPr>
        <p:spPr>
          <a:xfrm>
            <a:off x="1298448"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Sign-up &amp; contact forms</a:t>
            </a:r>
            <a:endParaRPr lang="en-US" sz="950" dirty="0"/>
          </a:p>
        </p:txBody>
      </p:sp>
      <p:sp>
        <p:nvSpPr>
          <p:cNvPr id="18" name="Shape 16"/>
          <p:cNvSpPr/>
          <p:nvPr/>
        </p:nvSpPr>
        <p:spPr>
          <a:xfrm>
            <a:off x="1115568" y="5779008"/>
            <a:ext cx="73152" cy="73152"/>
          </a:xfrm>
          <a:prstGeom prst="ellipse">
            <a:avLst/>
          </a:prstGeom>
          <a:solidFill>
            <a:srgbClr val="9C7C2E"/>
          </a:solidFill>
          <a:ln/>
        </p:spPr>
      </p:sp>
      <p:sp>
        <p:nvSpPr>
          <p:cNvPr id="19" name="Text 17"/>
          <p:cNvSpPr txBox="1"/>
          <p:nvPr/>
        </p:nvSpPr>
        <p:spPr>
          <a:xfrm>
            <a:off x="1298448"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Curriculum &amp; resources</a:t>
            </a:r>
            <a:endParaRPr lang="en-US" sz="950" dirty="0"/>
          </a:p>
        </p:txBody>
      </p:sp>
      <p:sp>
        <p:nvSpPr>
          <p:cNvPr id="20" name="Shape 18"/>
          <p:cNvSpPr/>
          <p:nvPr/>
        </p:nvSpPr>
        <p:spPr>
          <a:xfrm>
            <a:off x="4459224"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21" name="Shape 19"/>
          <p:cNvSpPr/>
          <p:nvPr/>
        </p:nvSpPr>
        <p:spPr>
          <a:xfrm>
            <a:off x="4751832" y="2578608"/>
            <a:ext cx="457200" cy="457200"/>
          </a:xfrm>
          <a:prstGeom prst="ellipse">
            <a:avLst/>
          </a:prstGeom>
          <a:solidFill>
            <a:srgbClr val="9C7C2E"/>
          </a:solidFill>
          <a:ln/>
        </p:spPr>
      </p:sp>
      <p:sp>
        <p:nvSpPr>
          <p:cNvPr id="22" name="Text 20"/>
          <p:cNvSpPr txBox="1"/>
          <p:nvPr/>
        </p:nvSpPr>
        <p:spPr>
          <a:xfrm>
            <a:off x="4751832"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23" name="Text 21"/>
          <p:cNvSpPr txBox="1"/>
          <p:nvPr/>
        </p:nvSpPr>
        <p:spPr>
          <a:xfrm>
            <a:off x="5318760"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2</a:t>
            </a:r>
            <a:endParaRPr lang="en-US" sz="900" dirty="0"/>
          </a:p>
        </p:txBody>
      </p:sp>
      <p:sp>
        <p:nvSpPr>
          <p:cNvPr id="24" name="Shape 22"/>
          <p:cNvSpPr/>
          <p:nvPr/>
        </p:nvSpPr>
        <p:spPr>
          <a:xfrm>
            <a:off x="4751832" y="3218688"/>
            <a:ext cx="914400" cy="274320"/>
          </a:xfrm>
          <a:prstGeom prst="roundRect">
            <a:avLst>
              <a:gd name="adj" fmla="val 50000"/>
            </a:avLst>
          </a:prstGeom>
          <a:solidFill>
            <a:srgbClr val="F3E7C8"/>
          </a:solidFill>
          <a:ln w="9525">
            <a:solidFill>
              <a:srgbClr val="9C7C2E"/>
            </a:solidFill>
            <a:prstDash val="solid"/>
          </a:ln>
        </p:spPr>
      </p:sp>
      <p:sp>
        <p:nvSpPr>
          <p:cNvPr id="25" name="Text 23"/>
          <p:cNvSpPr txBox="1"/>
          <p:nvPr/>
        </p:nvSpPr>
        <p:spPr>
          <a:xfrm>
            <a:off x="4751832"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Next</a:t>
            </a:r>
            <a:endParaRPr lang="en-US" sz="800" dirty="0"/>
          </a:p>
        </p:txBody>
      </p:sp>
      <p:sp>
        <p:nvSpPr>
          <p:cNvPr id="26" name="Text 24"/>
          <p:cNvSpPr txBox="1"/>
          <p:nvPr/>
        </p:nvSpPr>
        <p:spPr>
          <a:xfrm>
            <a:off x="4751832"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operating platform</a:t>
            </a:r>
            <a:endParaRPr lang="en-US" sz="1500" dirty="0"/>
          </a:p>
        </p:txBody>
      </p:sp>
      <p:sp>
        <p:nvSpPr>
          <p:cNvPr id="27" name="Text 25"/>
          <p:cNvSpPr txBox="1"/>
          <p:nvPr/>
        </p:nvSpPr>
        <p:spPr>
          <a:xfrm>
            <a:off x="4751832"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One place for the whole team to work.</a:t>
            </a:r>
            <a:endParaRPr lang="en-US" sz="900" dirty="0"/>
          </a:p>
        </p:txBody>
      </p:sp>
      <p:sp>
        <p:nvSpPr>
          <p:cNvPr id="28" name="Shape 26"/>
          <p:cNvSpPr/>
          <p:nvPr/>
        </p:nvSpPr>
        <p:spPr>
          <a:xfrm>
            <a:off x="4751832" y="4736592"/>
            <a:ext cx="73152" cy="73152"/>
          </a:xfrm>
          <a:prstGeom prst="ellipse">
            <a:avLst/>
          </a:prstGeom>
          <a:solidFill>
            <a:srgbClr val="9C7C2E"/>
          </a:solidFill>
          <a:ln/>
        </p:spPr>
      </p:sp>
      <p:sp>
        <p:nvSpPr>
          <p:cNvPr id="29" name="Text 27"/>
          <p:cNvSpPr txBox="1"/>
          <p:nvPr/>
        </p:nvSpPr>
        <p:spPr>
          <a:xfrm>
            <a:off x="4934712"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Staff portal &amp; department hubs</a:t>
            </a:r>
            <a:endParaRPr lang="en-US" sz="950" dirty="0"/>
          </a:p>
        </p:txBody>
      </p:sp>
      <p:sp>
        <p:nvSpPr>
          <p:cNvPr id="30" name="Shape 28"/>
          <p:cNvSpPr/>
          <p:nvPr/>
        </p:nvSpPr>
        <p:spPr>
          <a:xfrm>
            <a:off x="4751832" y="5084064"/>
            <a:ext cx="73152" cy="73152"/>
          </a:xfrm>
          <a:prstGeom prst="ellipse">
            <a:avLst/>
          </a:prstGeom>
          <a:solidFill>
            <a:srgbClr val="9C7C2E"/>
          </a:solidFill>
          <a:ln/>
        </p:spPr>
      </p:sp>
      <p:sp>
        <p:nvSpPr>
          <p:cNvPr id="31" name="Text 29"/>
          <p:cNvSpPr txBox="1"/>
          <p:nvPr/>
        </p:nvSpPr>
        <p:spPr>
          <a:xfrm>
            <a:off x="4934712"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School Portal &amp; school pages</a:t>
            </a:r>
            <a:endParaRPr lang="en-US" sz="950" dirty="0"/>
          </a:p>
        </p:txBody>
      </p:sp>
      <p:sp>
        <p:nvSpPr>
          <p:cNvPr id="32" name="Shape 30"/>
          <p:cNvSpPr/>
          <p:nvPr/>
        </p:nvSpPr>
        <p:spPr>
          <a:xfrm>
            <a:off x="4751832" y="5431536"/>
            <a:ext cx="73152" cy="73152"/>
          </a:xfrm>
          <a:prstGeom prst="ellipse">
            <a:avLst/>
          </a:prstGeom>
          <a:solidFill>
            <a:srgbClr val="9C7C2E"/>
          </a:solidFill>
          <a:ln/>
        </p:spPr>
      </p:sp>
      <p:sp>
        <p:nvSpPr>
          <p:cNvPr id="33" name="Text 31"/>
          <p:cNvSpPr txBox="1"/>
          <p:nvPr/>
        </p:nvSpPr>
        <p:spPr>
          <a:xfrm>
            <a:off x="4934712"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Inbox, workflows &amp; hand-offs</a:t>
            </a:r>
            <a:endParaRPr lang="en-US" sz="950" dirty="0"/>
          </a:p>
        </p:txBody>
      </p:sp>
      <p:sp>
        <p:nvSpPr>
          <p:cNvPr id="34" name="Shape 32"/>
          <p:cNvSpPr/>
          <p:nvPr/>
        </p:nvSpPr>
        <p:spPr>
          <a:xfrm>
            <a:off x="4751832" y="5779008"/>
            <a:ext cx="73152" cy="73152"/>
          </a:xfrm>
          <a:prstGeom prst="ellipse">
            <a:avLst/>
          </a:prstGeom>
          <a:solidFill>
            <a:srgbClr val="9C7C2E"/>
          </a:solidFill>
          <a:ln/>
        </p:spPr>
      </p:sp>
      <p:sp>
        <p:nvSpPr>
          <p:cNvPr id="35" name="Text 33"/>
          <p:cNvSpPr txBox="1"/>
          <p:nvPr/>
        </p:nvSpPr>
        <p:spPr>
          <a:xfrm>
            <a:off x="4934712"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Social media dashboard</a:t>
            </a:r>
            <a:endParaRPr lang="en-US" sz="950" dirty="0"/>
          </a:p>
        </p:txBody>
      </p:sp>
      <p:sp>
        <p:nvSpPr>
          <p:cNvPr id="36" name="Shape 34"/>
          <p:cNvSpPr/>
          <p:nvPr/>
        </p:nvSpPr>
        <p:spPr>
          <a:xfrm>
            <a:off x="8095488"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37" name="Shape 35"/>
          <p:cNvSpPr/>
          <p:nvPr/>
        </p:nvSpPr>
        <p:spPr>
          <a:xfrm>
            <a:off x="8388096" y="2578608"/>
            <a:ext cx="457200" cy="457200"/>
          </a:xfrm>
          <a:prstGeom prst="ellipse">
            <a:avLst/>
          </a:prstGeom>
          <a:solidFill>
            <a:srgbClr val="9C7C2E"/>
          </a:solidFill>
          <a:ln/>
        </p:spPr>
      </p:sp>
      <p:sp>
        <p:nvSpPr>
          <p:cNvPr id="38" name="Text 36"/>
          <p:cNvSpPr txBox="1"/>
          <p:nvPr/>
        </p:nvSpPr>
        <p:spPr>
          <a:xfrm>
            <a:off x="8388096"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39" name="Text 37"/>
          <p:cNvSpPr txBox="1"/>
          <p:nvPr/>
        </p:nvSpPr>
        <p:spPr>
          <a:xfrm>
            <a:off x="8955024"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3</a:t>
            </a:r>
            <a:endParaRPr lang="en-US" sz="900" dirty="0"/>
          </a:p>
        </p:txBody>
      </p:sp>
      <p:sp>
        <p:nvSpPr>
          <p:cNvPr id="40" name="Shape 38"/>
          <p:cNvSpPr/>
          <p:nvPr/>
        </p:nvSpPr>
        <p:spPr>
          <a:xfrm>
            <a:off x="8388096" y="3218688"/>
            <a:ext cx="914400" cy="274320"/>
          </a:xfrm>
          <a:prstGeom prst="roundRect">
            <a:avLst>
              <a:gd name="adj" fmla="val 50000"/>
            </a:avLst>
          </a:prstGeom>
          <a:solidFill>
            <a:srgbClr val="F3E7C8"/>
          </a:solidFill>
          <a:ln w="9525">
            <a:solidFill>
              <a:srgbClr val="9C7C2E"/>
            </a:solidFill>
            <a:prstDash val="solid"/>
          </a:ln>
        </p:spPr>
      </p:sp>
      <p:sp>
        <p:nvSpPr>
          <p:cNvPr id="41" name="Text 39"/>
          <p:cNvSpPr txBox="1"/>
          <p:nvPr/>
        </p:nvSpPr>
        <p:spPr>
          <a:xfrm>
            <a:off x="8388096"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Then</a:t>
            </a:r>
            <a:endParaRPr lang="en-US" sz="800" dirty="0"/>
          </a:p>
        </p:txBody>
      </p:sp>
      <p:sp>
        <p:nvSpPr>
          <p:cNvPr id="42" name="Text 40"/>
          <p:cNvSpPr txBox="1"/>
          <p:nvPr/>
        </p:nvSpPr>
        <p:spPr>
          <a:xfrm>
            <a:off x="8388096"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Intelligence &amp; scale</a:t>
            </a:r>
            <a:endParaRPr lang="en-US" sz="1500" dirty="0"/>
          </a:p>
        </p:txBody>
      </p:sp>
      <p:sp>
        <p:nvSpPr>
          <p:cNvPr id="43" name="Text 41"/>
          <p:cNvSpPr txBox="1"/>
          <p:nvPr/>
        </p:nvSpPr>
        <p:spPr>
          <a:xfrm>
            <a:off x="8388096"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Real data, and smart help by role.</a:t>
            </a:r>
            <a:endParaRPr lang="en-US" sz="900" dirty="0"/>
          </a:p>
        </p:txBody>
      </p:sp>
      <p:sp>
        <p:nvSpPr>
          <p:cNvPr id="44" name="Shape 42"/>
          <p:cNvSpPr/>
          <p:nvPr/>
        </p:nvSpPr>
        <p:spPr>
          <a:xfrm>
            <a:off x="8388096" y="4736592"/>
            <a:ext cx="73152" cy="73152"/>
          </a:xfrm>
          <a:prstGeom prst="ellipse">
            <a:avLst/>
          </a:prstGeom>
          <a:solidFill>
            <a:srgbClr val="9C7C2E"/>
          </a:solidFill>
          <a:ln/>
        </p:spPr>
      </p:sp>
      <p:sp>
        <p:nvSpPr>
          <p:cNvPr id="45" name="Text 43"/>
          <p:cNvSpPr txBox="1"/>
          <p:nvPr/>
        </p:nvSpPr>
        <p:spPr>
          <a:xfrm>
            <a:off x="8570976"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Real data across every hub</a:t>
            </a:r>
            <a:endParaRPr lang="en-US" sz="950" dirty="0"/>
          </a:p>
        </p:txBody>
      </p:sp>
      <p:sp>
        <p:nvSpPr>
          <p:cNvPr id="46" name="Shape 44"/>
          <p:cNvSpPr/>
          <p:nvPr/>
        </p:nvSpPr>
        <p:spPr>
          <a:xfrm>
            <a:off x="8388096" y="5084064"/>
            <a:ext cx="73152" cy="73152"/>
          </a:xfrm>
          <a:prstGeom prst="ellipse">
            <a:avLst/>
          </a:prstGeom>
          <a:solidFill>
            <a:srgbClr val="9C7C2E"/>
          </a:solidFill>
          <a:ln/>
        </p:spPr>
      </p:sp>
      <p:sp>
        <p:nvSpPr>
          <p:cNvPr id="47" name="Text 45"/>
          <p:cNvSpPr txBox="1"/>
          <p:nvPr/>
        </p:nvSpPr>
        <p:spPr>
          <a:xfrm>
            <a:off x="8570976"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Role-aware assistant</a:t>
            </a:r>
            <a:endParaRPr lang="en-US" sz="950" dirty="0"/>
          </a:p>
        </p:txBody>
      </p:sp>
      <p:sp>
        <p:nvSpPr>
          <p:cNvPr id="48" name="Shape 46"/>
          <p:cNvSpPr/>
          <p:nvPr/>
        </p:nvSpPr>
        <p:spPr>
          <a:xfrm>
            <a:off x="8388096" y="5431536"/>
            <a:ext cx="73152" cy="73152"/>
          </a:xfrm>
          <a:prstGeom prst="ellipse">
            <a:avLst/>
          </a:prstGeom>
          <a:solidFill>
            <a:srgbClr val="9C7C2E"/>
          </a:solidFill>
          <a:ln/>
        </p:spPr>
      </p:sp>
      <p:sp>
        <p:nvSpPr>
          <p:cNvPr id="49" name="Text 47"/>
          <p:cNvSpPr txBox="1"/>
          <p:nvPr/>
        </p:nvSpPr>
        <p:spPr>
          <a:xfrm>
            <a:off x="8570976"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Analytics &amp; forecasting</a:t>
            </a:r>
            <a:endParaRPr lang="en-US" sz="950" dirty="0"/>
          </a:p>
        </p:txBody>
      </p:sp>
      <p:sp>
        <p:nvSpPr>
          <p:cNvPr id="50" name="Shape 48"/>
          <p:cNvSpPr/>
          <p:nvPr/>
        </p:nvSpPr>
        <p:spPr>
          <a:xfrm>
            <a:off x="8388096" y="5779008"/>
            <a:ext cx="73152" cy="73152"/>
          </a:xfrm>
          <a:prstGeom prst="ellipse">
            <a:avLst/>
          </a:prstGeom>
          <a:solidFill>
            <a:srgbClr val="9C7C2E"/>
          </a:solidFill>
          <a:ln/>
        </p:spPr>
      </p:sp>
      <p:sp>
        <p:nvSpPr>
          <p:cNvPr id="51" name="Text 49"/>
          <p:cNvSpPr txBox="1"/>
          <p:nvPr/>
        </p:nvSpPr>
        <p:spPr>
          <a:xfrm>
            <a:off x="8570976"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The advanced-features roadmap</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PHASE ONE · GOES LIVE FIRST</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1</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The marketing website</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public, front-facing website: phase one, and the first thing we take live. Real content from deeprootsbible.com, with sign-up and contact forms that feed straight into the portal.</a:t>
            </a:r>
            <a:endParaRPr lang="en-US" sz="1500" dirty="0"/>
          </a:p>
        </p:txBody>
      </p:sp>
      <p:sp>
        <p:nvSpPr>
          <p:cNvPr id="7" name="Text 5"/>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Home · Why · Curriculum (K–6 aligned, gaps “coming soon”)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Testimonials · FAQ + search · Resources · Shop &amp; checkout · Events · Contact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Sign-up and contact forms feed the Marketing section</a:t>
            </a:r>
            <a:endParaRPr lang="en-US" sz="1350" dirty="0"/>
          </a:p>
        </p:txBody>
      </p:sp>
      <p:sp>
        <p:nvSpPr>
          <p:cNvPr id="8" name="Shape 6"/>
          <p:cNvSpPr/>
          <p:nvPr/>
        </p:nvSpPr>
        <p:spPr>
          <a:xfrm>
            <a:off x="6565392" y="1909239"/>
            <a:ext cx="5385816" cy="3039523"/>
          </a:xfrm>
          <a:prstGeom prst="roundRect">
            <a:avLst>
              <a:gd name="adj" fmla="val 180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9" name="Image 0" descr="/private/tmp/claude-502/-Users-DRBTroy-Documents-Projects-DeepRoots/3b403855-4530-4100-a3e2-ac51fe60ce6e/scratchpad/screens/marketing-home.jpg">    </p:cNvPr>
          <p:cNvPicPr>
            <a:picLocks noChangeAspect="1"/>
          </p:cNvPicPr>
          <p:nvPr/>
        </p:nvPicPr>
        <p:blipFill>
          <a:blip r:embed="rId1"/>
          <a:stretch>
            <a:fillRect/>
          </a:stretch>
        </p:blipFill>
        <p:spPr>
          <a:xfrm>
            <a:off x="6629400" y="1973247"/>
            <a:ext cx="5257800" cy="29115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ACCESS · SIGN-IN</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Secure staff sign-in</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Only invited staff can get in. They sign in with a one-time link or a 6-digit code, and an approved-email list controls who has access.</a:t>
            </a:r>
            <a:endParaRPr lang="en-US" sz="1500" dirty="0"/>
          </a:p>
        </p:txBody>
      </p:sp>
      <p:sp>
        <p:nvSpPr>
          <p:cNvPr id="7" name="Shape 5"/>
          <p:cNvSpPr/>
          <p:nvPr/>
        </p:nvSpPr>
        <p:spPr>
          <a:xfrm>
            <a:off x="822960" y="3657600"/>
            <a:ext cx="2183587"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Invite-only staff access</a:t>
            </a:r>
            <a:endParaRPr lang="en-US" sz="1050" dirty="0"/>
          </a:p>
        </p:txBody>
      </p:sp>
      <p:sp>
        <p:nvSpPr>
          <p:cNvPr id="9" name="Shape 7"/>
          <p:cNvSpPr/>
          <p:nvPr/>
        </p:nvSpPr>
        <p:spPr>
          <a:xfrm>
            <a:off x="3171139"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317443" y="3799332"/>
            <a:ext cx="100584" cy="100584"/>
          </a:xfrm>
          <a:prstGeom prst="ellipse">
            <a:avLst/>
          </a:prstGeom>
          <a:solidFill>
            <a:srgbClr val="B0842F"/>
          </a:solidFill>
          <a:ln/>
        </p:spPr>
      </p:sp>
      <p:sp>
        <p:nvSpPr>
          <p:cNvPr id="11" name="Text 9"/>
          <p:cNvSpPr txBox="1"/>
          <p:nvPr/>
        </p:nvSpPr>
        <p:spPr>
          <a:xfrm>
            <a:off x="3482035"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portal · sign-in</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Text 18"/>
          <p:cNvSpPr txBox="1"/>
          <p:nvPr/>
        </p:nvSpPr>
        <p:spPr>
          <a:xfrm>
            <a:off x="7296912" y="2304288"/>
            <a:ext cx="3968496" cy="457200"/>
          </a:xfrm>
          <a:prstGeom prst="rect">
            <a:avLst/>
          </a:prstGeom>
          <a:noFill/>
          <a:ln/>
        </p:spPr>
        <p:txBody>
          <a:bodyPr wrap="square" lIns="0" tIns="0" rIns="0" bIns="0" rtlCol="0" anchor="ctr"/>
          <a:lstStyle/>
          <a:p>
            <a:pPr algn="ctr" indent="0" marL="0">
              <a:buNone/>
            </a:pPr>
            <a:r>
              <a:rPr lang="en-US" sz="1600" dirty="0">
                <a:solidFill>
                  <a:srgbClr val="1D1A15"/>
                </a:solidFill>
                <a:latin typeface="Georgia" pitchFamily="34" charset="0"/>
                <a:ea typeface="Georgia" pitchFamily="34" charset="-122"/>
                <a:cs typeface="Georgia" pitchFamily="34" charset="-120"/>
              </a:rPr>
              <a:t>Portal sign-in</a:t>
            </a:r>
            <a:endParaRPr lang="en-US" sz="1600" dirty="0"/>
          </a:p>
        </p:txBody>
      </p:sp>
      <p:sp>
        <p:nvSpPr>
          <p:cNvPr id="21" name="Shape 19"/>
          <p:cNvSpPr/>
          <p:nvPr/>
        </p:nvSpPr>
        <p:spPr>
          <a:xfrm>
            <a:off x="7479792" y="2990088"/>
            <a:ext cx="3602736" cy="384048"/>
          </a:xfrm>
          <a:prstGeom prst="roundRect">
            <a:avLst>
              <a:gd name="adj" fmla="val 14286"/>
            </a:avLst>
          </a:prstGeom>
          <a:solidFill>
            <a:srgbClr val="FBFAF6"/>
          </a:solidFill>
          <a:ln w="12700">
            <a:solidFill>
              <a:srgbClr val="E4DCC9"/>
            </a:solidFill>
            <a:prstDash val="solid"/>
          </a:ln>
        </p:spPr>
      </p:sp>
      <p:sp>
        <p:nvSpPr>
          <p:cNvPr id="22" name="Shape 20"/>
          <p:cNvSpPr/>
          <p:nvPr/>
        </p:nvSpPr>
        <p:spPr>
          <a:xfrm>
            <a:off x="7479792" y="3493008"/>
            <a:ext cx="3602736" cy="438912"/>
          </a:xfrm>
          <a:prstGeom prst="roundRect">
            <a:avLst>
              <a:gd name="adj" fmla="val 12500"/>
            </a:avLst>
          </a:prstGeom>
          <a:solidFill>
            <a:srgbClr val="1D1A15"/>
          </a:solidFill>
          <a:ln/>
        </p:spPr>
      </p:sp>
      <p:sp>
        <p:nvSpPr>
          <p:cNvPr id="23" name="Text 21"/>
          <p:cNvSpPr txBox="1"/>
          <p:nvPr/>
        </p:nvSpPr>
        <p:spPr>
          <a:xfrm>
            <a:off x="7479792" y="3493008"/>
            <a:ext cx="3602736" cy="438912"/>
          </a:xfrm>
          <a:prstGeom prst="rect">
            <a:avLst/>
          </a:prstGeom>
          <a:noFill/>
          <a:ln/>
        </p:spPr>
        <p:txBody>
          <a:bodyPr wrap="square" lIns="0" tIns="0" rIns="0" bIns="0" rtlCol="0" anchor="ctr"/>
          <a:lstStyle/>
          <a:p>
            <a:pPr algn="ctr" indent="0" marL="0">
              <a:buNone/>
            </a:pPr>
            <a:r>
              <a:rPr lang="en-US" sz="1000" b="1" spc="100" kern="0" dirty="0">
                <a:solidFill>
                  <a:srgbClr val="F3ECDD"/>
                </a:solidFill>
                <a:latin typeface="Calibri" pitchFamily="34" charset="0"/>
                <a:ea typeface="Calibri" pitchFamily="34" charset="-122"/>
                <a:cs typeface="Calibri" pitchFamily="34" charset="-120"/>
              </a:rPr>
              <a:t>EMAIL ME A SIGN-IN CODE</a:t>
            </a:r>
            <a:endParaRPr lang="en-US" sz="1000" dirty="0"/>
          </a:p>
        </p:txBody>
      </p:sp>
      <p:sp>
        <p:nvSpPr>
          <p:cNvPr id="24" name="Shape 22"/>
          <p:cNvSpPr/>
          <p:nvPr/>
        </p:nvSpPr>
        <p:spPr>
          <a:xfrm>
            <a:off x="7479792" y="4087368"/>
            <a:ext cx="3602736" cy="502920"/>
          </a:xfrm>
          <a:prstGeom prst="roundRect">
            <a:avLst>
              <a:gd name="adj" fmla="val 10909"/>
            </a:avLst>
          </a:prstGeom>
          <a:solidFill>
            <a:srgbClr val="F0E9D8"/>
          </a:solidFill>
          <a:ln w="12700">
            <a:solidFill>
              <a:srgbClr val="E4DCC9"/>
            </a:solidFill>
            <a:prstDash val="dash"/>
          </a:ln>
        </p:spPr>
      </p:sp>
      <p:sp>
        <p:nvSpPr>
          <p:cNvPr id="25" name="Text 23"/>
          <p:cNvSpPr txBox="1"/>
          <p:nvPr/>
        </p:nvSpPr>
        <p:spPr>
          <a:xfrm>
            <a:off x="7479792" y="4087368"/>
            <a:ext cx="3602736" cy="502920"/>
          </a:xfrm>
          <a:prstGeom prst="rect">
            <a:avLst/>
          </a:prstGeom>
          <a:noFill/>
          <a:ln/>
        </p:spPr>
        <p:txBody>
          <a:bodyPr wrap="square" lIns="0" tIns="0" rIns="0" bIns="0" rtlCol="0" anchor="ctr"/>
          <a:lstStyle/>
          <a:p>
            <a:pPr algn="ctr" indent="0" marL="0">
              <a:buNone/>
            </a:pPr>
            <a:r>
              <a:rPr lang="en-US" sz="900" dirty="0">
                <a:solidFill>
                  <a:srgbClr val="7A7266"/>
                </a:solidFill>
                <a:latin typeface="Calibri" pitchFamily="34" charset="0"/>
                <a:ea typeface="Calibri" pitchFamily="34" charset="-122"/>
                <a:cs typeface="Calibri" pitchFamily="34" charset="-120"/>
              </a:rPr>
              <a:t>Dev sign-in (local only)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ONE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internal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daily operating picture we’d give the DeepRoots team, one Overview, six department hubs, and the tools to run the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OVERVIEW</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Overview: the company at a glance</a:t>
            </a:r>
            <a:endParaRPr lang="en-US" sz="30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Headline numbers, the leadership wheel, and a “needs attention” list that surfaces what to act on today.</a:t>
            </a:r>
            <a:endParaRPr lang="en-US" sz="1500" dirty="0"/>
          </a:p>
        </p:txBody>
      </p:sp>
      <p:sp>
        <p:nvSpPr>
          <p:cNvPr id="7" name="Shape 5"/>
          <p:cNvSpPr/>
          <p:nvPr/>
        </p:nvSpPr>
        <p:spPr>
          <a:xfrm>
            <a:off x="822960" y="3657600"/>
            <a:ext cx="1508760"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Company numbers</a:t>
            </a:r>
            <a:endParaRPr lang="en-US" sz="1050" dirty="0"/>
          </a:p>
        </p:txBody>
      </p:sp>
      <p:sp>
        <p:nvSpPr>
          <p:cNvPr id="9" name="Shape 7"/>
          <p:cNvSpPr/>
          <p:nvPr/>
        </p:nvSpPr>
        <p:spPr>
          <a:xfrm>
            <a:off x="2496312" y="3657600"/>
            <a:ext cx="1808683"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2642616" y="3799332"/>
            <a:ext cx="100584" cy="100584"/>
          </a:xfrm>
          <a:prstGeom prst="ellipse">
            <a:avLst/>
          </a:prstGeom>
          <a:solidFill>
            <a:srgbClr val="7A7266"/>
          </a:solidFill>
          <a:ln/>
        </p:spPr>
      </p:sp>
      <p:sp>
        <p:nvSpPr>
          <p:cNvPr id="11" name="Text 9"/>
          <p:cNvSpPr txBox="1"/>
          <p:nvPr/>
        </p:nvSpPr>
        <p:spPr>
          <a:xfrm>
            <a:off x="2807208"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 mockup</a:t>
            </a:r>
            <a:endParaRPr lang="en-US" sz="1050" dirty="0"/>
          </a:p>
        </p:txBody>
      </p:sp>
      <p:sp>
        <p:nvSpPr>
          <p:cNvPr id="12" name="Shape 10"/>
          <p:cNvSpPr/>
          <p:nvPr/>
        </p:nvSpPr>
        <p:spPr>
          <a:xfrm>
            <a:off x="6565392" y="1461115"/>
            <a:ext cx="5385816" cy="3935770"/>
          </a:xfrm>
          <a:prstGeom prst="roundRect">
            <a:avLst>
              <a:gd name="adj" fmla="val 139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main-dash.png">    </p:cNvPr>
          <p:cNvPicPr>
            <a:picLocks noChangeAspect="1"/>
          </p:cNvPicPr>
          <p:nvPr/>
        </p:nvPicPr>
        <p:blipFill>
          <a:blip r:embed="rId1"/>
          <a:stretch>
            <a:fillRect/>
          </a:stretch>
        </p:blipFill>
        <p:spPr>
          <a:xfrm>
            <a:off x="6629400" y="1525123"/>
            <a:ext cx="5257800" cy="380775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DEPARTMENT HUBS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Department hubs</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team would get the same operating view, metrics, signals, and tasks, in one shared look, not reinvented for each team.</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 Customer Success · Curriculum &amp;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Editorial · Production · Marketing · Technology · People &amp; HR</a:t>
            </a:r>
            <a:endParaRPr lang="en-US" sz="1350" dirty="0"/>
          </a:p>
        </p:txBody>
      </p:sp>
      <p:sp>
        <p:nvSpPr>
          <p:cNvPr id="8" name="Shape 6"/>
          <p:cNvSpPr/>
          <p:nvPr/>
        </p:nvSpPr>
        <p:spPr>
          <a:xfrm>
            <a:off x="822960" y="4645152"/>
            <a:ext cx="2183587"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4626864"/>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Metrics, signals &amp; tasks</a:t>
            </a:r>
            <a:endParaRPr lang="en-US" sz="1050" dirty="0"/>
          </a:p>
        </p:txBody>
      </p:sp>
      <p:sp>
        <p:nvSpPr>
          <p:cNvPr id="10" name="Shape 8"/>
          <p:cNvSpPr/>
          <p:nvPr/>
        </p:nvSpPr>
        <p:spPr>
          <a:xfrm>
            <a:off x="6565392" y="1227253"/>
            <a:ext cx="5385816" cy="4403495"/>
          </a:xfrm>
          <a:prstGeom prst="roundRect">
            <a:avLst>
              <a:gd name="adj" fmla="val 1246"/>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ales.png">    </p:cNvPr>
          <p:cNvPicPr>
            <a:picLocks noChangeAspect="1"/>
          </p:cNvPicPr>
          <p:nvPr/>
        </p:nvPicPr>
        <p:blipFill>
          <a:blip r:embed="rId1"/>
          <a:stretch>
            <a:fillRect/>
          </a:stretch>
        </p:blipFill>
        <p:spPr>
          <a:xfrm>
            <a:off x="6629400" y="1291261"/>
            <a:ext cx="5257800" cy="427547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SOCIAL MEDIA</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complete Social Media Dashboard</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Plan, schedule, and track every social channel in one place, and feed the best moments straight to school pages.</a:t>
            </a:r>
            <a:endParaRPr lang="en-US" sz="1500" dirty="0"/>
          </a:p>
        </p:txBody>
      </p:sp>
      <p:sp>
        <p:nvSpPr>
          <p:cNvPr id="7" name="Text 5"/>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Schedule and queue posts across every platform</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Track followers, engagement, and reach</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Curate the spotlights that appear on school pages</a:t>
            </a:r>
            <a:endParaRPr lang="en-US" sz="1350" dirty="0"/>
          </a:p>
        </p:txBody>
      </p:sp>
      <p:sp>
        <p:nvSpPr>
          <p:cNvPr id="8" name="Shape 6"/>
          <p:cNvSpPr/>
          <p:nvPr/>
        </p:nvSpPr>
        <p:spPr>
          <a:xfrm>
            <a:off x="822960" y="4956048"/>
            <a:ext cx="2108606"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4937760"/>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All channels, one place</a:t>
            </a:r>
            <a:endParaRPr lang="en-US" sz="1050" dirty="0"/>
          </a:p>
        </p:txBody>
      </p:sp>
      <p:sp>
        <p:nvSpPr>
          <p:cNvPr id="10" name="Shape 8"/>
          <p:cNvSpPr/>
          <p:nvPr/>
        </p:nvSpPr>
        <p:spPr>
          <a:xfrm>
            <a:off x="3096158" y="4956048"/>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3242462" y="5097780"/>
            <a:ext cx="100584" cy="100584"/>
          </a:xfrm>
          <a:prstGeom prst="ellipse">
            <a:avLst/>
          </a:prstGeom>
          <a:solidFill>
            <a:srgbClr val="B0842F"/>
          </a:solidFill>
          <a:ln/>
        </p:spPr>
      </p:sp>
      <p:sp>
        <p:nvSpPr>
          <p:cNvPr id="12" name="Text 10"/>
          <p:cNvSpPr txBox="1"/>
          <p:nvPr/>
        </p:nvSpPr>
        <p:spPr>
          <a:xfrm>
            <a:off x="3407054"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1237488" cy="658368"/>
          </a:xfrm>
          <a:prstGeom prst="roundRect">
            <a:avLst>
              <a:gd name="adj" fmla="val 8333"/>
            </a:avLst>
          </a:prstGeom>
          <a:solidFill>
            <a:srgbClr val="FBFAF6"/>
          </a:solidFill>
          <a:ln w="12700">
            <a:solidFill>
              <a:srgbClr val="E4DCC9"/>
            </a:solidFill>
            <a:prstDash val="solid"/>
          </a:ln>
        </p:spPr>
      </p:sp>
      <p:sp>
        <p:nvSpPr>
          <p:cNvPr id="22" name="Text 20"/>
          <p:cNvSpPr txBox="1"/>
          <p:nvPr/>
        </p:nvSpPr>
        <p:spPr>
          <a:xfrm>
            <a:off x="7388352"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FOLLOWERS</a:t>
            </a:r>
            <a:endParaRPr lang="en-US" sz="650" dirty="0"/>
          </a:p>
        </p:txBody>
      </p:sp>
      <p:sp>
        <p:nvSpPr>
          <p:cNvPr id="23" name="Text 21"/>
          <p:cNvSpPr txBox="1"/>
          <p:nvPr/>
        </p:nvSpPr>
        <p:spPr>
          <a:xfrm>
            <a:off x="7388352"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12.4k</a:t>
            </a:r>
            <a:endParaRPr lang="en-US" sz="1600" dirty="0"/>
          </a:p>
        </p:txBody>
      </p:sp>
      <p:sp>
        <p:nvSpPr>
          <p:cNvPr id="24" name="Shape 22"/>
          <p:cNvSpPr/>
          <p:nvPr/>
        </p:nvSpPr>
        <p:spPr>
          <a:xfrm>
            <a:off x="8662416" y="2212848"/>
            <a:ext cx="1237488" cy="658368"/>
          </a:xfrm>
          <a:prstGeom prst="roundRect">
            <a:avLst>
              <a:gd name="adj" fmla="val 8333"/>
            </a:avLst>
          </a:prstGeom>
          <a:solidFill>
            <a:srgbClr val="FBFAF6"/>
          </a:solidFill>
          <a:ln w="12700">
            <a:solidFill>
              <a:srgbClr val="E4DCC9"/>
            </a:solidFill>
            <a:prstDash val="solid"/>
          </a:ln>
        </p:spPr>
      </p:sp>
      <p:sp>
        <p:nvSpPr>
          <p:cNvPr id="25" name="Text 23"/>
          <p:cNvSpPr txBox="1"/>
          <p:nvPr/>
        </p:nvSpPr>
        <p:spPr>
          <a:xfrm>
            <a:off x="8753856"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ENGAGEMENT</a:t>
            </a:r>
            <a:endParaRPr lang="en-US" sz="650" dirty="0"/>
          </a:p>
        </p:txBody>
      </p:sp>
      <p:sp>
        <p:nvSpPr>
          <p:cNvPr id="26" name="Text 24"/>
          <p:cNvSpPr txBox="1"/>
          <p:nvPr/>
        </p:nvSpPr>
        <p:spPr>
          <a:xfrm>
            <a:off x="8753856"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4.8%</a:t>
            </a:r>
            <a:endParaRPr lang="en-US" sz="1600" dirty="0"/>
          </a:p>
        </p:txBody>
      </p:sp>
      <p:sp>
        <p:nvSpPr>
          <p:cNvPr id="27" name="Shape 25"/>
          <p:cNvSpPr/>
          <p:nvPr/>
        </p:nvSpPr>
        <p:spPr>
          <a:xfrm>
            <a:off x="10027920" y="2212848"/>
            <a:ext cx="1237488" cy="658368"/>
          </a:xfrm>
          <a:prstGeom prst="roundRect">
            <a:avLst>
              <a:gd name="adj" fmla="val 8333"/>
            </a:avLst>
          </a:prstGeom>
          <a:solidFill>
            <a:srgbClr val="FBFAF6"/>
          </a:solidFill>
          <a:ln w="12700">
            <a:solidFill>
              <a:srgbClr val="E4DCC9"/>
            </a:solidFill>
            <a:prstDash val="solid"/>
          </a:ln>
        </p:spPr>
      </p:sp>
      <p:sp>
        <p:nvSpPr>
          <p:cNvPr id="28" name="Text 26"/>
          <p:cNvSpPr txBox="1"/>
          <p:nvPr/>
        </p:nvSpPr>
        <p:spPr>
          <a:xfrm>
            <a:off x="10119360"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REACH</a:t>
            </a:r>
            <a:endParaRPr lang="en-US" sz="650" dirty="0"/>
          </a:p>
        </p:txBody>
      </p:sp>
      <p:sp>
        <p:nvSpPr>
          <p:cNvPr id="29" name="Text 27"/>
          <p:cNvSpPr txBox="1"/>
          <p:nvPr/>
        </p:nvSpPr>
        <p:spPr>
          <a:xfrm>
            <a:off x="10119360"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86k</a:t>
            </a:r>
            <a:endParaRPr lang="en-US" sz="1600" dirty="0"/>
          </a:p>
        </p:txBody>
      </p:sp>
      <p:sp>
        <p:nvSpPr>
          <p:cNvPr id="30" name="Shape 28"/>
          <p:cNvSpPr/>
          <p:nvPr/>
        </p:nvSpPr>
        <p:spPr>
          <a:xfrm>
            <a:off x="7296912" y="3017520"/>
            <a:ext cx="292608" cy="256032"/>
          </a:xfrm>
          <a:prstGeom prst="roundRect">
            <a:avLst>
              <a:gd name="adj" fmla="val 21429"/>
            </a:avLst>
          </a:prstGeom>
          <a:solidFill>
            <a:srgbClr val="E1306C"/>
          </a:solidFill>
          <a:ln/>
        </p:spPr>
      </p:sp>
      <p:sp>
        <p:nvSpPr>
          <p:cNvPr id="31" name="Text 29"/>
          <p:cNvSpPr txBox="1"/>
          <p:nvPr/>
        </p:nvSpPr>
        <p:spPr>
          <a:xfrm>
            <a:off x="729691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IG</a:t>
            </a:r>
            <a:endParaRPr lang="en-US" sz="750" dirty="0"/>
          </a:p>
        </p:txBody>
      </p:sp>
      <p:sp>
        <p:nvSpPr>
          <p:cNvPr id="32" name="Shape 30"/>
          <p:cNvSpPr/>
          <p:nvPr/>
        </p:nvSpPr>
        <p:spPr>
          <a:xfrm>
            <a:off x="7671816" y="3017520"/>
            <a:ext cx="292608" cy="256032"/>
          </a:xfrm>
          <a:prstGeom prst="roundRect">
            <a:avLst>
              <a:gd name="adj" fmla="val 21429"/>
            </a:avLst>
          </a:prstGeom>
          <a:solidFill>
            <a:srgbClr val="1877F2"/>
          </a:solidFill>
          <a:ln/>
        </p:spPr>
      </p:sp>
      <p:sp>
        <p:nvSpPr>
          <p:cNvPr id="33" name="Text 31"/>
          <p:cNvSpPr txBox="1"/>
          <p:nvPr/>
        </p:nvSpPr>
        <p:spPr>
          <a:xfrm>
            <a:off x="7671816"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a:t>
            </a:r>
            <a:endParaRPr lang="en-US" sz="750" dirty="0"/>
          </a:p>
        </p:txBody>
      </p:sp>
      <p:sp>
        <p:nvSpPr>
          <p:cNvPr id="34" name="Shape 32"/>
          <p:cNvSpPr/>
          <p:nvPr/>
        </p:nvSpPr>
        <p:spPr>
          <a:xfrm>
            <a:off x="8046720" y="3017520"/>
            <a:ext cx="292608" cy="256032"/>
          </a:xfrm>
          <a:prstGeom prst="roundRect">
            <a:avLst>
              <a:gd name="adj" fmla="val 21429"/>
            </a:avLst>
          </a:prstGeom>
          <a:solidFill>
            <a:srgbClr val="111111"/>
          </a:solidFill>
          <a:ln/>
        </p:spPr>
      </p:sp>
      <p:sp>
        <p:nvSpPr>
          <p:cNvPr id="35" name="Text 33"/>
          <p:cNvSpPr txBox="1"/>
          <p:nvPr/>
        </p:nvSpPr>
        <p:spPr>
          <a:xfrm>
            <a:off x="8046720"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X</a:t>
            </a:r>
            <a:endParaRPr lang="en-US" sz="750" dirty="0"/>
          </a:p>
        </p:txBody>
      </p:sp>
      <p:sp>
        <p:nvSpPr>
          <p:cNvPr id="36" name="Shape 34"/>
          <p:cNvSpPr/>
          <p:nvPr/>
        </p:nvSpPr>
        <p:spPr>
          <a:xfrm>
            <a:off x="8421624" y="3017520"/>
            <a:ext cx="292608" cy="256032"/>
          </a:xfrm>
          <a:prstGeom prst="roundRect">
            <a:avLst>
              <a:gd name="adj" fmla="val 21429"/>
            </a:avLst>
          </a:prstGeom>
          <a:solidFill>
            <a:srgbClr val="FF0000"/>
          </a:solidFill>
          <a:ln/>
        </p:spPr>
      </p:sp>
      <p:sp>
        <p:nvSpPr>
          <p:cNvPr id="37" name="Text 35"/>
          <p:cNvSpPr txBox="1"/>
          <p:nvPr/>
        </p:nvSpPr>
        <p:spPr>
          <a:xfrm>
            <a:off x="8421624"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38" name="Shape 36"/>
          <p:cNvSpPr/>
          <p:nvPr/>
        </p:nvSpPr>
        <p:spPr>
          <a:xfrm>
            <a:off x="8796528" y="3017520"/>
            <a:ext cx="292608" cy="256032"/>
          </a:xfrm>
          <a:prstGeom prst="roundRect">
            <a:avLst>
              <a:gd name="adj" fmla="val 21429"/>
            </a:avLst>
          </a:prstGeom>
          <a:solidFill>
            <a:srgbClr val="0A66C2"/>
          </a:solidFill>
          <a:ln/>
        </p:spPr>
      </p:sp>
      <p:sp>
        <p:nvSpPr>
          <p:cNvPr id="39" name="Text 37"/>
          <p:cNvSpPr txBox="1"/>
          <p:nvPr/>
        </p:nvSpPr>
        <p:spPr>
          <a:xfrm>
            <a:off x="8796528"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a:t>
            </a:r>
            <a:endParaRPr lang="en-US" sz="750" dirty="0"/>
          </a:p>
        </p:txBody>
      </p:sp>
      <p:sp>
        <p:nvSpPr>
          <p:cNvPr id="40" name="Shape 38"/>
          <p:cNvSpPr/>
          <p:nvPr/>
        </p:nvSpPr>
        <p:spPr>
          <a:xfrm>
            <a:off x="9171432" y="3017520"/>
            <a:ext cx="292608" cy="256032"/>
          </a:xfrm>
          <a:prstGeom prst="roundRect">
            <a:avLst>
              <a:gd name="adj" fmla="val 21429"/>
            </a:avLst>
          </a:prstGeom>
          <a:solidFill>
            <a:srgbClr val="111111"/>
          </a:solidFill>
          <a:ln/>
        </p:spPr>
      </p:sp>
      <p:sp>
        <p:nvSpPr>
          <p:cNvPr id="41" name="Text 39"/>
          <p:cNvSpPr txBox="1"/>
          <p:nvPr/>
        </p:nvSpPr>
        <p:spPr>
          <a:xfrm>
            <a:off x="917143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42" name="Shape 40"/>
          <p:cNvSpPr/>
          <p:nvPr/>
        </p:nvSpPr>
        <p:spPr>
          <a:xfrm>
            <a:off x="7296912" y="3419856"/>
            <a:ext cx="3968496" cy="420624"/>
          </a:xfrm>
          <a:prstGeom prst="roundRect">
            <a:avLst>
              <a:gd name="adj" fmla="val 10870"/>
            </a:avLst>
          </a:prstGeom>
          <a:solidFill>
            <a:srgbClr val="FBFAF6"/>
          </a:solidFill>
          <a:ln w="12700">
            <a:solidFill>
              <a:srgbClr val="E4DCC9"/>
            </a:solidFill>
            <a:prstDash val="solid"/>
          </a:ln>
        </p:spPr>
      </p:sp>
      <p:sp>
        <p:nvSpPr>
          <p:cNvPr id="43" name="Shape 41"/>
          <p:cNvSpPr/>
          <p:nvPr/>
        </p:nvSpPr>
        <p:spPr>
          <a:xfrm>
            <a:off x="7443216" y="3584448"/>
            <a:ext cx="91440" cy="91440"/>
          </a:xfrm>
          <a:prstGeom prst="ellipse">
            <a:avLst/>
          </a:prstGeom>
          <a:solidFill>
            <a:srgbClr val="E1306C"/>
          </a:solidFill>
          <a:ln/>
        </p:spPr>
      </p:sp>
      <p:sp>
        <p:nvSpPr>
          <p:cNvPr id="44" name="Text 42"/>
          <p:cNvSpPr txBox="1"/>
          <p:nvPr/>
        </p:nvSpPr>
        <p:spPr>
          <a:xfrm>
            <a:off x="7662672" y="3419856"/>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New unit spotlight</a:t>
            </a:r>
            <a:endParaRPr lang="en-US" sz="800" dirty="0"/>
          </a:p>
        </p:txBody>
      </p:sp>
      <p:sp>
        <p:nvSpPr>
          <p:cNvPr id="45" name="Shape 43"/>
          <p:cNvSpPr/>
          <p:nvPr/>
        </p:nvSpPr>
        <p:spPr>
          <a:xfrm>
            <a:off x="10287000" y="3511296"/>
            <a:ext cx="868680" cy="237744"/>
          </a:xfrm>
          <a:prstGeom prst="roundRect">
            <a:avLst>
              <a:gd name="adj" fmla="val 50000"/>
            </a:avLst>
          </a:prstGeom>
          <a:solidFill>
            <a:srgbClr val="FFFFFF"/>
          </a:solidFill>
          <a:ln w="12700">
            <a:solidFill>
              <a:srgbClr val="E4DCC9"/>
            </a:solidFill>
            <a:prstDash val="solid"/>
          </a:ln>
        </p:spPr>
      </p:sp>
      <p:sp>
        <p:nvSpPr>
          <p:cNvPr id="46" name="Text 44"/>
          <p:cNvSpPr txBox="1"/>
          <p:nvPr/>
        </p:nvSpPr>
        <p:spPr>
          <a:xfrm>
            <a:off x="10287000" y="3502152"/>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Tue 9:00</a:t>
            </a:r>
            <a:endParaRPr lang="en-US" sz="650" dirty="0"/>
          </a:p>
        </p:txBody>
      </p:sp>
      <p:sp>
        <p:nvSpPr>
          <p:cNvPr id="47" name="Shape 45"/>
          <p:cNvSpPr/>
          <p:nvPr/>
        </p:nvSpPr>
        <p:spPr>
          <a:xfrm>
            <a:off x="7296912" y="3950208"/>
            <a:ext cx="3968496" cy="420624"/>
          </a:xfrm>
          <a:prstGeom prst="roundRect">
            <a:avLst>
              <a:gd name="adj" fmla="val 10870"/>
            </a:avLst>
          </a:prstGeom>
          <a:solidFill>
            <a:srgbClr val="FBFAF6"/>
          </a:solidFill>
          <a:ln w="12700">
            <a:solidFill>
              <a:srgbClr val="E4DCC9"/>
            </a:solidFill>
            <a:prstDash val="solid"/>
          </a:ln>
        </p:spPr>
      </p:sp>
      <p:sp>
        <p:nvSpPr>
          <p:cNvPr id="48" name="Shape 46"/>
          <p:cNvSpPr/>
          <p:nvPr/>
        </p:nvSpPr>
        <p:spPr>
          <a:xfrm>
            <a:off x="7443216" y="4114800"/>
            <a:ext cx="91440" cy="91440"/>
          </a:xfrm>
          <a:prstGeom prst="ellipse">
            <a:avLst/>
          </a:prstGeom>
          <a:solidFill>
            <a:srgbClr val="1877F2"/>
          </a:solidFill>
          <a:ln/>
        </p:spPr>
      </p:sp>
      <p:sp>
        <p:nvSpPr>
          <p:cNvPr id="49" name="Text 47"/>
          <p:cNvSpPr txBox="1"/>
          <p:nvPr/>
        </p:nvSpPr>
        <p:spPr>
          <a:xfrm>
            <a:off x="7662672" y="3950208"/>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tip of the week</a:t>
            </a:r>
            <a:endParaRPr lang="en-US" sz="800" dirty="0"/>
          </a:p>
        </p:txBody>
      </p:sp>
      <p:sp>
        <p:nvSpPr>
          <p:cNvPr id="50" name="Shape 48"/>
          <p:cNvSpPr/>
          <p:nvPr/>
        </p:nvSpPr>
        <p:spPr>
          <a:xfrm>
            <a:off x="10287000" y="4041648"/>
            <a:ext cx="868680" cy="237744"/>
          </a:xfrm>
          <a:prstGeom prst="roundRect">
            <a:avLst>
              <a:gd name="adj" fmla="val 50000"/>
            </a:avLst>
          </a:prstGeom>
          <a:solidFill>
            <a:srgbClr val="FFFFFF"/>
          </a:solidFill>
          <a:ln w="12700">
            <a:solidFill>
              <a:srgbClr val="E4DCC9"/>
            </a:solidFill>
            <a:prstDash val="solid"/>
          </a:ln>
        </p:spPr>
      </p:sp>
      <p:sp>
        <p:nvSpPr>
          <p:cNvPr id="51" name="Text 49"/>
          <p:cNvSpPr txBox="1"/>
          <p:nvPr/>
        </p:nvSpPr>
        <p:spPr>
          <a:xfrm>
            <a:off x="10287000" y="4032504"/>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Wed 12:00</a:t>
            </a:r>
            <a:endParaRPr lang="en-US" sz="650" dirty="0"/>
          </a:p>
        </p:txBody>
      </p:sp>
      <p:sp>
        <p:nvSpPr>
          <p:cNvPr id="52" name="Shape 50"/>
          <p:cNvSpPr/>
          <p:nvPr/>
        </p:nvSpPr>
        <p:spPr>
          <a:xfrm>
            <a:off x="7296912" y="4480560"/>
            <a:ext cx="3968496" cy="420624"/>
          </a:xfrm>
          <a:prstGeom prst="roundRect">
            <a:avLst>
              <a:gd name="adj" fmla="val 10870"/>
            </a:avLst>
          </a:prstGeom>
          <a:solidFill>
            <a:srgbClr val="FBFAF6"/>
          </a:solidFill>
          <a:ln w="12700">
            <a:solidFill>
              <a:srgbClr val="E4DCC9"/>
            </a:solidFill>
            <a:prstDash val="solid"/>
          </a:ln>
        </p:spPr>
      </p:sp>
      <p:sp>
        <p:nvSpPr>
          <p:cNvPr id="53" name="Shape 51"/>
          <p:cNvSpPr/>
          <p:nvPr/>
        </p:nvSpPr>
        <p:spPr>
          <a:xfrm>
            <a:off x="7443216" y="4645152"/>
            <a:ext cx="91440" cy="91440"/>
          </a:xfrm>
          <a:prstGeom prst="ellipse">
            <a:avLst/>
          </a:prstGeom>
          <a:solidFill>
            <a:srgbClr val="FF0000"/>
          </a:solidFill>
          <a:ln/>
        </p:spPr>
      </p:sp>
      <p:sp>
        <p:nvSpPr>
          <p:cNvPr id="54" name="Text 52"/>
          <p:cNvSpPr txBox="1"/>
          <p:nvPr/>
        </p:nvSpPr>
        <p:spPr>
          <a:xfrm>
            <a:off x="7662672" y="4480560"/>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Classroom highlight</a:t>
            </a:r>
            <a:endParaRPr lang="en-US" sz="800" dirty="0"/>
          </a:p>
        </p:txBody>
      </p:sp>
      <p:sp>
        <p:nvSpPr>
          <p:cNvPr id="55" name="Shape 53"/>
          <p:cNvSpPr/>
          <p:nvPr/>
        </p:nvSpPr>
        <p:spPr>
          <a:xfrm>
            <a:off x="10287000" y="4572000"/>
            <a:ext cx="868680" cy="237744"/>
          </a:xfrm>
          <a:prstGeom prst="roundRect">
            <a:avLst>
              <a:gd name="adj" fmla="val 50000"/>
            </a:avLst>
          </a:prstGeom>
          <a:solidFill>
            <a:srgbClr val="FFFFFF"/>
          </a:solidFill>
          <a:ln w="12700">
            <a:solidFill>
              <a:srgbClr val="E4DCC9"/>
            </a:solidFill>
            <a:prstDash val="solid"/>
          </a:ln>
        </p:spPr>
      </p:sp>
      <p:sp>
        <p:nvSpPr>
          <p:cNvPr id="56" name="Text 54"/>
          <p:cNvSpPr txBox="1"/>
          <p:nvPr/>
        </p:nvSpPr>
        <p:spPr>
          <a:xfrm>
            <a:off x="10287000" y="4562856"/>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Thu 3:00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SUPPORT</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Customer Service hub</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ticket queue right in the Support hub body, so the team could work incoming issues without leaving the operating picture.</a:t>
            </a:r>
            <a:endParaRPr lang="en-US" sz="1500" dirty="0"/>
          </a:p>
        </p:txBody>
      </p:sp>
      <p:sp>
        <p:nvSpPr>
          <p:cNvPr id="7" name="Shape 5"/>
          <p:cNvSpPr/>
          <p:nvPr/>
        </p:nvSpPr>
        <p:spPr>
          <a:xfrm>
            <a:off x="822960" y="3657600"/>
            <a:ext cx="2108606"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Sorted support requests</a:t>
            </a:r>
            <a:endParaRPr lang="en-US" sz="1050" dirty="0"/>
          </a:p>
        </p:txBody>
      </p:sp>
      <p:sp>
        <p:nvSpPr>
          <p:cNvPr id="9" name="Shape 7"/>
          <p:cNvSpPr/>
          <p:nvPr/>
        </p:nvSpPr>
        <p:spPr>
          <a:xfrm>
            <a:off x="3096158"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242462" y="3799332"/>
            <a:ext cx="100584" cy="100584"/>
          </a:xfrm>
          <a:prstGeom prst="ellipse">
            <a:avLst/>
          </a:prstGeom>
          <a:solidFill>
            <a:srgbClr val="B0842F"/>
          </a:solidFill>
          <a:ln/>
        </p:spPr>
      </p:sp>
      <p:sp>
        <p:nvSpPr>
          <p:cNvPr id="11" name="Text 9"/>
          <p:cNvSpPr txBox="1"/>
          <p:nvPr/>
        </p:nvSpPr>
        <p:spPr>
          <a:xfrm>
            <a:off x="340705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2" name="Shape 10"/>
          <p:cNvSpPr/>
          <p:nvPr/>
        </p:nvSpPr>
        <p:spPr>
          <a:xfrm>
            <a:off x="6565392" y="1231580"/>
            <a:ext cx="5385816" cy="4394840"/>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support.png">    </p:cNvPr>
          <p:cNvPicPr>
            <a:picLocks noChangeAspect="1"/>
          </p:cNvPicPr>
          <p:nvPr/>
        </p:nvPicPr>
        <p:blipFill>
          <a:blip r:embed="rId1"/>
          <a:stretch>
            <a:fillRect/>
          </a:stretch>
        </p:blipFill>
        <p:spPr>
          <a:xfrm>
            <a:off x="6629400" y="1295588"/>
            <a:ext cx="5257800" cy="42668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INBOX</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Inbox &amp; messaging</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Conversations with each school kept in one place and sorted automatically, so a tech issue goes to tech and a content note goes to editorial.</a:t>
            </a:r>
            <a:endParaRPr lang="en-US" sz="1500" dirty="0"/>
          </a:p>
        </p:txBody>
      </p:sp>
      <p:sp>
        <p:nvSpPr>
          <p:cNvPr id="7" name="Shape 5"/>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Auto-sorted &amp; routed</a:t>
            </a:r>
            <a:endParaRPr lang="en-US" sz="1050" dirty="0"/>
          </a:p>
        </p:txBody>
      </p:sp>
      <p:sp>
        <p:nvSpPr>
          <p:cNvPr id="9" name="Shape 7"/>
          <p:cNvSpPr/>
          <p:nvPr/>
        </p:nvSpPr>
        <p:spPr>
          <a:xfrm>
            <a:off x="6565392" y="2248950"/>
            <a:ext cx="5385816" cy="2360101"/>
          </a:xfrm>
          <a:prstGeom prst="roundRect">
            <a:avLst>
              <a:gd name="adj" fmla="val 232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0" name="Image 0" descr="/private/tmp/claude-502/-Users-DRBTroy-Documents-Projects-DeepRoots/3b403855-4530-4100-a3e2-ac51fe60ce6e/scratchpad/screens/inbox.png">    </p:cNvPr>
          <p:cNvPicPr>
            <a:picLocks noChangeAspect="1"/>
          </p:cNvPicPr>
          <p:nvPr/>
        </p:nvPicPr>
        <p:blipFill>
          <a:blip r:embed="rId1"/>
          <a:stretch>
            <a:fillRect/>
          </a:stretch>
        </p:blipFill>
        <p:spPr>
          <a:xfrm>
            <a:off x="6629400" y="2312958"/>
            <a:ext cx="5257800" cy="223208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WORKFLOWS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Workflows: the “pizza-tracker” engine</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process runs as a simple step-by-step tracker (think pizza tracker) that nudges the next person automatically, across onboarding, offboarding, hiring, and new-school sign-ups.</a:t>
            </a:r>
            <a:endParaRPr lang="en-US" sz="1500" dirty="0"/>
          </a:p>
        </p:txBody>
      </p:sp>
      <p:sp>
        <p:nvSpPr>
          <p:cNvPr id="7" name="Shape 5"/>
          <p:cNvSpPr/>
          <p:nvPr/>
        </p:nvSpPr>
        <p:spPr>
          <a:xfrm>
            <a:off x="822960" y="3657600"/>
            <a:ext cx="1958645"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84325"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Step-by-step tracking</a:t>
            </a:r>
            <a:endParaRPr lang="en-US" sz="1050" dirty="0"/>
          </a:p>
        </p:txBody>
      </p:sp>
      <p:sp>
        <p:nvSpPr>
          <p:cNvPr id="9" name="Shape 7"/>
          <p:cNvSpPr/>
          <p:nvPr/>
        </p:nvSpPr>
        <p:spPr>
          <a:xfrm>
            <a:off x="2946197"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092501" y="3799332"/>
            <a:ext cx="100584" cy="100584"/>
          </a:xfrm>
          <a:prstGeom prst="ellipse">
            <a:avLst/>
          </a:prstGeom>
          <a:solidFill>
            <a:srgbClr val="B0842F"/>
          </a:solidFill>
          <a:ln/>
        </p:spPr>
      </p:sp>
      <p:sp>
        <p:nvSpPr>
          <p:cNvPr id="11" name="Text 9"/>
          <p:cNvSpPr txBox="1"/>
          <p:nvPr/>
        </p:nvSpPr>
        <p:spPr>
          <a:xfrm>
            <a:off x="3257093"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2" name="Shape 10"/>
          <p:cNvSpPr/>
          <p:nvPr/>
        </p:nvSpPr>
        <p:spPr>
          <a:xfrm>
            <a:off x="6565392" y="1231046"/>
            <a:ext cx="5385816" cy="4395908"/>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workflow-tracker.png">    </p:cNvPr>
          <p:cNvPicPr>
            <a:picLocks noChangeAspect="1"/>
          </p:cNvPicPr>
          <p:nvPr/>
        </p:nvPicPr>
        <p:blipFill>
          <a:blip r:embed="rId1"/>
          <a:stretch>
            <a:fillRect/>
          </a:stretch>
        </p:blipFill>
        <p:spPr>
          <a:xfrm>
            <a:off x="6629400" y="1295054"/>
            <a:ext cx="5257800" cy="426789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HAND-OFFS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Workflow hand-offs</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relay between departments: when one workflow finishes it hands the baton to the next, so work crosses teams without falling through the cracks.</a:t>
            </a:r>
            <a:endParaRPr lang="en-US" sz="1500" dirty="0"/>
          </a:p>
        </p:txBody>
      </p:sp>
      <p:sp>
        <p:nvSpPr>
          <p:cNvPr id="7" name="Shape 5"/>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Sales → Success → Finance</a:t>
            </a:r>
            <a:endParaRPr lang="en-US" sz="1050" dirty="0"/>
          </a:p>
        </p:txBody>
      </p:sp>
      <p:sp>
        <p:nvSpPr>
          <p:cNvPr id="9" name="Shape 7"/>
          <p:cNvSpPr/>
          <p:nvPr/>
        </p:nvSpPr>
        <p:spPr>
          <a:xfrm>
            <a:off x="3246120" y="3657600"/>
            <a:ext cx="1733702"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392424" y="3799332"/>
            <a:ext cx="100584" cy="100584"/>
          </a:xfrm>
          <a:prstGeom prst="ellipse">
            <a:avLst/>
          </a:prstGeom>
          <a:solidFill>
            <a:srgbClr val="B0842F"/>
          </a:solidFill>
          <a:ln/>
        </p:spPr>
      </p:sp>
      <p:sp>
        <p:nvSpPr>
          <p:cNvPr id="11" name="Text 9"/>
          <p:cNvSpPr txBox="1"/>
          <p:nvPr/>
        </p:nvSpPr>
        <p:spPr>
          <a:xfrm>
            <a:off x="3557016"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Automatic hand-off</a:t>
            </a:r>
            <a:endParaRPr lang="en-US" sz="1050" dirty="0"/>
          </a:p>
        </p:txBody>
      </p:sp>
      <p:sp>
        <p:nvSpPr>
          <p:cNvPr id="12" name="Shape 10"/>
          <p:cNvSpPr/>
          <p:nvPr/>
        </p:nvSpPr>
        <p:spPr>
          <a:xfrm>
            <a:off x="6565392" y="1668019"/>
            <a:ext cx="5385816" cy="3521963"/>
          </a:xfrm>
          <a:prstGeom prst="roundRect">
            <a:avLst>
              <a:gd name="adj" fmla="val 155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handoffs.png">    </p:cNvPr>
          <p:cNvPicPr>
            <a:picLocks noChangeAspect="1"/>
          </p:cNvPicPr>
          <p:nvPr/>
        </p:nvPicPr>
        <p:blipFill>
          <a:blip r:embed="rId1"/>
          <a:stretch>
            <a:fillRect/>
          </a:stretch>
        </p:blipFill>
        <p:spPr>
          <a:xfrm>
            <a:off x="6629400" y="1732027"/>
            <a:ext cx="5257800" cy="33939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PEOPLE &amp; HR</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People &amp; HR</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New-hire onboarding and offboarding run as guided, step-by-step checklists in the portal, with a simple applicant list for hiring.</a:t>
            </a:r>
            <a:endParaRPr lang="en-US" sz="1500" dirty="0"/>
          </a:p>
        </p:txBody>
      </p:sp>
      <p:sp>
        <p:nvSpPr>
          <p:cNvPr id="7" name="Shape 5"/>
          <p:cNvSpPr/>
          <p:nvPr/>
        </p:nvSpPr>
        <p:spPr>
          <a:xfrm>
            <a:off x="822960" y="3657600"/>
            <a:ext cx="1808683"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Guided step-by-step</a:t>
            </a:r>
            <a:endParaRPr lang="en-US" sz="1050" dirty="0"/>
          </a:p>
        </p:txBody>
      </p:sp>
      <p:sp>
        <p:nvSpPr>
          <p:cNvPr id="9" name="Shape 7"/>
          <p:cNvSpPr/>
          <p:nvPr/>
        </p:nvSpPr>
        <p:spPr>
          <a:xfrm>
            <a:off x="2796235" y="3657600"/>
            <a:ext cx="3158338"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2942539" y="3799332"/>
            <a:ext cx="100584" cy="100584"/>
          </a:xfrm>
          <a:prstGeom prst="ellipse">
            <a:avLst/>
          </a:prstGeom>
          <a:solidFill>
            <a:srgbClr val="B0842F"/>
          </a:solidFill>
          <a:ln/>
        </p:spPr>
      </p:sp>
      <p:sp>
        <p:nvSpPr>
          <p:cNvPr id="11" name="Text 9"/>
          <p:cNvSpPr txBox="1"/>
          <p:nvPr/>
        </p:nvSpPr>
        <p:spPr>
          <a:xfrm>
            <a:off x="3107131" y="3639312"/>
            <a:ext cx="288401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Offboarding · Recruiting</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people · onboarding</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21" name="Shape 19"/>
          <p:cNvSpPr/>
          <p:nvPr/>
        </p:nvSpPr>
        <p:spPr>
          <a:xfrm>
            <a:off x="7443216" y="2446020"/>
            <a:ext cx="100584" cy="100584"/>
          </a:xfrm>
          <a:prstGeom prst="ellipse">
            <a:avLst/>
          </a:prstGeom>
          <a:solidFill>
            <a:srgbClr val="5B7C46"/>
          </a:solidFill>
          <a:ln/>
        </p:spPr>
      </p:sp>
      <p:sp>
        <p:nvSpPr>
          <p:cNvPr id="22" name="Shape 20"/>
          <p:cNvSpPr/>
          <p:nvPr/>
        </p:nvSpPr>
        <p:spPr>
          <a:xfrm>
            <a:off x="7680960" y="2455164"/>
            <a:ext cx="1825508" cy="82296"/>
          </a:xfrm>
          <a:prstGeom prst="roundRect">
            <a:avLst>
              <a:gd name="adj" fmla="val 50000"/>
            </a:avLst>
          </a:prstGeom>
          <a:solidFill>
            <a:srgbClr val="E4DCC9"/>
          </a:solidFill>
          <a:ln/>
        </p:spPr>
      </p:sp>
      <p:sp>
        <p:nvSpPr>
          <p:cNvPr id="23" name="Shape 21"/>
          <p:cNvSpPr/>
          <p:nvPr/>
        </p:nvSpPr>
        <p:spPr>
          <a:xfrm>
            <a:off x="7680960" y="2455164"/>
            <a:ext cx="1314366" cy="82296"/>
          </a:xfrm>
          <a:prstGeom prst="roundRect">
            <a:avLst>
              <a:gd name="adj" fmla="val 50000"/>
            </a:avLst>
          </a:prstGeom>
          <a:solidFill>
            <a:srgbClr val="9C7C2E"/>
          </a:solidFill>
          <a:ln/>
        </p:spPr>
      </p:sp>
      <p:sp>
        <p:nvSpPr>
          <p:cNvPr id="24" name="Shape 22"/>
          <p:cNvSpPr/>
          <p:nvPr/>
        </p:nvSpPr>
        <p:spPr>
          <a:xfrm>
            <a:off x="10268712" y="2350008"/>
            <a:ext cx="868680" cy="292608"/>
          </a:xfrm>
          <a:prstGeom prst="roundRect">
            <a:avLst>
              <a:gd name="adj" fmla="val 50000"/>
            </a:avLst>
          </a:prstGeom>
          <a:solidFill>
            <a:srgbClr val="FFFFFF"/>
          </a:solidFill>
          <a:ln w="12700">
            <a:solidFill>
              <a:srgbClr val="E4DCC9"/>
            </a:solidFill>
            <a:prstDash val="solid"/>
          </a:ln>
        </p:spPr>
      </p:sp>
      <p:sp>
        <p:nvSpPr>
          <p:cNvPr id="25" name="Text 23"/>
          <p:cNvSpPr txBox="1"/>
          <p:nvPr/>
        </p:nvSpPr>
        <p:spPr>
          <a:xfrm>
            <a:off x="10268712" y="2340864"/>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day 2/10</a:t>
            </a:r>
            <a:endParaRPr lang="en-US" sz="850" dirty="0"/>
          </a:p>
        </p:txBody>
      </p:sp>
      <p:sp>
        <p:nvSpPr>
          <p:cNvPr id="26" name="Shape 24"/>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7" name="Shape 25"/>
          <p:cNvSpPr/>
          <p:nvPr/>
        </p:nvSpPr>
        <p:spPr>
          <a:xfrm>
            <a:off x="7443216" y="3140964"/>
            <a:ext cx="100584" cy="100584"/>
          </a:xfrm>
          <a:prstGeom prst="ellipse">
            <a:avLst/>
          </a:prstGeom>
          <a:solidFill>
            <a:srgbClr val="B0842F"/>
          </a:solidFill>
          <a:ln/>
        </p:spPr>
      </p:sp>
      <p:sp>
        <p:nvSpPr>
          <p:cNvPr id="28" name="Shape 26"/>
          <p:cNvSpPr/>
          <p:nvPr/>
        </p:nvSpPr>
        <p:spPr>
          <a:xfrm>
            <a:off x="7680960" y="3150108"/>
            <a:ext cx="1825508" cy="82296"/>
          </a:xfrm>
          <a:prstGeom prst="roundRect">
            <a:avLst>
              <a:gd name="adj" fmla="val 50000"/>
            </a:avLst>
          </a:prstGeom>
          <a:solidFill>
            <a:srgbClr val="E4DCC9"/>
          </a:solidFill>
          <a:ln/>
        </p:spPr>
      </p:sp>
      <p:sp>
        <p:nvSpPr>
          <p:cNvPr id="29" name="Shape 27"/>
          <p:cNvSpPr/>
          <p:nvPr/>
        </p:nvSpPr>
        <p:spPr>
          <a:xfrm>
            <a:off x="7680960" y="3150108"/>
            <a:ext cx="839734" cy="82296"/>
          </a:xfrm>
          <a:prstGeom prst="roundRect">
            <a:avLst>
              <a:gd name="adj" fmla="val 50000"/>
            </a:avLst>
          </a:prstGeom>
          <a:solidFill>
            <a:srgbClr val="9C7C2E"/>
          </a:solidFill>
          <a:ln/>
        </p:spPr>
      </p:sp>
      <p:sp>
        <p:nvSpPr>
          <p:cNvPr id="30" name="Shape 28"/>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31" name="Text 29"/>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blocked</a:t>
            </a:r>
            <a:endParaRPr lang="en-US" sz="850" dirty="0"/>
          </a:p>
        </p:txBody>
      </p:sp>
      <p:sp>
        <p:nvSpPr>
          <p:cNvPr id="32" name="Shape 30"/>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3" name="Shape 31"/>
          <p:cNvSpPr/>
          <p:nvPr/>
        </p:nvSpPr>
        <p:spPr>
          <a:xfrm>
            <a:off x="7443216" y="3835908"/>
            <a:ext cx="100584" cy="100584"/>
          </a:xfrm>
          <a:prstGeom prst="ellipse">
            <a:avLst/>
          </a:prstGeom>
          <a:solidFill>
            <a:srgbClr val="5B7C46"/>
          </a:solidFill>
          <a:ln/>
        </p:spPr>
      </p:sp>
      <p:sp>
        <p:nvSpPr>
          <p:cNvPr id="34" name="Shape 32"/>
          <p:cNvSpPr/>
          <p:nvPr/>
        </p:nvSpPr>
        <p:spPr>
          <a:xfrm>
            <a:off x="7680960" y="3845052"/>
            <a:ext cx="1825508" cy="82296"/>
          </a:xfrm>
          <a:prstGeom prst="roundRect">
            <a:avLst>
              <a:gd name="adj" fmla="val 50000"/>
            </a:avLst>
          </a:prstGeom>
          <a:solidFill>
            <a:srgbClr val="E4DCC9"/>
          </a:solidFill>
          <a:ln/>
        </p:spPr>
      </p:sp>
      <p:sp>
        <p:nvSpPr>
          <p:cNvPr id="35" name="Shape 33"/>
          <p:cNvSpPr/>
          <p:nvPr/>
        </p:nvSpPr>
        <p:spPr>
          <a:xfrm>
            <a:off x="7680960" y="3845052"/>
            <a:ext cx="1606447" cy="82296"/>
          </a:xfrm>
          <a:prstGeom prst="roundRect">
            <a:avLst>
              <a:gd name="adj" fmla="val 50000"/>
            </a:avLst>
          </a:prstGeom>
          <a:solidFill>
            <a:srgbClr val="9C7C2E"/>
          </a:solidFill>
          <a:ln/>
        </p:spPr>
      </p:sp>
      <p:sp>
        <p:nvSpPr>
          <p:cNvPr id="36" name="Shape 34"/>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7" name="Text 35"/>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queued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KNOWLEDGE BASE</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The Rooted Knowledge Base Wiki</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place to capture the company’s tribal knowledge: the how-tos, answers, and hard-won lessons that usually live in people’s heads. Any employee can add an article, search everything, and find the answer fast.</a:t>
            </a:r>
            <a:endParaRPr lang="en-US" sz="1500" dirty="0"/>
          </a:p>
        </p:txBody>
      </p:sp>
      <p:sp>
        <p:nvSpPr>
          <p:cNvPr id="7" name="Text 5"/>
          <p:cNvSpPr txBox="1"/>
          <p:nvPr/>
        </p:nvSpPr>
        <p:spPr>
          <a:xfrm>
            <a:off x="822960" y="3657600"/>
            <a:ext cx="5760720" cy="1426464"/>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Anyone can add or edit an article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Search across every how-to and answer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Seeded with your existing team Q&amp;A and FAQ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Turns tribal knowledge into a shared, searchable library</a:t>
            </a:r>
            <a:endParaRPr lang="en-US" sz="1350" dirty="0"/>
          </a:p>
        </p:txBody>
      </p:sp>
      <p:sp>
        <p:nvSpPr>
          <p:cNvPr id="8" name="Shape 6"/>
          <p:cNvSpPr/>
          <p:nvPr/>
        </p:nvSpPr>
        <p:spPr>
          <a:xfrm>
            <a:off x="822960" y="5266944"/>
            <a:ext cx="1883664"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5248656"/>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Everyone contributes</a:t>
            </a:r>
            <a:endParaRPr lang="en-US" sz="1050" dirty="0"/>
          </a:p>
        </p:txBody>
      </p:sp>
      <p:sp>
        <p:nvSpPr>
          <p:cNvPr id="10" name="Shape 8"/>
          <p:cNvSpPr/>
          <p:nvPr/>
        </p:nvSpPr>
        <p:spPr>
          <a:xfrm>
            <a:off x="2871216" y="5266944"/>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3017520" y="5408676"/>
            <a:ext cx="100584" cy="100584"/>
          </a:xfrm>
          <a:prstGeom prst="ellipse">
            <a:avLst/>
          </a:prstGeom>
          <a:solidFill>
            <a:srgbClr val="B0842F"/>
          </a:solidFill>
          <a:ln/>
        </p:spPr>
      </p:sp>
      <p:sp>
        <p:nvSpPr>
          <p:cNvPr id="12" name="Text 10"/>
          <p:cNvSpPr txBox="1"/>
          <p:nvPr/>
        </p:nvSpPr>
        <p:spPr>
          <a:xfrm>
            <a:off x="3182112" y="5248656"/>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Rooted Knowledge Base</a:t>
            </a: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3968496" cy="365760"/>
          </a:xfrm>
          <a:prstGeom prst="roundRect">
            <a:avLst>
              <a:gd name="adj" fmla="val 50000"/>
            </a:avLst>
          </a:prstGeom>
          <a:solidFill>
            <a:srgbClr val="FBFAF6"/>
          </a:solidFill>
          <a:ln w="12700">
            <a:solidFill>
              <a:srgbClr val="E4DCC9"/>
            </a:solidFill>
            <a:prstDash val="solid"/>
          </a:ln>
        </p:spPr>
      </p:sp>
      <p:sp>
        <p:nvSpPr>
          <p:cNvPr id="22" name="Shape 20"/>
          <p:cNvSpPr/>
          <p:nvPr/>
        </p:nvSpPr>
        <p:spPr>
          <a:xfrm>
            <a:off x="7479792" y="2322576"/>
            <a:ext cx="137160" cy="137160"/>
          </a:xfrm>
          <a:prstGeom prst="ellipse">
            <a:avLst/>
          </a:prstGeom>
          <a:ln w="15875">
            <a:solidFill>
              <a:srgbClr val="7A7266"/>
            </a:solidFill>
            <a:prstDash val="solid"/>
          </a:ln>
        </p:spPr>
      </p:sp>
      <p:sp>
        <p:nvSpPr>
          <p:cNvPr id="23" name="Shape 21"/>
          <p:cNvSpPr/>
          <p:nvPr/>
        </p:nvSpPr>
        <p:spPr>
          <a:xfrm>
            <a:off x="7589520" y="2432304"/>
            <a:ext cx="54864" cy="54864"/>
          </a:xfrm>
          <a:prstGeom prst="line">
            <a:avLst/>
          </a:prstGeom>
          <a:noFill/>
          <a:ln w="15875">
            <a:solidFill>
              <a:srgbClr val="7A7266"/>
            </a:solidFill>
            <a:prstDash val="solid"/>
          </a:ln>
        </p:spPr>
      </p:sp>
      <p:sp>
        <p:nvSpPr>
          <p:cNvPr id="24" name="Text 22"/>
          <p:cNvSpPr txBox="1"/>
          <p:nvPr/>
        </p:nvSpPr>
        <p:spPr>
          <a:xfrm>
            <a:off x="7717536" y="2212848"/>
            <a:ext cx="341985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Search the knowledge base…</a:t>
            </a:r>
            <a:endParaRPr lang="en-US" sz="850" dirty="0"/>
          </a:p>
        </p:txBody>
      </p:sp>
      <p:sp>
        <p:nvSpPr>
          <p:cNvPr id="25" name="Shape 23"/>
          <p:cNvSpPr/>
          <p:nvPr/>
        </p:nvSpPr>
        <p:spPr>
          <a:xfrm>
            <a:off x="7296912" y="2688336"/>
            <a:ext cx="877824" cy="256032"/>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7296912"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Onboarding</a:t>
            </a:r>
            <a:endParaRPr lang="en-US" sz="750" dirty="0"/>
          </a:p>
        </p:txBody>
      </p:sp>
      <p:sp>
        <p:nvSpPr>
          <p:cNvPr id="27" name="Shape 25"/>
          <p:cNvSpPr/>
          <p:nvPr/>
        </p:nvSpPr>
        <p:spPr>
          <a:xfrm>
            <a:off x="8266176" y="2688336"/>
            <a:ext cx="594360" cy="256032"/>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8266176" y="2679192"/>
            <a:ext cx="594360"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a:t>
            </a:r>
            <a:endParaRPr lang="en-US" sz="750" dirty="0"/>
          </a:p>
        </p:txBody>
      </p:sp>
      <p:sp>
        <p:nvSpPr>
          <p:cNvPr id="29" name="Shape 27"/>
          <p:cNvSpPr/>
          <p:nvPr/>
        </p:nvSpPr>
        <p:spPr>
          <a:xfrm>
            <a:off x="8951976" y="2688336"/>
            <a:ext cx="537667" cy="256032"/>
          </a:xfrm>
          <a:prstGeom prst="roundRect">
            <a:avLst>
              <a:gd name="adj" fmla="val 50000"/>
            </a:avLst>
          </a:prstGeom>
          <a:solidFill>
            <a:srgbClr val="FFFFFF"/>
          </a:solidFill>
          <a:ln w="12700">
            <a:solidFill>
              <a:srgbClr val="E4DCC9"/>
            </a:solidFill>
            <a:prstDash val="solid"/>
          </a:ln>
        </p:spPr>
      </p:sp>
      <p:sp>
        <p:nvSpPr>
          <p:cNvPr id="30" name="Text 28"/>
          <p:cNvSpPr txBox="1"/>
          <p:nvPr/>
        </p:nvSpPr>
        <p:spPr>
          <a:xfrm>
            <a:off x="8951976" y="2679192"/>
            <a:ext cx="537667"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Tech</a:t>
            </a:r>
            <a:endParaRPr lang="en-US" sz="750" dirty="0"/>
          </a:p>
        </p:txBody>
      </p:sp>
      <p:sp>
        <p:nvSpPr>
          <p:cNvPr id="31" name="Shape 29"/>
          <p:cNvSpPr/>
          <p:nvPr/>
        </p:nvSpPr>
        <p:spPr>
          <a:xfrm>
            <a:off x="9581083" y="2688336"/>
            <a:ext cx="877824" cy="256032"/>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581083"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Curriculum</a:t>
            </a:r>
            <a:endParaRPr lang="en-US" sz="750" dirty="0"/>
          </a:p>
        </p:txBody>
      </p:sp>
      <p:sp>
        <p:nvSpPr>
          <p:cNvPr id="33" name="Shape 31"/>
          <p:cNvSpPr/>
          <p:nvPr/>
        </p:nvSpPr>
        <p:spPr>
          <a:xfrm>
            <a:off x="7296912" y="3108960"/>
            <a:ext cx="3968496" cy="402336"/>
          </a:xfrm>
          <a:prstGeom prst="roundRect">
            <a:avLst>
              <a:gd name="adj" fmla="val 11364"/>
            </a:avLst>
          </a:prstGeom>
          <a:solidFill>
            <a:srgbClr val="FBFAF6"/>
          </a:solidFill>
          <a:ln w="12700">
            <a:solidFill>
              <a:srgbClr val="E4DCC9"/>
            </a:solidFill>
            <a:prstDash val="solid"/>
          </a:ln>
        </p:spPr>
      </p:sp>
      <p:sp>
        <p:nvSpPr>
          <p:cNvPr id="34" name="Shape 32"/>
          <p:cNvSpPr/>
          <p:nvPr/>
        </p:nvSpPr>
        <p:spPr>
          <a:xfrm>
            <a:off x="7443216" y="3264408"/>
            <a:ext cx="91440" cy="91440"/>
          </a:xfrm>
          <a:prstGeom prst="ellipse">
            <a:avLst/>
          </a:prstGeom>
          <a:solidFill>
            <a:srgbClr val="9C7C2E"/>
          </a:solidFill>
          <a:ln/>
        </p:spPr>
      </p:sp>
      <p:sp>
        <p:nvSpPr>
          <p:cNvPr id="35" name="Text 33"/>
          <p:cNvSpPr txBox="1"/>
          <p:nvPr/>
        </p:nvSpPr>
        <p:spPr>
          <a:xfrm>
            <a:off x="7662672" y="3108960"/>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Reset a student login</a:t>
            </a:r>
            <a:endParaRPr lang="en-US" sz="850" dirty="0"/>
          </a:p>
        </p:txBody>
      </p:sp>
      <p:sp>
        <p:nvSpPr>
          <p:cNvPr id="36" name="Shape 34"/>
          <p:cNvSpPr/>
          <p:nvPr/>
        </p:nvSpPr>
        <p:spPr>
          <a:xfrm>
            <a:off x="10356494" y="3191256"/>
            <a:ext cx="780898" cy="237744"/>
          </a:xfrm>
          <a:prstGeom prst="roundRect">
            <a:avLst>
              <a:gd name="adj" fmla="val 50000"/>
            </a:avLst>
          </a:prstGeom>
          <a:solidFill>
            <a:srgbClr val="FFFFFF"/>
          </a:solidFill>
          <a:ln w="12700">
            <a:solidFill>
              <a:srgbClr val="E4DCC9"/>
            </a:solidFill>
            <a:prstDash val="solid"/>
          </a:ln>
        </p:spPr>
      </p:sp>
      <p:sp>
        <p:nvSpPr>
          <p:cNvPr id="37" name="Text 35"/>
          <p:cNvSpPr txBox="1"/>
          <p:nvPr/>
        </p:nvSpPr>
        <p:spPr>
          <a:xfrm>
            <a:off x="10356494" y="3182112"/>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Support</a:t>
            </a:r>
            <a:endParaRPr lang="en-US" sz="700" dirty="0"/>
          </a:p>
        </p:txBody>
      </p:sp>
      <p:sp>
        <p:nvSpPr>
          <p:cNvPr id="38" name="Shape 36"/>
          <p:cNvSpPr/>
          <p:nvPr/>
        </p:nvSpPr>
        <p:spPr>
          <a:xfrm>
            <a:off x="7296912" y="3602736"/>
            <a:ext cx="3968496" cy="402336"/>
          </a:xfrm>
          <a:prstGeom prst="roundRect">
            <a:avLst>
              <a:gd name="adj" fmla="val 11364"/>
            </a:avLst>
          </a:prstGeom>
          <a:solidFill>
            <a:srgbClr val="FBFAF6"/>
          </a:solidFill>
          <a:ln w="12700">
            <a:solidFill>
              <a:srgbClr val="E4DCC9"/>
            </a:solidFill>
            <a:prstDash val="solid"/>
          </a:ln>
        </p:spPr>
      </p:sp>
      <p:sp>
        <p:nvSpPr>
          <p:cNvPr id="39" name="Shape 37"/>
          <p:cNvSpPr/>
          <p:nvPr/>
        </p:nvSpPr>
        <p:spPr>
          <a:xfrm>
            <a:off x="7443216" y="3758184"/>
            <a:ext cx="91440" cy="91440"/>
          </a:xfrm>
          <a:prstGeom prst="ellipse">
            <a:avLst/>
          </a:prstGeom>
          <a:solidFill>
            <a:srgbClr val="9C7C2E"/>
          </a:solidFill>
          <a:ln/>
        </p:spPr>
      </p:sp>
      <p:sp>
        <p:nvSpPr>
          <p:cNvPr id="40" name="Text 38"/>
          <p:cNvSpPr txBox="1"/>
          <p:nvPr/>
        </p:nvSpPr>
        <p:spPr>
          <a:xfrm>
            <a:off x="7662672" y="3602736"/>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New-school setup checklist</a:t>
            </a:r>
            <a:endParaRPr lang="en-US" sz="850" dirty="0"/>
          </a:p>
        </p:txBody>
      </p:sp>
      <p:sp>
        <p:nvSpPr>
          <p:cNvPr id="41" name="Shape 39"/>
          <p:cNvSpPr/>
          <p:nvPr/>
        </p:nvSpPr>
        <p:spPr>
          <a:xfrm>
            <a:off x="10356494" y="3685032"/>
            <a:ext cx="780898" cy="237744"/>
          </a:xfrm>
          <a:prstGeom prst="roundRect">
            <a:avLst>
              <a:gd name="adj" fmla="val 50000"/>
            </a:avLst>
          </a:prstGeom>
          <a:solidFill>
            <a:srgbClr val="FFFFFF"/>
          </a:solidFill>
          <a:ln w="12700">
            <a:solidFill>
              <a:srgbClr val="E4DCC9"/>
            </a:solidFill>
            <a:prstDash val="solid"/>
          </a:ln>
        </p:spPr>
      </p:sp>
      <p:sp>
        <p:nvSpPr>
          <p:cNvPr id="42" name="Text 40"/>
          <p:cNvSpPr txBox="1"/>
          <p:nvPr/>
        </p:nvSpPr>
        <p:spPr>
          <a:xfrm>
            <a:off x="10356494" y="3675888"/>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Success</a:t>
            </a:r>
            <a:endParaRPr lang="en-US" sz="700" dirty="0"/>
          </a:p>
        </p:txBody>
      </p:sp>
      <p:sp>
        <p:nvSpPr>
          <p:cNvPr id="43" name="Shape 41"/>
          <p:cNvSpPr/>
          <p:nvPr/>
        </p:nvSpPr>
        <p:spPr>
          <a:xfrm>
            <a:off x="7296912" y="4096512"/>
            <a:ext cx="3968496" cy="402336"/>
          </a:xfrm>
          <a:prstGeom prst="roundRect">
            <a:avLst>
              <a:gd name="adj" fmla="val 11364"/>
            </a:avLst>
          </a:prstGeom>
          <a:solidFill>
            <a:srgbClr val="FBFAF6"/>
          </a:solidFill>
          <a:ln w="12700">
            <a:solidFill>
              <a:srgbClr val="E4DCC9"/>
            </a:solidFill>
            <a:prstDash val="solid"/>
          </a:ln>
        </p:spPr>
      </p:sp>
      <p:sp>
        <p:nvSpPr>
          <p:cNvPr id="44" name="Shape 42"/>
          <p:cNvSpPr/>
          <p:nvPr/>
        </p:nvSpPr>
        <p:spPr>
          <a:xfrm>
            <a:off x="7443216" y="4251960"/>
            <a:ext cx="91440" cy="91440"/>
          </a:xfrm>
          <a:prstGeom prst="ellipse">
            <a:avLst/>
          </a:prstGeom>
          <a:solidFill>
            <a:srgbClr val="9C7C2E"/>
          </a:solidFill>
          <a:ln/>
        </p:spPr>
      </p:sp>
      <p:sp>
        <p:nvSpPr>
          <p:cNvPr id="45" name="Text 43"/>
          <p:cNvSpPr txBox="1"/>
          <p:nvPr/>
        </p:nvSpPr>
        <p:spPr>
          <a:xfrm>
            <a:off x="7662672" y="4096512"/>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Refund &amp; billing policy</a:t>
            </a:r>
            <a:endParaRPr lang="en-US" sz="850" dirty="0"/>
          </a:p>
        </p:txBody>
      </p:sp>
      <p:sp>
        <p:nvSpPr>
          <p:cNvPr id="46" name="Shape 44"/>
          <p:cNvSpPr/>
          <p:nvPr/>
        </p:nvSpPr>
        <p:spPr>
          <a:xfrm>
            <a:off x="10356494" y="4178808"/>
            <a:ext cx="780898" cy="237744"/>
          </a:xfrm>
          <a:prstGeom prst="roundRect">
            <a:avLst>
              <a:gd name="adj" fmla="val 50000"/>
            </a:avLst>
          </a:prstGeom>
          <a:solidFill>
            <a:srgbClr val="FFFFFF"/>
          </a:solidFill>
          <a:ln w="12700">
            <a:solidFill>
              <a:srgbClr val="E4DCC9"/>
            </a:solidFill>
            <a:prstDash val="solid"/>
          </a:ln>
        </p:spPr>
      </p:sp>
      <p:sp>
        <p:nvSpPr>
          <p:cNvPr id="47" name="Text 45"/>
          <p:cNvSpPr txBox="1"/>
          <p:nvPr/>
        </p:nvSpPr>
        <p:spPr>
          <a:xfrm>
            <a:off x="10356494" y="4169664"/>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Finance</a:t>
            </a:r>
            <a:endParaRPr lang="en-US" sz="700" dirty="0"/>
          </a:p>
        </p:txBody>
      </p:sp>
      <p:sp>
        <p:nvSpPr>
          <p:cNvPr id="48" name="Shape 46"/>
          <p:cNvSpPr/>
          <p:nvPr/>
        </p:nvSpPr>
        <p:spPr>
          <a:xfrm>
            <a:off x="7296912" y="4590288"/>
            <a:ext cx="1417320" cy="347472"/>
          </a:xfrm>
          <a:prstGeom prst="roundRect">
            <a:avLst>
              <a:gd name="adj" fmla="val 50000"/>
            </a:avLst>
          </a:prstGeom>
          <a:solidFill>
            <a:srgbClr val="9C7C2E"/>
          </a:solidFill>
          <a:ln/>
        </p:spPr>
      </p:sp>
      <p:sp>
        <p:nvSpPr>
          <p:cNvPr id="49" name="Text 47"/>
          <p:cNvSpPr txBox="1"/>
          <p:nvPr/>
        </p:nvSpPr>
        <p:spPr>
          <a:xfrm>
            <a:off x="7296912" y="4581144"/>
            <a:ext cx="1417320" cy="35661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 Add article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SETTINGS</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Connections &amp; Vault</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Turn each connection on or off from the portal. Passwords and keys go straight into a secure vault, never pasted into chat, with a dashboard showing what’s connected.</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Connects Salesforce, the learning platform, email, and more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Managed by an admin</a:t>
            </a:r>
            <a:endParaRPr lang="en-US" sz="1350" dirty="0"/>
          </a:p>
        </p:txBody>
      </p:sp>
      <p:sp>
        <p:nvSpPr>
          <p:cNvPr id="8" name="Shape 6"/>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9" name="Shape 7"/>
          <p:cNvSpPr/>
          <p:nvPr/>
        </p:nvSpPr>
        <p:spPr>
          <a:xfrm>
            <a:off x="7040880" y="1645920"/>
            <a:ext cx="4480560" cy="384048"/>
          </a:xfrm>
          <a:prstGeom prst="roundRect">
            <a:avLst>
              <a:gd name="adj" fmla="val 28571"/>
            </a:avLst>
          </a:prstGeom>
          <a:solidFill>
            <a:srgbClr val="FBFAF6"/>
          </a:solidFill>
          <a:ln/>
        </p:spPr>
      </p:sp>
      <p:sp>
        <p:nvSpPr>
          <p:cNvPr id="10" name="Shape 8"/>
          <p:cNvSpPr/>
          <p:nvPr/>
        </p:nvSpPr>
        <p:spPr>
          <a:xfrm>
            <a:off x="7040880" y="1901952"/>
            <a:ext cx="4480560" cy="128016"/>
          </a:xfrm>
          <a:prstGeom prst="rect">
            <a:avLst/>
          </a:prstGeom>
          <a:solidFill>
            <a:srgbClr val="FBFAF6"/>
          </a:solidFill>
          <a:ln/>
        </p:spPr>
      </p:sp>
      <p:sp>
        <p:nvSpPr>
          <p:cNvPr id="11" name="Shape 9"/>
          <p:cNvSpPr/>
          <p:nvPr/>
        </p:nvSpPr>
        <p:spPr>
          <a:xfrm>
            <a:off x="7205472" y="1783080"/>
            <a:ext cx="100584" cy="100584"/>
          </a:xfrm>
          <a:prstGeom prst="ellipse">
            <a:avLst/>
          </a:prstGeom>
          <a:solidFill>
            <a:srgbClr val="C9BFA9"/>
          </a:solidFill>
          <a:ln/>
        </p:spPr>
      </p:sp>
      <p:sp>
        <p:nvSpPr>
          <p:cNvPr id="12" name="Shape 10"/>
          <p:cNvSpPr/>
          <p:nvPr/>
        </p:nvSpPr>
        <p:spPr>
          <a:xfrm>
            <a:off x="7388352" y="1783080"/>
            <a:ext cx="100584" cy="100584"/>
          </a:xfrm>
          <a:prstGeom prst="ellipse">
            <a:avLst/>
          </a:prstGeom>
          <a:solidFill>
            <a:srgbClr val="C9BFA9"/>
          </a:solidFill>
          <a:ln/>
        </p:spPr>
      </p:sp>
      <p:sp>
        <p:nvSpPr>
          <p:cNvPr id="13" name="Shape 11"/>
          <p:cNvSpPr/>
          <p:nvPr/>
        </p:nvSpPr>
        <p:spPr>
          <a:xfrm>
            <a:off x="7571232" y="1783080"/>
            <a:ext cx="100584" cy="100584"/>
          </a:xfrm>
          <a:prstGeom prst="ellipse">
            <a:avLst/>
          </a:prstGeom>
          <a:solidFill>
            <a:srgbClr val="C9BFA9"/>
          </a:solidFill>
          <a:ln/>
        </p:spPr>
      </p:sp>
      <p:sp>
        <p:nvSpPr>
          <p:cNvPr id="14" name="Text 12"/>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Connections</a:t>
            </a:r>
            <a:endParaRPr lang="en-US" sz="900" dirty="0"/>
          </a:p>
        </p:txBody>
      </p:sp>
      <p:sp>
        <p:nvSpPr>
          <p:cNvPr id="15" name="Shape 13"/>
          <p:cNvSpPr/>
          <p:nvPr/>
        </p:nvSpPr>
        <p:spPr>
          <a:xfrm>
            <a:off x="7040880" y="2029968"/>
            <a:ext cx="4480560" cy="0"/>
          </a:xfrm>
          <a:prstGeom prst="line">
            <a:avLst/>
          </a:prstGeom>
          <a:noFill/>
          <a:ln w="12700">
            <a:solidFill>
              <a:srgbClr val="E4DCC9"/>
            </a:solidFill>
            <a:prstDash val="solid"/>
          </a:ln>
        </p:spPr>
      </p:sp>
      <p:sp>
        <p:nvSpPr>
          <p:cNvPr id="16" name="Shape 14"/>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7" name="Shape 15"/>
          <p:cNvSpPr/>
          <p:nvPr/>
        </p:nvSpPr>
        <p:spPr>
          <a:xfrm>
            <a:off x="7443216" y="2446020"/>
            <a:ext cx="100584" cy="100584"/>
          </a:xfrm>
          <a:prstGeom prst="ellipse">
            <a:avLst/>
          </a:prstGeom>
          <a:solidFill>
            <a:srgbClr val="5B7C46"/>
          </a:solidFill>
          <a:ln/>
        </p:spPr>
      </p:sp>
      <p:sp>
        <p:nvSpPr>
          <p:cNvPr id="18" name="Shape 16"/>
          <p:cNvSpPr/>
          <p:nvPr/>
        </p:nvSpPr>
        <p:spPr>
          <a:xfrm>
            <a:off x="7680960" y="2455164"/>
            <a:ext cx="1825508" cy="82296"/>
          </a:xfrm>
          <a:prstGeom prst="roundRect">
            <a:avLst>
              <a:gd name="adj" fmla="val 50000"/>
            </a:avLst>
          </a:prstGeom>
          <a:solidFill>
            <a:srgbClr val="E4DCC9"/>
          </a:solidFill>
          <a:ln/>
        </p:spPr>
      </p:sp>
      <p:sp>
        <p:nvSpPr>
          <p:cNvPr id="19" name="Shape 17"/>
          <p:cNvSpPr/>
          <p:nvPr/>
        </p:nvSpPr>
        <p:spPr>
          <a:xfrm>
            <a:off x="7680960" y="2455164"/>
            <a:ext cx="1314366" cy="82296"/>
          </a:xfrm>
          <a:prstGeom prst="roundRect">
            <a:avLst>
              <a:gd name="adj" fmla="val 50000"/>
            </a:avLst>
          </a:prstGeom>
          <a:solidFill>
            <a:srgbClr val="9C7C2E"/>
          </a:solidFill>
          <a:ln/>
        </p:spPr>
      </p:sp>
      <p:sp>
        <p:nvSpPr>
          <p:cNvPr id="20" name="Shape 18"/>
          <p:cNvSpPr/>
          <p:nvPr/>
        </p:nvSpPr>
        <p:spPr>
          <a:xfrm>
            <a:off x="10200132" y="2350008"/>
            <a:ext cx="937260" cy="292608"/>
          </a:xfrm>
          <a:prstGeom prst="roundRect">
            <a:avLst>
              <a:gd name="adj" fmla="val 50000"/>
            </a:avLst>
          </a:prstGeom>
          <a:solidFill>
            <a:srgbClr val="FFFFFF"/>
          </a:solidFill>
          <a:ln w="12700">
            <a:solidFill>
              <a:srgbClr val="E4DCC9"/>
            </a:solidFill>
            <a:prstDash val="solid"/>
          </a:ln>
        </p:spPr>
      </p:sp>
      <p:sp>
        <p:nvSpPr>
          <p:cNvPr id="21" name="Text 19"/>
          <p:cNvSpPr txBox="1"/>
          <p:nvPr/>
        </p:nvSpPr>
        <p:spPr>
          <a:xfrm>
            <a:off x="10200132" y="2340864"/>
            <a:ext cx="9372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connected</a:t>
            </a:r>
            <a:endParaRPr lang="en-US" sz="850" dirty="0"/>
          </a:p>
        </p:txBody>
      </p:sp>
      <p:sp>
        <p:nvSpPr>
          <p:cNvPr id="22" name="Shape 20"/>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3" name="Shape 21"/>
          <p:cNvSpPr/>
          <p:nvPr/>
        </p:nvSpPr>
        <p:spPr>
          <a:xfrm>
            <a:off x="7443216" y="3140964"/>
            <a:ext cx="100584" cy="100584"/>
          </a:xfrm>
          <a:prstGeom prst="ellipse">
            <a:avLst/>
          </a:prstGeom>
          <a:solidFill>
            <a:srgbClr val="B0842F"/>
          </a:solidFill>
          <a:ln/>
        </p:spPr>
      </p:sp>
      <p:sp>
        <p:nvSpPr>
          <p:cNvPr id="24" name="Shape 22"/>
          <p:cNvSpPr/>
          <p:nvPr/>
        </p:nvSpPr>
        <p:spPr>
          <a:xfrm>
            <a:off x="7680960" y="3150108"/>
            <a:ext cx="1825508" cy="82296"/>
          </a:xfrm>
          <a:prstGeom prst="roundRect">
            <a:avLst>
              <a:gd name="adj" fmla="val 50000"/>
            </a:avLst>
          </a:prstGeom>
          <a:solidFill>
            <a:srgbClr val="E4DCC9"/>
          </a:solidFill>
          <a:ln/>
        </p:spPr>
      </p:sp>
      <p:sp>
        <p:nvSpPr>
          <p:cNvPr id="25" name="Shape 23"/>
          <p:cNvSpPr/>
          <p:nvPr/>
        </p:nvSpPr>
        <p:spPr>
          <a:xfrm>
            <a:off x="7680960" y="3150108"/>
            <a:ext cx="839734" cy="82296"/>
          </a:xfrm>
          <a:prstGeom prst="roundRect">
            <a:avLst>
              <a:gd name="adj" fmla="val 50000"/>
            </a:avLst>
          </a:prstGeom>
          <a:solidFill>
            <a:srgbClr val="9C7C2E"/>
          </a:solidFill>
          <a:ln/>
        </p:spPr>
      </p:sp>
      <p:sp>
        <p:nvSpPr>
          <p:cNvPr id="26" name="Shape 24"/>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7" name="Text 25"/>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not set</a:t>
            </a:r>
            <a:endParaRPr lang="en-US" sz="850" dirty="0"/>
          </a:p>
        </p:txBody>
      </p:sp>
      <p:sp>
        <p:nvSpPr>
          <p:cNvPr id="28" name="Shape 26"/>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29" name="Shape 27"/>
          <p:cNvSpPr/>
          <p:nvPr/>
        </p:nvSpPr>
        <p:spPr>
          <a:xfrm>
            <a:off x="7443216" y="3835908"/>
            <a:ext cx="100584" cy="100584"/>
          </a:xfrm>
          <a:prstGeom prst="ellipse">
            <a:avLst/>
          </a:prstGeom>
          <a:solidFill>
            <a:srgbClr val="5B7C46"/>
          </a:solidFill>
          <a:ln/>
        </p:spPr>
      </p:sp>
      <p:sp>
        <p:nvSpPr>
          <p:cNvPr id="30" name="Shape 28"/>
          <p:cNvSpPr/>
          <p:nvPr/>
        </p:nvSpPr>
        <p:spPr>
          <a:xfrm>
            <a:off x="7680960" y="3845052"/>
            <a:ext cx="1825508" cy="82296"/>
          </a:xfrm>
          <a:prstGeom prst="roundRect">
            <a:avLst>
              <a:gd name="adj" fmla="val 50000"/>
            </a:avLst>
          </a:prstGeom>
          <a:solidFill>
            <a:srgbClr val="E4DCC9"/>
          </a:solidFill>
          <a:ln/>
        </p:spPr>
      </p:sp>
      <p:sp>
        <p:nvSpPr>
          <p:cNvPr id="31" name="Shape 29"/>
          <p:cNvSpPr/>
          <p:nvPr/>
        </p:nvSpPr>
        <p:spPr>
          <a:xfrm>
            <a:off x="7680960" y="3845052"/>
            <a:ext cx="1606447" cy="82296"/>
          </a:xfrm>
          <a:prstGeom prst="roundRect">
            <a:avLst>
              <a:gd name="adj" fmla="val 50000"/>
            </a:avLst>
          </a:prstGeom>
          <a:solidFill>
            <a:srgbClr val="9C7C2E"/>
          </a:solidFill>
          <a:ln/>
        </p:spPr>
      </p:sp>
      <p:sp>
        <p:nvSpPr>
          <p:cNvPr id="32" name="Shape 30"/>
          <p:cNvSpPr/>
          <p:nvPr/>
        </p:nvSpPr>
        <p:spPr>
          <a:xfrm>
            <a:off x="10474452" y="3739896"/>
            <a:ext cx="662940" cy="292608"/>
          </a:xfrm>
          <a:prstGeom prst="roundRect">
            <a:avLst>
              <a:gd name="adj" fmla="val 50000"/>
            </a:avLst>
          </a:prstGeom>
          <a:solidFill>
            <a:srgbClr val="FFFFFF"/>
          </a:solidFill>
          <a:ln w="12700">
            <a:solidFill>
              <a:srgbClr val="E4DCC9"/>
            </a:solidFill>
            <a:prstDash val="solid"/>
          </a:ln>
        </p:spPr>
      </p:sp>
      <p:sp>
        <p:nvSpPr>
          <p:cNvPr id="33" name="Text 31"/>
          <p:cNvSpPr txBox="1"/>
          <p:nvPr/>
        </p:nvSpPr>
        <p:spPr>
          <a:xfrm>
            <a:off x="10474452" y="3730752"/>
            <a:ext cx="66294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vault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TWO</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School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third surface, a Salesforce-powered directory and rich, self-serve pages for every partner school.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DIRECTORY</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directory</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Salesforce-powered directory that separates schools still being set up from active customers, with a state filter and a rooftop map.</a:t>
            </a:r>
            <a:endParaRPr lang="en-US" sz="1500" dirty="0"/>
          </a:p>
        </p:txBody>
      </p:sp>
      <p:sp>
        <p:nvSpPr>
          <p:cNvPr id="7" name="Shape 5"/>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Live from Salesforce</a:t>
            </a:r>
            <a:endParaRPr lang="en-US" sz="1050" dirty="0"/>
          </a:p>
        </p:txBody>
      </p:sp>
      <p:sp>
        <p:nvSpPr>
          <p:cNvPr id="9" name="Shape 7"/>
          <p:cNvSpPr/>
          <p:nvPr/>
        </p:nvSpPr>
        <p:spPr>
          <a:xfrm>
            <a:off x="2871216" y="3657600"/>
            <a:ext cx="1808683" cy="384048"/>
          </a:xfrm>
          <a:prstGeom prst="roundRect">
            <a:avLst>
              <a:gd name="adj" fmla="val 50000"/>
            </a:avLst>
          </a:prstGeom>
          <a:solidFill>
            <a:srgbClr val="FFFFFF"/>
          </a:solidFill>
          <a:ln w="12700">
            <a:solidFill>
              <a:srgbClr val="E4DCC9"/>
            </a:solidFill>
            <a:prstDash val="solid"/>
          </a:ln>
        </p:spPr>
      </p:sp>
      <p:sp>
        <p:nvSpPr>
          <p:cNvPr id="10" name="Text 8"/>
          <p:cNvSpPr txBox="1"/>
          <p:nvPr/>
        </p:nvSpPr>
        <p:spPr>
          <a:xfrm>
            <a:off x="3017520"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Active</a:t>
            </a:r>
            <a:endParaRPr lang="en-US" sz="1050" dirty="0"/>
          </a:p>
        </p:txBody>
      </p:sp>
      <p:sp>
        <p:nvSpPr>
          <p:cNvPr id="11" name="Shape 9"/>
          <p:cNvSpPr/>
          <p:nvPr/>
        </p:nvSpPr>
        <p:spPr>
          <a:xfrm>
            <a:off x="6565392" y="1237246"/>
            <a:ext cx="5385816" cy="4383507"/>
          </a:xfrm>
          <a:prstGeom prst="roundRect">
            <a:avLst>
              <a:gd name="adj" fmla="val 1252"/>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2" name="Image 0" descr="/private/tmp/claude-502/-Users-DRBTroy-Documents-Projects-DeepRoots/3b403855-4530-4100-a3e2-ac51fe60ce6e/scratchpad/screens/schools-directory.png">    </p:cNvPr>
          <p:cNvPicPr>
            <a:picLocks noChangeAspect="1"/>
          </p:cNvPicPr>
          <p:nvPr/>
        </p:nvPicPr>
        <p:blipFill>
          <a:blip r:embed="rId1"/>
          <a:stretch>
            <a:fillRect/>
          </a:stretch>
        </p:blipFill>
        <p:spPr>
          <a:xfrm>
            <a:off x="6629400" y="1301254"/>
            <a:ext cx="5257800" cy="425549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SCHOOL PAGE</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The school page</a:t>
            </a:r>
            <a:endParaRPr lang="en-US" sz="30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rich per-school profile: every teacher and admin you can contact right here, analytics on who's logging into the curriculum, the school logo and tiered partner badge, a rooftop map, financial history from Salesforce, and a rotating social spotlight.</a:t>
            </a:r>
            <a:endParaRPr lang="en-US" sz="1500" dirty="0"/>
          </a:p>
        </p:txBody>
      </p:sp>
      <p:sp>
        <p:nvSpPr>
          <p:cNvPr id="7" name="Shape 5"/>
          <p:cNvSpPr/>
          <p:nvPr/>
        </p:nvSpPr>
        <p:spPr>
          <a:xfrm>
            <a:off x="822960" y="3657600"/>
            <a:ext cx="2633472"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235915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Partner tiers · Bronze to Navy</a:t>
            </a:r>
            <a:endParaRPr lang="en-US" sz="1050" dirty="0"/>
          </a:p>
        </p:txBody>
      </p:sp>
      <p:sp>
        <p:nvSpPr>
          <p:cNvPr id="9" name="Shape 7"/>
          <p:cNvSpPr/>
          <p:nvPr/>
        </p:nvSpPr>
        <p:spPr>
          <a:xfrm>
            <a:off x="3621024" y="3657600"/>
            <a:ext cx="2258568"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767328" y="3799332"/>
            <a:ext cx="100584" cy="100584"/>
          </a:xfrm>
          <a:prstGeom prst="ellipse">
            <a:avLst/>
          </a:prstGeom>
          <a:solidFill>
            <a:srgbClr val="B0842F"/>
          </a:solidFill>
          <a:ln/>
        </p:spPr>
      </p:sp>
      <p:sp>
        <p:nvSpPr>
          <p:cNvPr id="11" name="Text 9"/>
          <p:cNvSpPr txBox="1"/>
          <p:nvPr/>
        </p:nvSpPr>
        <p:spPr>
          <a:xfrm>
            <a:off x="3931920"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From Salesforce · planned</a:t>
            </a:r>
            <a:endParaRPr lang="en-US" sz="1050" dirty="0"/>
          </a:p>
        </p:txBody>
      </p:sp>
      <p:sp>
        <p:nvSpPr>
          <p:cNvPr id="12" name="Shape 10"/>
          <p:cNvSpPr/>
          <p:nvPr/>
        </p:nvSpPr>
        <p:spPr>
          <a:xfrm>
            <a:off x="6565392" y="1242064"/>
            <a:ext cx="5385816" cy="4373873"/>
          </a:xfrm>
          <a:prstGeom prst="roundRect">
            <a:avLst>
              <a:gd name="adj" fmla="val 125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school-page.png">    </p:cNvPr>
          <p:cNvPicPr>
            <a:picLocks noChangeAspect="1"/>
          </p:cNvPicPr>
          <p:nvPr/>
        </p:nvPicPr>
        <p:blipFill>
          <a:blip r:embed="rId1"/>
          <a:stretch>
            <a:fillRect/>
          </a:stretch>
        </p:blipFill>
        <p:spPr>
          <a:xfrm>
            <a:off x="6629400" y="1306072"/>
            <a:ext cx="5257800" cy="424585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ONBOARDING</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in onboarding</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Schools working through setup with the DeepRoots team, each with a live progress tracker; when onboarding completes, a school moves to Active.</a:t>
            </a:r>
            <a:endParaRPr lang="en-US" sz="1500" dirty="0"/>
          </a:p>
        </p:txBody>
      </p:sp>
      <p:sp>
        <p:nvSpPr>
          <p:cNvPr id="7" name="Shape 5"/>
          <p:cNvSpPr/>
          <p:nvPr/>
        </p:nvSpPr>
        <p:spPr>
          <a:xfrm>
            <a:off x="822960" y="3657600"/>
            <a:ext cx="1733702"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Per-school tracker</a:t>
            </a:r>
            <a:endParaRPr lang="en-US" sz="1050" dirty="0"/>
          </a:p>
        </p:txBody>
      </p:sp>
      <p:sp>
        <p:nvSpPr>
          <p:cNvPr id="9" name="Shape 7"/>
          <p:cNvSpPr/>
          <p:nvPr/>
        </p:nvSpPr>
        <p:spPr>
          <a:xfrm>
            <a:off x="2721254" y="3657600"/>
            <a:ext cx="1283818"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2867558" y="3799332"/>
            <a:ext cx="100584" cy="100584"/>
          </a:xfrm>
          <a:prstGeom prst="ellipse">
            <a:avLst/>
          </a:prstGeom>
          <a:solidFill>
            <a:srgbClr val="7A7266"/>
          </a:solidFill>
          <a:ln/>
        </p:spPr>
      </p:sp>
      <p:sp>
        <p:nvSpPr>
          <p:cNvPr id="11" name="Text 9"/>
          <p:cNvSpPr txBox="1"/>
          <p:nvPr/>
        </p:nvSpPr>
        <p:spPr>
          <a:xfrm>
            <a:off x="3032150" y="3639312"/>
            <a:ext cx="100949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a:t>
            </a:r>
            <a:endParaRPr lang="en-US" sz="1050" dirty="0"/>
          </a:p>
        </p:txBody>
      </p:sp>
      <p:sp>
        <p:nvSpPr>
          <p:cNvPr id="12" name="Shape 10"/>
          <p:cNvSpPr/>
          <p:nvPr/>
        </p:nvSpPr>
        <p:spPr>
          <a:xfrm>
            <a:off x="6565392" y="1780940"/>
            <a:ext cx="5385816" cy="3296120"/>
          </a:xfrm>
          <a:prstGeom prst="roundRect">
            <a:avLst>
              <a:gd name="adj" fmla="val 166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3" name="Image 0" descr="/private/tmp/claude-502/-Users-DRBTroy-Documents-Projects-DeepRoots/3b403855-4530-4100-a3e2-ac51fe60ce6e/scratchpad/screens/onboarding.png">    </p:cNvPr>
          <p:cNvPicPr>
            <a:picLocks noChangeAspect="1"/>
          </p:cNvPicPr>
          <p:nvPr/>
        </p:nvPicPr>
        <p:blipFill>
          <a:blip r:embed="rId1"/>
          <a:stretch>
            <a:fillRect/>
          </a:stretch>
        </p:blipFill>
        <p:spPr>
          <a:xfrm>
            <a:off x="6629400" y="1844948"/>
            <a:ext cx="5257800" cy="316810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HELPER</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2</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600" b="1" dirty="0">
                <a:solidFill>
                  <a:srgbClr val="1D1A15"/>
                </a:solidFill>
                <a:latin typeface="Georgia" pitchFamily="34" charset="0"/>
                <a:ea typeface="Georgia" pitchFamily="34" charset="-122"/>
                <a:cs typeface="Georgia" pitchFamily="34" charset="-120"/>
              </a:rPr>
              <a:t>The School Walk-through Helper</a:t>
            </a:r>
            <a:endParaRPr lang="en-US" sz="26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built-in helper that guides teachers, admins, and heads of school through setup, day-to-day tasks, and finding their way around the curriculum. Ask a question, get a step-by-step answer.</a:t>
            </a:r>
            <a:endParaRPr lang="en-US" sz="1500" dirty="0"/>
          </a:p>
        </p:txBody>
      </p:sp>
      <p:sp>
        <p:nvSpPr>
          <p:cNvPr id="7" name="Text 5"/>
          <p:cNvSpPr txBox="1"/>
          <p:nvPr/>
        </p:nvSpPr>
        <p:spPr>
          <a:xfrm>
            <a:off x="822960" y="3657600"/>
            <a:ext cx="5760720" cy="1426464"/>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How do I fill out our roster?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How do I reset a student’s password?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Can my students’ parents get a login?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Where do I find this in the curriculum?</a:t>
            </a:r>
            <a:endParaRPr lang="en-US" sz="1350" dirty="0"/>
          </a:p>
        </p:txBody>
      </p:sp>
      <p:sp>
        <p:nvSpPr>
          <p:cNvPr id="8" name="Shape 6"/>
          <p:cNvSpPr/>
          <p:nvPr/>
        </p:nvSpPr>
        <p:spPr>
          <a:xfrm>
            <a:off x="822960" y="5266944"/>
            <a:ext cx="2933395"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5248656"/>
            <a:ext cx="2659075"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Teachers, admins &amp; heads of school</a:t>
            </a:r>
            <a:endParaRPr lang="en-US" sz="1050" dirty="0"/>
          </a:p>
        </p:txBody>
      </p:sp>
      <p:sp>
        <p:nvSpPr>
          <p:cNvPr id="10" name="Shape 8"/>
          <p:cNvSpPr/>
          <p:nvPr/>
        </p:nvSpPr>
        <p:spPr>
          <a:xfrm>
            <a:off x="3920947" y="5266944"/>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4067251" y="5408676"/>
            <a:ext cx="100584" cy="100584"/>
          </a:xfrm>
          <a:prstGeom prst="ellipse">
            <a:avLst/>
          </a:prstGeom>
          <a:solidFill>
            <a:srgbClr val="B0842F"/>
          </a:solidFill>
          <a:ln/>
        </p:spPr>
      </p:sp>
      <p:sp>
        <p:nvSpPr>
          <p:cNvPr id="12" name="Text 10"/>
          <p:cNvSpPr txBox="1"/>
          <p:nvPr/>
        </p:nvSpPr>
        <p:spPr>
          <a:xfrm>
            <a:off x="4231843" y="5248656"/>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3254167" cy="566928"/>
          </a:xfrm>
          <a:prstGeom prst="roundRect">
            <a:avLst>
              <a:gd name="adj" fmla="val 19355"/>
            </a:avLst>
          </a:prstGeom>
          <a:solidFill>
            <a:srgbClr val="FBFAF6"/>
          </a:solidFill>
          <a:ln w="12700">
            <a:solidFill>
              <a:srgbClr val="E4DCC9"/>
            </a:solidFill>
            <a:prstDash val="solid"/>
          </a:ln>
        </p:spPr>
      </p:sp>
      <p:sp>
        <p:nvSpPr>
          <p:cNvPr id="22" name="Text 20"/>
          <p:cNvSpPr txBox="1"/>
          <p:nvPr/>
        </p:nvSpPr>
        <p:spPr>
          <a:xfrm>
            <a:off x="7424928" y="2212848"/>
            <a:ext cx="2998135" cy="566928"/>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Hi! I can help with setup and day-to-day. What do you need?</a:t>
            </a:r>
            <a:endParaRPr lang="en-US" sz="900" dirty="0"/>
          </a:p>
        </p:txBody>
      </p:sp>
      <p:sp>
        <p:nvSpPr>
          <p:cNvPr id="23" name="Shape 21"/>
          <p:cNvSpPr/>
          <p:nvPr/>
        </p:nvSpPr>
        <p:spPr>
          <a:xfrm>
            <a:off x="8408091" y="2907792"/>
            <a:ext cx="2857317" cy="457200"/>
          </a:xfrm>
          <a:prstGeom prst="roundRect">
            <a:avLst>
              <a:gd name="adj" fmla="val 24000"/>
            </a:avLst>
          </a:prstGeom>
          <a:solidFill>
            <a:srgbClr val="F3E7C8"/>
          </a:solidFill>
          <a:ln w="9525">
            <a:solidFill>
              <a:srgbClr val="9C7C2E"/>
            </a:solidFill>
            <a:prstDash val="solid"/>
          </a:ln>
        </p:spPr>
      </p:sp>
      <p:sp>
        <p:nvSpPr>
          <p:cNvPr id="24" name="Text 22"/>
          <p:cNvSpPr txBox="1"/>
          <p:nvPr/>
        </p:nvSpPr>
        <p:spPr>
          <a:xfrm>
            <a:off x="8536107" y="2907792"/>
            <a:ext cx="2601285" cy="457200"/>
          </a:xfrm>
          <a:prstGeom prst="rect">
            <a:avLst/>
          </a:prstGeom>
          <a:noFill/>
          <a:ln/>
        </p:spPr>
        <p:txBody>
          <a:bodyPr wrap="square" lIns="0" tIns="0" rIns="0" bIns="0" rtlCol="0" anchor="ctr"/>
          <a:lstStyle/>
          <a:p>
            <a:pPr indent="0" marL="0">
              <a:buNone/>
            </a:pPr>
            <a:r>
              <a:rPr lang="en-US" sz="900" dirty="0">
                <a:solidFill>
                  <a:srgbClr val="7A5A12"/>
                </a:solidFill>
                <a:latin typeface="Calibri" pitchFamily="34" charset="0"/>
                <a:ea typeface="Calibri" pitchFamily="34" charset="-122"/>
                <a:cs typeface="Calibri" pitchFamily="34" charset="-120"/>
              </a:rPr>
              <a:t>How do I fill out our roster?</a:t>
            </a:r>
            <a:endParaRPr lang="en-US" sz="900" dirty="0"/>
          </a:p>
        </p:txBody>
      </p:sp>
      <p:sp>
        <p:nvSpPr>
          <p:cNvPr id="25" name="Shape 23"/>
          <p:cNvSpPr/>
          <p:nvPr/>
        </p:nvSpPr>
        <p:spPr>
          <a:xfrm>
            <a:off x="7296912" y="3493008"/>
            <a:ext cx="3412907" cy="786384"/>
          </a:xfrm>
          <a:prstGeom prst="roundRect">
            <a:avLst>
              <a:gd name="adj" fmla="val 13953"/>
            </a:avLst>
          </a:prstGeom>
          <a:solidFill>
            <a:srgbClr val="FBFAF6"/>
          </a:solidFill>
          <a:ln w="12700">
            <a:solidFill>
              <a:srgbClr val="E4DCC9"/>
            </a:solidFill>
            <a:prstDash val="solid"/>
          </a:ln>
        </p:spPr>
      </p:sp>
      <p:sp>
        <p:nvSpPr>
          <p:cNvPr id="26" name="Text 24"/>
          <p:cNvSpPr txBox="1"/>
          <p:nvPr/>
        </p:nvSpPr>
        <p:spPr>
          <a:xfrm>
            <a:off x="7424928" y="3566160"/>
            <a:ext cx="3156875" cy="329184"/>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Add students by hand or import a spreadsheet, here’s the guide:</a:t>
            </a:r>
            <a:endParaRPr lang="en-US" sz="900" dirty="0"/>
          </a:p>
        </p:txBody>
      </p:sp>
      <p:sp>
        <p:nvSpPr>
          <p:cNvPr id="27" name="Shape 25"/>
          <p:cNvSpPr/>
          <p:nvPr/>
        </p:nvSpPr>
        <p:spPr>
          <a:xfrm>
            <a:off x="7424928" y="3913632"/>
            <a:ext cx="1783080" cy="274320"/>
          </a:xfrm>
          <a:prstGeom prst="roundRect">
            <a:avLst>
              <a:gd name="adj" fmla="val 50000"/>
            </a:avLst>
          </a:prstGeom>
          <a:solidFill>
            <a:srgbClr val="FFFFFF"/>
          </a:solidFill>
          <a:ln w="9525">
            <a:solidFill>
              <a:srgbClr val="9C7C2E"/>
            </a:solidFill>
            <a:prstDash val="solid"/>
          </a:ln>
        </p:spPr>
      </p:sp>
      <p:sp>
        <p:nvSpPr>
          <p:cNvPr id="28" name="Shape 26"/>
          <p:cNvSpPr/>
          <p:nvPr/>
        </p:nvSpPr>
        <p:spPr>
          <a:xfrm>
            <a:off x="7534656" y="3968496"/>
            <a:ext cx="118872" cy="155448"/>
          </a:xfrm>
          <a:prstGeom prst="roundRect">
            <a:avLst>
              <a:gd name="adj" fmla="val 15385"/>
            </a:avLst>
          </a:prstGeom>
          <a:solidFill>
            <a:srgbClr val="FFFFFF"/>
          </a:solidFill>
          <a:ln w="12700">
            <a:solidFill>
              <a:srgbClr val="9C7C2E"/>
            </a:solidFill>
            <a:prstDash val="solid"/>
          </a:ln>
        </p:spPr>
      </p:sp>
      <p:sp>
        <p:nvSpPr>
          <p:cNvPr id="29" name="Shape 27"/>
          <p:cNvSpPr/>
          <p:nvPr/>
        </p:nvSpPr>
        <p:spPr>
          <a:xfrm>
            <a:off x="7562088" y="4023360"/>
            <a:ext cx="64008" cy="0"/>
          </a:xfrm>
          <a:prstGeom prst="line">
            <a:avLst/>
          </a:prstGeom>
          <a:noFill/>
          <a:ln w="9525">
            <a:solidFill>
              <a:srgbClr val="9C7C2E"/>
            </a:solidFill>
            <a:prstDash val="solid"/>
          </a:ln>
        </p:spPr>
      </p:sp>
      <p:sp>
        <p:nvSpPr>
          <p:cNvPr id="30" name="Shape 28"/>
          <p:cNvSpPr/>
          <p:nvPr/>
        </p:nvSpPr>
        <p:spPr>
          <a:xfrm>
            <a:off x="7562088" y="4059936"/>
            <a:ext cx="64008" cy="0"/>
          </a:xfrm>
          <a:prstGeom prst="line">
            <a:avLst/>
          </a:prstGeom>
          <a:noFill/>
          <a:ln w="9525">
            <a:solidFill>
              <a:srgbClr val="9C7C2E"/>
            </a:solidFill>
            <a:prstDash val="solid"/>
          </a:ln>
        </p:spPr>
      </p:sp>
      <p:sp>
        <p:nvSpPr>
          <p:cNvPr id="31" name="Text 29"/>
          <p:cNvSpPr txBox="1"/>
          <p:nvPr/>
        </p:nvSpPr>
        <p:spPr>
          <a:xfrm>
            <a:off x="7717536" y="3904488"/>
            <a:ext cx="1463040" cy="292608"/>
          </a:xfrm>
          <a:prstGeom prst="rect">
            <a:avLst/>
          </a:prstGeom>
          <a:noFill/>
          <a:ln/>
        </p:spPr>
        <p:txBody>
          <a:bodyPr wrap="square" lIns="0" tIns="0" rIns="0" bIns="0" rtlCol="0" anchor="ctr"/>
          <a:lstStyle/>
          <a:p>
            <a:pPr indent="0" marL="0">
              <a:buNone/>
            </a:pPr>
            <a:r>
              <a:rPr lang="en-US" sz="750" b="1" dirty="0">
                <a:solidFill>
                  <a:srgbClr val="9C7C2E"/>
                </a:solidFill>
                <a:latin typeface="Calibri" pitchFamily="34" charset="0"/>
                <a:ea typeface="Calibri" pitchFamily="34" charset="-122"/>
                <a:cs typeface="Calibri" pitchFamily="34" charset="-120"/>
              </a:rPr>
              <a:t>Roster import guide</a:t>
            </a:r>
            <a:endParaRPr lang="en-US" sz="750" dirty="0"/>
          </a:p>
        </p:txBody>
      </p:sp>
      <p:sp>
        <p:nvSpPr>
          <p:cNvPr id="32" name="Shape 30"/>
          <p:cNvSpPr/>
          <p:nvPr/>
        </p:nvSpPr>
        <p:spPr>
          <a:xfrm>
            <a:off x="7296912" y="4590288"/>
            <a:ext cx="3968496" cy="365760"/>
          </a:xfrm>
          <a:prstGeom prst="roundRect">
            <a:avLst>
              <a:gd name="adj" fmla="val 50000"/>
            </a:avLst>
          </a:prstGeom>
          <a:solidFill>
            <a:srgbClr val="FFFFFF"/>
          </a:solidFill>
          <a:ln w="12700">
            <a:solidFill>
              <a:srgbClr val="E4DCC9"/>
            </a:solidFill>
            <a:prstDash val="solid"/>
          </a:ln>
        </p:spPr>
      </p:sp>
      <p:sp>
        <p:nvSpPr>
          <p:cNvPr id="33" name="Text 31"/>
          <p:cNvSpPr txBox="1"/>
          <p:nvPr/>
        </p:nvSpPr>
        <p:spPr>
          <a:xfrm>
            <a:off x="7443216" y="4590288"/>
            <a:ext cx="305409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Ask the Rooted Helper…</a:t>
            </a:r>
            <a:endParaRPr lang="en-US" sz="850" dirty="0"/>
          </a:p>
        </p:txBody>
      </p:sp>
      <p:sp>
        <p:nvSpPr>
          <p:cNvPr id="34" name="Shape 32"/>
          <p:cNvSpPr/>
          <p:nvPr/>
        </p:nvSpPr>
        <p:spPr>
          <a:xfrm>
            <a:off x="10927080" y="4636008"/>
            <a:ext cx="274320" cy="274320"/>
          </a:xfrm>
          <a:prstGeom prst="ellipse">
            <a:avLst/>
          </a:prstGeom>
          <a:solidFill>
            <a:srgbClr val="9C7C2E"/>
          </a:solidFill>
          <a:ln/>
        </p:spPr>
      </p:sp>
      <p:sp>
        <p:nvSpPr>
          <p:cNvPr id="35" name="Text 33"/>
          <p:cNvSpPr txBox="1"/>
          <p:nvPr/>
        </p:nvSpPr>
        <p:spPr>
          <a:xfrm>
            <a:off x="10927080" y="4617720"/>
            <a:ext cx="2743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THREE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optimization track</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Behind the scenes: bringing in the real data, and moving DeepRoots off outdated systems.</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THE DATA</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All your Salesforce data in one place</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complete, always-updating copy of your Salesforce records, pulled in safely and kept current so the dashboards run on real numbers.</a:t>
            </a:r>
            <a:endParaRPr lang="en-US" sz="1500" dirty="0"/>
          </a:p>
        </p:txBody>
      </p:sp>
      <p:sp>
        <p:nvSpPr>
          <p:cNvPr id="7" name="Shape 5"/>
          <p:cNvSpPr/>
          <p:nvPr/>
        </p:nvSpPr>
        <p:spPr>
          <a:xfrm>
            <a:off x="822960" y="3657600"/>
            <a:ext cx="3008376"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273405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 full copy of your Salesforce data</a:t>
            </a:r>
            <a:endParaRPr lang="en-US" sz="1050" dirty="0"/>
          </a:p>
        </p:txBody>
      </p:sp>
      <p:sp>
        <p:nvSpPr>
          <p:cNvPr id="9" name="Shape 7"/>
          <p:cNvSpPr/>
          <p:nvPr/>
        </p:nvSpPr>
        <p:spPr>
          <a:xfrm>
            <a:off x="3995928"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4142232" y="3799332"/>
            <a:ext cx="100584" cy="100584"/>
          </a:xfrm>
          <a:prstGeom prst="ellipse">
            <a:avLst/>
          </a:prstGeom>
          <a:solidFill>
            <a:srgbClr val="B0842F"/>
          </a:solidFill>
          <a:ln/>
        </p:spPr>
      </p:sp>
      <p:sp>
        <p:nvSpPr>
          <p:cNvPr id="11" name="Text 9"/>
          <p:cNvSpPr txBox="1"/>
          <p:nvPr/>
        </p:nvSpPr>
        <p:spPr>
          <a:xfrm>
            <a:off x="430682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Salesforce sync</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516368" y="2615184"/>
            <a:ext cx="3529584" cy="0"/>
          </a:xfrm>
          <a:prstGeom prst="line">
            <a:avLst/>
          </a:prstGeom>
          <a:noFill/>
          <a:ln w="25400">
            <a:solidFill>
              <a:srgbClr val="E4DCC9"/>
            </a:solidFill>
            <a:prstDash val="solid"/>
          </a:ln>
        </p:spPr>
      </p:sp>
      <p:sp>
        <p:nvSpPr>
          <p:cNvPr id="21" name="Shape 19"/>
          <p:cNvSpPr/>
          <p:nvPr/>
        </p:nvSpPr>
        <p:spPr>
          <a:xfrm>
            <a:off x="7296912" y="2395728"/>
            <a:ext cx="438912" cy="438912"/>
          </a:xfrm>
          <a:prstGeom prst="ellipse">
            <a:avLst/>
          </a:prstGeom>
          <a:solidFill>
            <a:srgbClr val="9C7C2E"/>
          </a:solidFill>
          <a:ln w="25400">
            <a:solidFill>
              <a:srgbClr val="9C7C2E"/>
            </a:solidFill>
            <a:prstDash val="solid"/>
          </a:ln>
        </p:spPr>
      </p:sp>
      <p:sp>
        <p:nvSpPr>
          <p:cNvPr id="22" name="Text 20"/>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8473440" y="2395728"/>
            <a:ext cx="438912" cy="438912"/>
          </a:xfrm>
          <a:prstGeom prst="ellipse">
            <a:avLst/>
          </a:prstGeom>
          <a:solidFill>
            <a:srgbClr val="9C7C2E"/>
          </a:solidFill>
          <a:ln w="25400">
            <a:solidFill>
              <a:srgbClr val="9C7C2E"/>
            </a:solidFill>
            <a:prstDash val="solid"/>
          </a:ln>
        </p:spPr>
      </p:sp>
      <p:sp>
        <p:nvSpPr>
          <p:cNvPr id="24" name="Text 22"/>
          <p:cNvSpPr txBox="1"/>
          <p:nvPr/>
        </p:nvSpPr>
        <p:spPr>
          <a:xfrm>
            <a:off x="8473440"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5" name="Shape 23"/>
          <p:cNvSpPr/>
          <p:nvPr/>
        </p:nvSpPr>
        <p:spPr>
          <a:xfrm>
            <a:off x="9649968" y="2395728"/>
            <a:ext cx="438912" cy="438912"/>
          </a:xfrm>
          <a:prstGeom prst="ellipse">
            <a:avLst/>
          </a:prstGeom>
          <a:solidFill>
            <a:srgbClr val="FFFFFF"/>
          </a:solidFill>
          <a:ln w="25400">
            <a:solidFill>
              <a:srgbClr val="9C7C2E"/>
            </a:solidFill>
            <a:prstDash val="solid"/>
          </a:ln>
        </p:spPr>
      </p:sp>
      <p:sp>
        <p:nvSpPr>
          <p:cNvPr id="26" name="Text 24"/>
          <p:cNvSpPr txBox="1"/>
          <p:nvPr/>
        </p:nvSpPr>
        <p:spPr>
          <a:xfrm>
            <a:off x="9649968"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7" name="Shape 25"/>
          <p:cNvSpPr/>
          <p:nvPr/>
        </p:nvSpPr>
        <p:spPr>
          <a:xfrm>
            <a:off x="10826496" y="2395728"/>
            <a:ext cx="438912" cy="438912"/>
          </a:xfrm>
          <a:prstGeom prst="ellipse">
            <a:avLst/>
          </a:prstGeom>
          <a:solidFill>
            <a:srgbClr val="FFFFFF"/>
          </a:solidFill>
          <a:ln w="25400">
            <a:solidFill>
              <a:srgbClr val="9C7C2E"/>
            </a:solidFill>
            <a:prstDash val="solid"/>
          </a:ln>
        </p:spPr>
      </p:sp>
      <p:sp>
        <p:nvSpPr>
          <p:cNvPr id="28" name="Text 26"/>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4</a:t>
            </a:r>
            <a:endParaRPr lang="en-US" sz="1100" dirty="0"/>
          </a:p>
        </p:txBody>
      </p:sp>
      <p:sp>
        <p:nvSpPr>
          <p:cNvPr id="29" name="Shape 27"/>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30" name="Shape 28"/>
          <p:cNvSpPr/>
          <p:nvPr/>
        </p:nvSpPr>
        <p:spPr>
          <a:xfrm>
            <a:off x="7443216" y="3387852"/>
            <a:ext cx="100584" cy="100584"/>
          </a:xfrm>
          <a:prstGeom prst="ellipse">
            <a:avLst/>
          </a:prstGeom>
          <a:solidFill>
            <a:srgbClr val="5B7C46"/>
          </a:solidFill>
          <a:ln/>
        </p:spPr>
      </p:sp>
      <p:sp>
        <p:nvSpPr>
          <p:cNvPr id="31" name="Shape 29"/>
          <p:cNvSpPr/>
          <p:nvPr/>
        </p:nvSpPr>
        <p:spPr>
          <a:xfrm>
            <a:off x="7680960" y="3396996"/>
            <a:ext cx="1825508" cy="82296"/>
          </a:xfrm>
          <a:prstGeom prst="roundRect">
            <a:avLst>
              <a:gd name="adj" fmla="val 50000"/>
            </a:avLst>
          </a:prstGeom>
          <a:solidFill>
            <a:srgbClr val="E4DCC9"/>
          </a:solidFill>
          <a:ln/>
        </p:spPr>
      </p:sp>
      <p:sp>
        <p:nvSpPr>
          <p:cNvPr id="32" name="Shape 30"/>
          <p:cNvSpPr/>
          <p:nvPr/>
        </p:nvSpPr>
        <p:spPr>
          <a:xfrm>
            <a:off x="7680960" y="3396996"/>
            <a:ext cx="1314366" cy="82296"/>
          </a:xfrm>
          <a:prstGeom prst="roundRect">
            <a:avLst>
              <a:gd name="adj" fmla="val 50000"/>
            </a:avLst>
          </a:prstGeom>
          <a:solidFill>
            <a:srgbClr val="9C7C2E"/>
          </a:solidFill>
          <a:ln/>
        </p:spPr>
      </p:sp>
      <p:sp>
        <p:nvSpPr>
          <p:cNvPr id="33" name="Shape 31"/>
          <p:cNvSpPr/>
          <p:nvPr/>
        </p:nvSpPr>
        <p:spPr>
          <a:xfrm>
            <a:off x="10543032" y="3291840"/>
            <a:ext cx="594360" cy="292608"/>
          </a:xfrm>
          <a:prstGeom prst="roundRect">
            <a:avLst>
              <a:gd name="adj" fmla="val 50000"/>
            </a:avLst>
          </a:prstGeom>
          <a:solidFill>
            <a:srgbClr val="FFFFFF"/>
          </a:solidFill>
          <a:ln w="12700">
            <a:solidFill>
              <a:srgbClr val="E4DCC9"/>
            </a:solidFill>
            <a:prstDash val="solid"/>
          </a:ln>
        </p:spPr>
      </p:sp>
      <p:sp>
        <p:nvSpPr>
          <p:cNvPr id="34" name="Text 32"/>
          <p:cNvSpPr txBox="1"/>
          <p:nvPr/>
        </p:nvSpPr>
        <p:spPr>
          <a:xfrm>
            <a:off x="10543032" y="3282696"/>
            <a:ext cx="5943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done</a:t>
            </a:r>
            <a:endParaRPr lang="en-US" sz="850" dirty="0"/>
          </a:p>
        </p:txBody>
      </p:sp>
      <p:sp>
        <p:nvSpPr>
          <p:cNvPr id="35" name="Shape 33"/>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36" name="Shape 34"/>
          <p:cNvSpPr/>
          <p:nvPr/>
        </p:nvSpPr>
        <p:spPr>
          <a:xfrm>
            <a:off x="7443216" y="4082796"/>
            <a:ext cx="100584" cy="100584"/>
          </a:xfrm>
          <a:prstGeom prst="ellipse">
            <a:avLst/>
          </a:prstGeom>
          <a:solidFill>
            <a:srgbClr val="B0842F"/>
          </a:solidFill>
          <a:ln/>
        </p:spPr>
      </p:sp>
      <p:sp>
        <p:nvSpPr>
          <p:cNvPr id="37" name="Shape 35"/>
          <p:cNvSpPr/>
          <p:nvPr/>
        </p:nvSpPr>
        <p:spPr>
          <a:xfrm>
            <a:off x="7680960" y="4091940"/>
            <a:ext cx="1825508" cy="82296"/>
          </a:xfrm>
          <a:prstGeom prst="roundRect">
            <a:avLst>
              <a:gd name="adj" fmla="val 50000"/>
            </a:avLst>
          </a:prstGeom>
          <a:solidFill>
            <a:srgbClr val="E4DCC9"/>
          </a:solidFill>
          <a:ln/>
        </p:spPr>
      </p:sp>
      <p:sp>
        <p:nvSpPr>
          <p:cNvPr id="38" name="Shape 36"/>
          <p:cNvSpPr/>
          <p:nvPr/>
        </p:nvSpPr>
        <p:spPr>
          <a:xfrm>
            <a:off x="7680960" y="4091940"/>
            <a:ext cx="839734" cy="82296"/>
          </a:xfrm>
          <a:prstGeom prst="roundRect">
            <a:avLst>
              <a:gd name="adj" fmla="val 50000"/>
            </a:avLst>
          </a:prstGeom>
          <a:solidFill>
            <a:srgbClr val="9C7C2E"/>
          </a:solidFill>
          <a:ln/>
        </p:spPr>
      </p:sp>
      <p:sp>
        <p:nvSpPr>
          <p:cNvPr id="39" name="Shape 37"/>
          <p:cNvSpPr/>
          <p:nvPr/>
        </p:nvSpPr>
        <p:spPr>
          <a:xfrm>
            <a:off x="10405872" y="3986784"/>
            <a:ext cx="731520" cy="292608"/>
          </a:xfrm>
          <a:prstGeom prst="roundRect">
            <a:avLst>
              <a:gd name="adj" fmla="val 50000"/>
            </a:avLst>
          </a:prstGeom>
          <a:solidFill>
            <a:srgbClr val="FFFFFF"/>
          </a:solidFill>
          <a:ln w="12700">
            <a:solidFill>
              <a:srgbClr val="E4DCC9"/>
            </a:solidFill>
            <a:prstDash val="solid"/>
          </a:ln>
        </p:spPr>
      </p:sp>
      <p:sp>
        <p:nvSpPr>
          <p:cNvPr id="40" name="Text 38"/>
          <p:cNvSpPr txBox="1"/>
          <p:nvPr/>
        </p:nvSpPr>
        <p:spPr>
          <a:xfrm>
            <a:off x="10405872" y="3977640"/>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active</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ONE PLATFORM</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All your tools, working together</a:t>
            </a:r>
            <a:endParaRPr lang="en-US" sz="30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Today the team juggles many separate tools, moving documents and data around the cloud by hand to keep customers happy. The new platform brings those tools together, so information flows on its own and people spend their time on customers, not on shuffling files between apps.</a:t>
            </a:r>
            <a:endParaRPr lang="en-US" sz="1500" dirty="0"/>
          </a:p>
        </p:txBody>
      </p:sp>
      <p:sp>
        <p:nvSpPr>
          <p:cNvPr id="7" name="Shape 5"/>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Many tools, one home</a:t>
            </a:r>
            <a:endParaRPr lang="en-US" sz="1050" dirty="0"/>
          </a:p>
        </p:txBody>
      </p:sp>
      <p:sp>
        <p:nvSpPr>
          <p:cNvPr id="9" name="Shape 7"/>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017520" y="3799332"/>
            <a:ext cx="100584" cy="100584"/>
          </a:xfrm>
          <a:prstGeom prst="ellipse">
            <a:avLst/>
          </a:prstGeom>
          <a:solidFill>
            <a:srgbClr val="B0842F"/>
          </a:solidFill>
          <a:ln/>
        </p:spPr>
      </p:sp>
      <p:sp>
        <p:nvSpPr>
          <p:cNvPr id="11" name="Text 9"/>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one platform</a:t>
            </a: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296912" y="2258568"/>
            <a:ext cx="1237488" cy="502920"/>
          </a:xfrm>
          <a:prstGeom prst="roundRect">
            <a:avLst>
              <a:gd name="adj" fmla="val 10909"/>
            </a:avLst>
          </a:prstGeom>
          <a:solidFill>
            <a:srgbClr val="FBFAF6"/>
          </a:solidFill>
          <a:ln w="12700">
            <a:solidFill>
              <a:srgbClr val="E4DCC9"/>
            </a:solidFill>
            <a:prstDash val="solid"/>
          </a:ln>
        </p:spPr>
      </p:sp>
      <p:sp>
        <p:nvSpPr>
          <p:cNvPr id="21" name="Text 19"/>
          <p:cNvSpPr txBox="1"/>
          <p:nvPr/>
        </p:nvSpPr>
        <p:spPr>
          <a:xfrm>
            <a:off x="7333488"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Salesforce</a:t>
            </a:r>
            <a:endParaRPr lang="en-US" sz="750" dirty="0"/>
          </a:p>
        </p:txBody>
      </p:sp>
      <p:sp>
        <p:nvSpPr>
          <p:cNvPr id="22" name="Shape 20"/>
          <p:cNvSpPr/>
          <p:nvPr/>
        </p:nvSpPr>
        <p:spPr>
          <a:xfrm>
            <a:off x="8662416" y="2258568"/>
            <a:ext cx="1237488" cy="502920"/>
          </a:xfrm>
          <a:prstGeom prst="roundRect">
            <a:avLst>
              <a:gd name="adj" fmla="val 10909"/>
            </a:avLst>
          </a:prstGeom>
          <a:solidFill>
            <a:srgbClr val="FBFAF6"/>
          </a:solidFill>
          <a:ln w="12700">
            <a:solidFill>
              <a:srgbClr val="E4DCC9"/>
            </a:solidFill>
            <a:prstDash val="solid"/>
          </a:ln>
        </p:spPr>
      </p:sp>
      <p:sp>
        <p:nvSpPr>
          <p:cNvPr id="23" name="Text 21"/>
          <p:cNvSpPr txBox="1"/>
          <p:nvPr/>
        </p:nvSpPr>
        <p:spPr>
          <a:xfrm>
            <a:off x="8698992"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Learning platform</a:t>
            </a:r>
            <a:endParaRPr lang="en-US" sz="750" dirty="0"/>
          </a:p>
        </p:txBody>
      </p:sp>
      <p:sp>
        <p:nvSpPr>
          <p:cNvPr id="24" name="Shape 22"/>
          <p:cNvSpPr/>
          <p:nvPr/>
        </p:nvSpPr>
        <p:spPr>
          <a:xfrm>
            <a:off x="10027920" y="2258568"/>
            <a:ext cx="1237488" cy="502920"/>
          </a:xfrm>
          <a:prstGeom prst="roundRect">
            <a:avLst>
              <a:gd name="adj" fmla="val 10909"/>
            </a:avLst>
          </a:prstGeom>
          <a:solidFill>
            <a:srgbClr val="FBFAF6"/>
          </a:solidFill>
          <a:ln w="12700">
            <a:solidFill>
              <a:srgbClr val="E4DCC9"/>
            </a:solidFill>
            <a:prstDash val="solid"/>
          </a:ln>
        </p:spPr>
      </p:sp>
      <p:sp>
        <p:nvSpPr>
          <p:cNvPr id="25" name="Text 23"/>
          <p:cNvSpPr txBox="1"/>
          <p:nvPr/>
        </p:nvSpPr>
        <p:spPr>
          <a:xfrm>
            <a:off x="10064496"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Email</a:t>
            </a:r>
            <a:endParaRPr lang="en-US" sz="750" dirty="0"/>
          </a:p>
        </p:txBody>
      </p:sp>
      <p:sp>
        <p:nvSpPr>
          <p:cNvPr id="26" name="Shape 24"/>
          <p:cNvSpPr/>
          <p:nvPr/>
        </p:nvSpPr>
        <p:spPr>
          <a:xfrm>
            <a:off x="7296912" y="2889504"/>
            <a:ext cx="1237488" cy="502920"/>
          </a:xfrm>
          <a:prstGeom prst="roundRect">
            <a:avLst>
              <a:gd name="adj" fmla="val 10909"/>
            </a:avLst>
          </a:prstGeom>
          <a:solidFill>
            <a:srgbClr val="FBFAF6"/>
          </a:solidFill>
          <a:ln w="12700">
            <a:solidFill>
              <a:srgbClr val="E4DCC9"/>
            </a:solidFill>
            <a:prstDash val="solid"/>
          </a:ln>
        </p:spPr>
      </p:sp>
      <p:sp>
        <p:nvSpPr>
          <p:cNvPr id="27" name="Text 25"/>
          <p:cNvSpPr txBox="1"/>
          <p:nvPr/>
        </p:nvSpPr>
        <p:spPr>
          <a:xfrm>
            <a:off x="7333488"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Spreadsheets</a:t>
            </a:r>
            <a:endParaRPr lang="en-US" sz="750" dirty="0"/>
          </a:p>
        </p:txBody>
      </p:sp>
      <p:sp>
        <p:nvSpPr>
          <p:cNvPr id="28" name="Shape 26"/>
          <p:cNvSpPr/>
          <p:nvPr/>
        </p:nvSpPr>
        <p:spPr>
          <a:xfrm>
            <a:off x="8662416" y="2889504"/>
            <a:ext cx="1237488" cy="502920"/>
          </a:xfrm>
          <a:prstGeom prst="roundRect">
            <a:avLst>
              <a:gd name="adj" fmla="val 10909"/>
            </a:avLst>
          </a:prstGeom>
          <a:solidFill>
            <a:srgbClr val="FBFAF6"/>
          </a:solidFill>
          <a:ln w="12700">
            <a:solidFill>
              <a:srgbClr val="E4DCC9"/>
            </a:solidFill>
            <a:prstDash val="solid"/>
          </a:ln>
        </p:spPr>
      </p:sp>
      <p:sp>
        <p:nvSpPr>
          <p:cNvPr id="29" name="Text 27"/>
          <p:cNvSpPr txBox="1"/>
          <p:nvPr/>
        </p:nvSpPr>
        <p:spPr>
          <a:xfrm>
            <a:off x="8698992"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Documents</a:t>
            </a:r>
            <a:endParaRPr lang="en-US" sz="750" dirty="0"/>
          </a:p>
        </p:txBody>
      </p:sp>
      <p:sp>
        <p:nvSpPr>
          <p:cNvPr id="30" name="Shape 28"/>
          <p:cNvSpPr/>
          <p:nvPr/>
        </p:nvSpPr>
        <p:spPr>
          <a:xfrm>
            <a:off x="10027920" y="2889504"/>
            <a:ext cx="1237488" cy="502920"/>
          </a:xfrm>
          <a:prstGeom prst="roundRect">
            <a:avLst>
              <a:gd name="adj" fmla="val 10909"/>
            </a:avLst>
          </a:prstGeom>
          <a:solidFill>
            <a:srgbClr val="FBFAF6"/>
          </a:solidFill>
          <a:ln w="12700">
            <a:solidFill>
              <a:srgbClr val="E4DCC9"/>
            </a:solidFill>
            <a:prstDash val="solid"/>
          </a:ln>
        </p:spPr>
      </p:sp>
      <p:sp>
        <p:nvSpPr>
          <p:cNvPr id="31" name="Text 29"/>
          <p:cNvSpPr txBox="1"/>
          <p:nvPr/>
        </p:nvSpPr>
        <p:spPr>
          <a:xfrm>
            <a:off x="10064496"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Trello</a:t>
            </a:r>
            <a:endParaRPr lang="en-US" sz="750" dirty="0"/>
          </a:p>
        </p:txBody>
      </p:sp>
      <p:sp>
        <p:nvSpPr>
          <p:cNvPr id="32" name="Text 30"/>
          <p:cNvSpPr txBox="1"/>
          <p:nvPr/>
        </p:nvSpPr>
        <p:spPr>
          <a:xfrm>
            <a:off x="7296912" y="3438144"/>
            <a:ext cx="3968496" cy="274320"/>
          </a:xfrm>
          <a:prstGeom prst="rect">
            <a:avLst/>
          </a:prstGeom>
          <a:noFill/>
          <a:ln/>
        </p:spPr>
        <p:txBody>
          <a:bodyPr wrap="square" lIns="0" tIns="0" rIns="0" bIns="0" rtlCol="0" anchor="ctr"/>
          <a:lstStyle/>
          <a:p>
            <a:pPr algn="ctr" indent="0" marL="0">
              <a:buNone/>
            </a:pPr>
            <a:r>
              <a:rPr lang="en-US" sz="1500" b="1" dirty="0">
                <a:solidFill>
                  <a:srgbClr val="9C7C2E"/>
                </a:solidFill>
                <a:latin typeface="Calibri" pitchFamily="34" charset="0"/>
                <a:ea typeface="Calibri" pitchFamily="34" charset="-122"/>
                <a:cs typeface="Calibri" pitchFamily="34" charset="-120"/>
              </a:rPr>
              <a:t>↓</a:t>
            </a:r>
            <a:endParaRPr lang="en-US" sz="1500" dirty="0"/>
          </a:p>
        </p:txBody>
      </p:sp>
      <p:sp>
        <p:nvSpPr>
          <p:cNvPr id="33" name="Shape 31"/>
          <p:cNvSpPr/>
          <p:nvPr/>
        </p:nvSpPr>
        <p:spPr>
          <a:xfrm>
            <a:off x="7296912" y="3803904"/>
            <a:ext cx="3968496" cy="566928"/>
          </a:xfrm>
          <a:prstGeom prst="roundRect">
            <a:avLst>
              <a:gd name="adj" fmla="val 16129"/>
            </a:avLst>
          </a:prstGeom>
          <a:solidFill>
            <a:srgbClr val="F3E7C8"/>
          </a:solidFill>
          <a:ln w="12700">
            <a:solidFill>
              <a:srgbClr val="9C7C2E"/>
            </a:solidFill>
            <a:prstDash val="solid"/>
          </a:ln>
        </p:spPr>
      </p:sp>
      <p:sp>
        <p:nvSpPr>
          <p:cNvPr id="34" name="Text 32"/>
          <p:cNvSpPr txBox="1"/>
          <p:nvPr/>
        </p:nvSpPr>
        <p:spPr>
          <a:xfrm>
            <a:off x="7296912" y="3803904"/>
            <a:ext cx="3968496" cy="566928"/>
          </a:xfrm>
          <a:prstGeom prst="rect">
            <a:avLst/>
          </a:prstGeom>
          <a:noFill/>
          <a:ln/>
        </p:spPr>
        <p:txBody>
          <a:bodyPr wrap="square" lIns="0" tIns="0" rIns="0" bIns="0" rtlCol="0" anchor="ctr"/>
          <a:lstStyle/>
          <a:p>
            <a:pPr algn="ctr" indent="0" marL="0">
              <a:buNone/>
            </a:pPr>
            <a:r>
              <a:rPr lang="en-US" sz="1300" b="1" dirty="0">
                <a:solidFill>
                  <a:srgbClr val="7A5A12"/>
                </a:solidFill>
                <a:latin typeface="Georgia" pitchFamily="34" charset="0"/>
                <a:ea typeface="Georgia" pitchFamily="34" charset="-122"/>
                <a:cs typeface="Georgia" pitchFamily="34" charset="-120"/>
              </a:rPr>
              <a:t>DeepRoots · one platform</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FOUNDATION</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Data foundation &amp; automation</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secure database under everything, refreshed on a schedule, with a clear “last updated” stamp on every section.</a:t>
            </a:r>
            <a:endParaRPr lang="en-US" sz="1500" dirty="0"/>
          </a:p>
        </p:txBody>
      </p:sp>
      <p:sp>
        <p:nvSpPr>
          <p:cNvPr id="7" name="Text 5"/>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Real data only, anything illustrative is clearly labeled.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Each person sees only what they should; passwords in a secure vault.</a:t>
            </a:r>
            <a:endParaRPr lang="en-US" sz="1350" dirty="0"/>
          </a:p>
        </p:txBody>
      </p:sp>
      <p:sp>
        <p:nvSpPr>
          <p:cNvPr id="8" name="Shape 6"/>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9" name="Shape 7"/>
          <p:cNvSpPr/>
          <p:nvPr/>
        </p:nvSpPr>
        <p:spPr>
          <a:xfrm>
            <a:off x="7040880" y="1645920"/>
            <a:ext cx="4480560" cy="384048"/>
          </a:xfrm>
          <a:prstGeom prst="roundRect">
            <a:avLst>
              <a:gd name="adj" fmla="val 28571"/>
            </a:avLst>
          </a:prstGeom>
          <a:solidFill>
            <a:srgbClr val="FBFAF6"/>
          </a:solidFill>
          <a:ln/>
        </p:spPr>
      </p:sp>
      <p:sp>
        <p:nvSpPr>
          <p:cNvPr id="10" name="Shape 8"/>
          <p:cNvSpPr/>
          <p:nvPr/>
        </p:nvSpPr>
        <p:spPr>
          <a:xfrm>
            <a:off x="7040880" y="1901952"/>
            <a:ext cx="4480560" cy="128016"/>
          </a:xfrm>
          <a:prstGeom prst="rect">
            <a:avLst/>
          </a:prstGeom>
          <a:solidFill>
            <a:srgbClr val="FBFAF6"/>
          </a:solidFill>
          <a:ln/>
        </p:spPr>
      </p:sp>
      <p:sp>
        <p:nvSpPr>
          <p:cNvPr id="11" name="Shape 9"/>
          <p:cNvSpPr/>
          <p:nvPr/>
        </p:nvSpPr>
        <p:spPr>
          <a:xfrm>
            <a:off x="7205472" y="1783080"/>
            <a:ext cx="100584" cy="100584"/>
          </a:xfrm>
          <a:prstGeom prst="ellipse">
            <a:avLst/>
          </a:prstGeom>
          <a:solidFill>
            <a:srgbClr val="C9BFA9"/>
          </a:solidFill>
          <a:ln/>
        </p:spPr>
      </p:sp>
      <p:sp>
        <p:nvSpPr>
          <p:cNvPr id="12" name="Shape 10"/>
          <p:cNvSpPr/>
          <p:nvPr/>
        </p:nvSpPr>
        <p:spPr>
          <a:xfrm>
            <a:off x="7388352" y="1783080"/>
            <a:ext cx="100584" cy="100584"/>
          </a:xfrm>
          <a:prstGeom prst="ellipse">
            <a:avLst/>
          </a:prstGeom>
          <a:solidFill>
            <a:srgbClr val="C9BFA9"/>
          </a:solidFill>
          <a:ln/>
        </p:spPr>
      </p:sp>
      <p:sp>
        <p:nvSpPr>
          <p:cNvPr id="13" name="Shape 11"/>
          <p:cNvSpPr/>
          <p:nvPr/>
        </p:nvSpPr>
        <p:spPr>
          <a:xfrm>
            <a:off x="7571232" y="1783080"/>
            <a:ext cx="100584" cy="100584"/>
          </a:xfrm>
          <a:prstGeom prst="ellipse">
            <a:avLst/>
          </a:prstGeom>
          <a:solidFill>
            <a:srgbClr val="C9BFA9"/>
          </a:solidFill>
          <a:ln/>
        </p:spPr>
      </p:sp>
      <p:sp>
        <p:nvSpPr>
          <p:cNvPr id="14" name="Text 12"/>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company database</a:t>
            </a:r>
            <a:endParaRPr lang="en-US" sz="900" dirty="0"/>
          </a:p>
        </p:txBody>
      </p:sp>
      <p:sp>
        <p:nvSpPr>
          <p:cNvPr id="15" name="Shape 13"/>
          <p:cNvSpPr/>
          <p:nvPr/>
        </p:nvSpPr>
        <p:spPr>
          <a:xfrm>
            <a:off x="7040880" y="2029968"/>
            <a:ext cx="4480560" cy="0"/>
          </a:xfrm>
          <a:prstGeom prst="line">
            <a:avLst/>
          </a:prstGeom>
          <a:noFill/>
          <a:ln w="12700">
            <a:solidFill>
              <a:srgbClr val="E4DCC9"/>
            </a:solidFill>
            <a:prstDash val="solid"/>
          </a:ln>
        </p:spPr>
      </p:sp>
      <p:sp>
        <p:nvSpPr>
          <p:cNvPr id="16" name="Shape 14"/>
          <p:cNvSpPr/>
          <p:nvPr/>
        </p:nvSpPr>
        <p:spPr>
          <a:xfrm>
            <a:off x="7296912" y="2212848"/>
            <a:ext cx="1901952" cy="1298448"/>
          </a:xfrm>
          <a:prstGeom prst="roundRect">
            <a:avLst>
              <a:gd name="adj" fmla="val 4225"/>
            </a:avLst>
          </a:prstGeom>
          <a:solidFill>
            <a:srgbClr val="FBFAF6"/>
          </a:solidFill>
          <a:ln w="12700">
            <a:solidFill>
              <a:srgbClr val="E4DCC9"/>
            </a:solidFill>
            <a:prstDash val="solid"/>
          </a:ln>
        </p:spPr>
      </p:sp>
      <p:sp>
        <p:nvSpPr>
          <p:cNvPr id="17" name="Text 15"/>
          <p:cNvSpPr txBox="1"/>
          <p:nvPr/>
        </p:nvSpPr>
        <p:spPr>
          <a:xfrm>
            <a:off x="7424928"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UPDATES</a:t>
            </a:r>
            <a:endParaRPr lang="en-US" sz="850" dirty="0"/>
          </a:p>
        </p:txBody>
      </p:sp>
      <p:sp>
        <p:nvSpPr>
          <p:cNvPr id="18" name="Text 16"/>
          <p:cNvSpPr txBox="1"/>
          <p:nvPr/>
        </p:nvSpPr>
        <p:spPr>
          <a:xfrm>
            <a:off x="7424928"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on a schedule</a:t>
            </a:r>
            <a:endParaRPr lang="en-US" sz="1100" dirty="0"/>
          </a:p>
        </p:txBody>
      </p:sp>
      <p:sp>
        <p:nvSpPr>
          <p:cNvPr id="19" name="Shape 17"/>
          <p:cNvSpPr/>
          <p:nvPr/>
        </p:nvSpPr>
        <p:spPr>
          <a:xfrm>
            <a:off x="9363456" y="2212848"/>
            <a:ext cx="1901952" cy="1298448"/>
          </a:xfrm>
          <a:prstGeom prst="roundRect">
            <a:avLst>
              <a:gd name="adj" fmla="val 4225"/>
            </a:avLst>
          </a:prstGeom>
          <a:solidFill>
            <a:srgbClr val="FBFAF6"/>
          </a:solidFill>
          <a:ln w="12700">
            <a:solidFill>
              <a:srgbClr val="E4DCC9"/>
            </a:solidFill>
            <a:prstDash val="solid"/>
          </a:ln>
        </p:spPr>
      </p:sp>
      <p:sp>
        <p:nvSpPr>
          <p:cNvPr id="20" name="Text 18"/>
          <p:cNvSpPr txBox="1"/>
          <p:nvPr/>
        </p:nvSpPr>
        <p:spPr>
          <a:xfrm>
            <a:off x="9491472"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SECURITY</a:t>
            </a:r>
            <a:endParaRPr lang="en-US" sz="850" dirty="0"/>
          </a:p>
        </p:txBody>
      </p:sp>
      <p:sp>
        <p:nvSpPr>
          <p:cNvPr id="21" name="Text 19"/>
          <p:cNvSpPr txBox="1"/>
          <p:nvPr/>
        </p:nvSpPr>
        <p:spPr>
          <a:xfrm>
            <a:off x="9491472"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locked per user</a:t>
            </a:r>
            <a:endParaRPr lang="en-US" sz="1100" dirty="0"/>
          </a:p>
        </p:txBody>
      </p:sp>
      <p:sp>
        <p:nvSpPr>
          <p:cNvPr id="22" name="Shape 20"/>
          <p:cNvSpPr/>
          <p:nvPr/>
        </p:nvSpPr>
        <p:spPr>
          <a:xfrm>
            <a:off x="7296912" y="3675888"/>
            <a:ext cx="1901952" cy="1298448"/>
          </a:xfrm>
          <a:prstGeom prst="roundRect">
            <a:avLst>
              <a:gd name="adj" fmla="val 4225"/>
            </a:avLst>
          </a:prstGeom>
          <a:solidFill>
            <a:srgbClr val="FBFAF6"/>
          </a:solidFill>
          <a:ln w="12700">
            <a:solidFill>
              <a:srgbClr val="E4DCC9"/>
            </a:solidFill>
            <a:prstDash val="solid"/>
          </a:ln>
        </p:spPr>
      </p:sp>
      <p:sp>
        <p:nvSpPr>
          <p:cNvPr id="23" name="Text 21"/>
          <p:cNvSpPr txBox="1"/>
          <p:nvPr/>
        </p:nvSpPr>
        <p:spPr>
          <a:xfrm>
            <a:off x="7424928"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FRESHNESS</a:t>
            </a:r>
            <a:endParaRPr lang="en-US" sz="850" dirty="0"/>
          </a:p>
        </p:txBody>
      </p:sp>
      <p:sp>
        <p:nvSpPr>
          <p:cNvPr id="24" name="Text 22"/>
          <p:cNvSpPr txBox="1"/>
          <p:nvPr/>
        </p:nvSpPr>
        <p:spPr>
          <a:xfrm>
            <a:off x="7424928"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last-updated stamps</a:t>
            </a:r>
            <a:endParaRPr lang="en-US" sz="1100" dirty="0"/>
          </a:p>
        </p:txBody>
      </p:sp>
      <p:sp>
        <p:nvSpPr>
          <p:cNvPr id="25" name="Shape 23"/>
          <p:cNvSpPr/>
          <p:nvPr/>
        </p:nvSpPr>
        <p:spPr>
          <a:xfrm>
            <a:off x="9363456" y="3675888"/>
            <a:ext cx="1901952" cy="1298448"/>
          </a:xfrm>
          <a:prstGeom prst="roundRect">
            <a:avLst>
              <a:gd name="adj" fmla="val 4225"/>
            </a:avLst>
          </a:prstGeom>
          <a:solidFill>
            <a:srgbClr val="FBFAF6"/>
          </a:solidFill>
          <a:ln w="12700">
            <a:solidFill>
              <a:srgbClr val="E4DCC9"/>
            </a:solidFill>
            <a:prstDash val="solid"/>
          </a:ln>
        </p:spPr>
      </p:sp>
      <p:sp>
        <p:nvSpPr>
          <p:cNvPr id="26" name="Text 24"/>
          <p:cNvSpPr txBox="1"/>
          <p:nvPr/>
        </p:nvSpPr>
        <p:spPr>
          <a:xfrm>
            <a:off x="9491472"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SECRETS</a:t>
            </a:r>
            <a:endParaRPr lang="en-US" sz="850" dirty="0"/>
          </a:p>
        </p:txBody>
      </p:sp>
      <p:sp>
        <p:nvSpPr>
          <p:cNvPr id="27" name="Text 25"/>
          <p:cNvSpPr txBox="1"/>
          <p:nvPr/>
        </p:nvSpPr>
        <p:spPr>
          <a:xfrm>
            <a:off x="9491472"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in a secure vault</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WHAT WE’D BUILD · ASSISTANT</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DeepRoots helper that knows who you are</a:t>
            </a:r>
            <a:endParaRPr lang="en-US" sz="28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built-in helper that answers questions and guides each person by their role. Sign in as a teacher and it points you to lesson help; as a new employee, straight to the Employee Handbook and where to find things.</a:t>
            </a:r>
            <a:endParaRPr lang="en-US" sz="1500" dirty="0"/>
          </a:p>
        </p:txBody>
      </p:sp>
      <p:sp>
        <p:nvSpPr>
          <p:cNvPr id="7" name="Text 5"/>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Teacher: “How do I reset a student login?”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New hire: “Where is the Employee Handbook?”</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Ambassador: “Which schools are due to renew?”</a:t>
            </a:r>
            <a:endParaRPr lang="en-US" sz="1350" dirty="0"/>
          </a:p>
        </p:txBody>
      </p:sp>
      <p:sp>
        <p:nvSpPr>
          <p:cNvPr id="8" name="Shape 6"/>
          <p:cNvSpPr/>
          <p:nvPr/>
        </p:nvSpPr>
        <p:spPr>
          <a:xfrm>
            <a:off x="822960" y="4956048"/>
            <a:ext cx="1508760" cy="384048"/>
          </a:xfrm>
          <a:prstGeom prst="roundRect">
            <a:avLst>
              <a:gd name="adj" fmla="val 50000"/>
            </a:avLst>
          </a:prstGeom>
          <a:solidFill>
            <a:srgbClr val="FFFFFF"/>
          </a:solidFill>
          <a:ln w="12700">
            <a:solidFill>
              <a:srgbClr val="E4DCC9"/>
            </a:solidFill>
            <a:prstDash val="solid"/>
          </a:ln>
        </p:spPr>
      </p:sp>
      <p:sp>
        <p:nvSpPr>
          <p:cNvPr id="9" name="Text 7"/>
          <p:cNvSpPr txBox="1"/>
          <p:nvPr/>
        </p:nvSpPr>
        <p:spPr>
          <a:xfrm>
            <a:off x="969264" y="4937760"/>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Knows your role</a:t>
            </a:r>
            <a:endParaRPr lang="en-US" sz="1050" dirty="0"/>
          </a:p>
        </p:txBody>
      </p:sp>
      <p:sp>
        <p:nvSpPr>
          <p:cNvPr id="10" name="Shape 8"/>
          <p:cNvSpPr/>
          <p:nvPr/>
        </p:nvSpPr>
        <p:spPr>
          <a:xfrm>
            <a:off x="2496312" y="4956048"/>
            <a:ext cx="1097280" cy="384048"/>
          </a:xfrm>
          <a:prstGeom prst="roundRect">
            <a:avLst>
              <a:gd name="adj" fmla="val 50000"/>
            </a:avLst>
          </a:prstGeom>
          <a:solidFill>
            <a:srgbClr val="FFFFFF"/>
          </a:solidFill>
          <a:ln w="12700">
            <a:solidFill>
              <a:srgbClr val="E4DCC9"/>
            </a:solidFill>
            <a:prstDash val="solid"/>
          </a:ln>
        </p:spPr>
      </p:sp>
      <p:sp>
        <p:nvSpPr>
          <p:cNvPr id="11" name="Shape 9"/>
          <p:cNvSpPr/>
          <p:nvPr/>
        </p:nvSpPr>
        <p:spPr>
          <a:xfrm>
            <a:off x="2642616" y="5097780"/>
            <a:ext cx="100584" cy="100584"/>
          </a:xfrm>
          <a:prstGeom prst="ellipse">
            <a:avLst/>
          </a:prstGeom>
          <a:solidFill>
            <a:srgbClr val="B0842F"/>
          </a:solidFill>
          <a:ln/>
        </p:spPr>
      </p:sp>
      <p:sp>
        <p:nvSpPr>
          <p:cNvPr id="12" name="Text 10"/>
          <p:cNvSpPr txBox="1"/>
          <p:nvPr/>
        </p:nvSpPr>
        <p:spPr>
          <a:xfrm>
            <a:off x="2807208"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3" name="Shape 11"/>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4" name="Shape 12"/>
          <p:cNvSpPr/>
          <p:nvPr/>
        </p:nvSpPr>
        <p:spPr>
          <a:xfrm>
            <a:off x="7040880" y="1645920"/>
            <a:ext cx="4480560" cy="384048"/>
          </a:xfrm>
          <a:prstGeom prst="roundRect">
            <a:avLst>
              <a:gd name="adj" fmla="val 28571"/>
            </a:avLst>
          </a:prstGeom>
          <a:solidFill>
            <a:srgbClr val="FBFAF6"/>
          </a:solidFill>
          <a:ln/>
        </p:spPr>
      </p:sp>
      <p:sp>
        <p:nvSpPr>
          <p:cNvPr id="15" name="Shape 13"/>
          <p:cNvSpPr/>
          <p:nvPr/>
        </p:nvSpPr>
        <p:spPr>
          <a:xfrm>
            <a:off x="7040880" y="1901952"/>
            <a:ext cx="4480560" cy="128016"/>
          </a:xfrm>
          <a:prstGeom prst="rect">
            <a:avLst/>
          </a:prstGeom>
          <a:solidFill>
            <a:srgbClr val="FBFAF6"/>
          </a:solidFill>
          <a:ln/>
        </p:spPr>
      </p:sp>
      <p:sp>
        <p:nvSpPr>
          <p:cNvPr id="16" name="Shape 14"/>
          <p:cNvSpPr/>
          <p:nvPr/>
        </p:nvSpPr>
        <p:spPr>
          <a:xfrm>
            <a:off x="7205472" y="1783080"/>
            <a:ext cx="100584" cy="100584"/>
          </a:xfrm>
          <a:prstGeom prst="ellipse">
            <a:avLst/>
          </a:prstGeom>
          <a:solidFill>
            <a:srgbClr val="C9BFA9"/>
          </a:solidFill>
          <a:ln/>
        </p:spPr>
      </p:sp>
      <p:sp>
        <p:nvSpPr>
          <p:cNvPr id="17" name="Shape 15"/>
          <p:cNvSpPr/>
          <p:nvPr/>
        </p:nvSpPr>
        <p:spPr>
          <a:xfrm>
            <a:off x="7388352" y="1783080"/>
            <a:ext cx="100584" cy="100584"/>
          </a:xfrm>
          <a:prstGeom prst="ellipse">
            <a:avLst/>
          </a:prstGeom>
          <a:solidFill>
            <a:srgbClr val="C9BFA9"/>
          </a:solidFill>
          <a:ln/>
        </p:spPr>
      </p:sp>
      <p:sp>
        <p:nvSpPr>
          <p:cNvPr id="18" name="Shape 16"/>
          <p:cNvSpPr/>
          <p:nvPr/>
        </p:nvSpPr>
        <p:spPr>
          <a:xfrm>
            <a:off x="7571232" y="1783080"/>
            <a:ext cx="100584" cy="100584"/>
          </a:xfrm>
          <a:prstGeom prst="ellipse">
            <a:avLst/>
          </a:prstGeom>
          <a:solidFill>
            <a:srgbClr val="C9BFA9"/>
          </a:solidFill>
          <a:ln/>
        </p:spPr>
      </p:sp>
      <p:sp>
        <p:nvSpPr>
          <p:cNvPr id="19" name="Text 17"/>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20" name="Shape 18"/>
          <p:cNvSpPr/>
          <p:nvPr/>
        </p:nvSpPr>
        <p:spPr>
          <a:xfrm>
            <a:off x="7040880" y="2029968"/>
            <a:ext cx="4480560" cy="0"/>
          </a:xfrm>
          <a:prstGeom prst="line">
            <a:avLst/>
          </a:prstGeom>
          <a:noFill/>
          <a:ln w="12700">
            <a:solidFill>
              <a:srgbClr val="E4DCC9"/>
            </a:solidFill>
            <a:prstDash val="solid"/>
          </a:ln>
        </p:spPr>
      </p:sp>
      <p:sp>
        <p:nvSpPr>
          <p:cNvPr id="21" name="Shape 19"/>
          <p:cNvSpPr/>
          <p:nvPr/>
        </p:nvSpPr>
        <p:spPr>
          <a:xfrm>
            <a:off x="7296912" y="2212848"/>
            <a:ext cx="3254167" cy="566928"/>
          </a:xfrm>
          <a:prstGeom prst="roundRect">
            <a:avLst>
              <a:gd name="adj" fmla="val 19355"/>
            </a:avLst>
          </a:prstGeom>
          <a:solidFill>
            <a:srgbClr val="FBFAF6"/>
          </a:solidFill>
          <a:ln w="12700">
            <a:solidFill>
              <a:srgbClr val="E4DCC9"/>
            </a:solidFill>
            <a:prstDash val="solid"/>
          </a:ln>
        </p:spPr>
      </p:sp>
      <p:sp>
        <p:nvSpPr>
          <p:cNvPr id="22" name="Text 20"/>
          <p:cNvSpPr txBox="1"/>
          <p:nvPr/>
        </p:nvSpPr>
        <p:spPr>
          <a:xfrm>
            <a:off x="7424928" y="2212848"/>
            <a:ext cx="2998135" cy="566928"/>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Hi! I can help. What do you need?</a:t>
            </a:r>
            <a:endParaRPr lang="en-US" sz="900" dirty="0"/>
          </a:p>
        </p:txBody>
      </p:sp>
      <p:sp>
        <p:nvSpPr>
          <p:cNvPr id="23" name="Shape 21"/>
          <p:cNvSpPr/>
          <p:nvPr/>
        </p:nvSpPr>
        <p:spPr>
          <a:xfrm>
            <a:off x="8408091" y="2907792"/>
            <a:ext cx="2857317" cy="457200"/>
          </a:xfrm>
          <a:prstGeom prst="roundRect">
            <a:avLst>
              <a:gd name="adj" fmla="val 24000"/>
            </a:avLst>
          </a:prstGeom>
          <a:solidFill>
            <a:srgbClr val="F3E7C8"/>
          </a:solidFill>
          <a:ln w="9525">
            <a:solidFill>
              <a:srgbClr val="9C7C2E"/>
            </a:solidFill>
            <a:prstDash val="solid"/>
          </a:ln>
        </p:spPr>
      </p:sp>
      <p:sp>
        <p:nvSpPr>
          <p:cNvPr id="24" name="Text 22"/>
          <p:cNvSpPr txBox="1"/>
          <p:nvPr/>
        </p:nvSpPr>
        <p:spPr>
          <a:xfrm>
            <a:off x="8536107" y="2907792"/>
            <a:ext cx="2601285" cy="457200"/>
          </a:xfrm>
          <a:prstGeom prst="rect">
            <a:avLst/>
          </a:prstGeom>
          <a:noFill/>
          <a:ln/>
        </p:spPr>
        <p:txBody>
          <a:bodyPr wrap="square" lIns="0" tIns="0" rIns="0" bIns="0" rtlCol="0" anchor="ctr"/>
          <a:lstStyle/>
          <a:p>
            <a:pPr indent="0" marL="0">
              <a:buNone/>
            </a:pPr>
            <a:r>
              <a:rPr lang="en-US" sz="900" dirty="0">
                <a:solidFill>
                  <a:srgbClr val="7A5A12"/>
                </a:solidFill>
                <a:latin typeface="Calibri" pitchFamily="34" charset="0"/>
                <a:ea typeface="Calibri" pitchFamily="34" charset="-122"/>
                <a:cs typeface="Calibri" pitchFamily="34" charset="-120"/>
              </a:rPr>
              <a:t>Where is the Employee Handbook?</a:t>
            </a:r>
            <a:endParaRPr lang="en-US" sz="900" dirty="0"/>
          </a:p>
        </p:txBody>
      </p:sp>
      <p:sp>
        <p:nvSpPr>
          <p:cNvPr id="25" name="Shape 23"/>
          <p:cNvSpPr/>
          <p:nvPr/>
        </p:nvSpPr>
        <p:spPr>
          <a:xfrm>
            <a:off x="7296912" y="3493008"/>
            <a:ext cx="3412907" cy="786384"/>
          </a:xfrm>
          <a:prstGeom prst="roundRect">
            <a:avLst>
              <a:gd name="adj" fmla="val 13953"/>
            </a:avLst>
          </a:prstGeom>
          <a:solidFill>
            <a:srgbClr val="FBFAF6"/>
          </a:solidFill>
          <a:ln w="12700">
            <a:solidFill>
              <a:srgbClr val="E4DCC9"/>
            </a:solidFill>
            <a:prstDash val="solid"/>
          </a:ln>
        </p:spPr>
      </p:sp>
      <p:sp>
        <p:nvSpPr>
          <p:cNvPr id="26" name="Text 24"/>
          <p:cNvSpPr txBox="1"/>
          <p:nvPr/>
        </p:nvSpPr>
        <p:spPr>
          <a:xfrm>
            <a:off x="7424928" y="3566160"/>
            <a:ext cx="3156875" cy="329184"/>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Here it is, plus your first-week checklist:</a:t>
            </a:r>
            <a:endParaRPr lang="en-US" sz="900" dirty="0"/>
          </a:p>
        </p:txBody>
      </p:sp>
      <p:sp>
        <p:nvSpPr>
          <p:cNvPr id="27" name="Shape 25"/>
          <p:cNvSpPr/>
          <p:nvPr/>
        </p:nvSpPr>
        <p:spPr>
          <a:xfrm>
            <a:off x="7424928" y="3913632"/>
            <a:ext cx="1783080" cy="274320"/>
          </a:xfrm>
          <a:prstGeom prst="roundRect">
            <a:avLst>
              <a:gd name="adj" fmla="val 50000"/>
            </a:avLst>
          </a:prstGeom>
          <a:solidFill>
            <a:srgbClr val="FFFFFF"/>
          </a:solidFill>
          <a:ln w="9525">
            <a:solidFill>
              <a:srgbClr val="9C7C2E"/>
            </a:solidFill>
            <a:prstDash val="solid"/>
          </a:ln>
        </p:spPr>
      </p:sp>
      <p:sp>
        <p:nvSpPr>
          <p:cNvPr id="28" name="Shape 26"/>
          <p:cNvSpPr/>
          <p:nvPr/>
        </p:nvSpPr>
        <p:spPr>
          <a:xfrm>
            <a:off x="7534656" y="3968496"/>
            <a:ext cx="118872" cy="155448"/>
          </a:xfrm>
          <a:prstGeom prst="roundRect">
            <a:avLst>
              <a:gd name="adj" fmla="val 15385"/>
            </a:avLst>
          </a:prstGeom>
          <a:solidFill>
            <a:srgbClr val="FFFFFF"/>
          </a:solidFill>
          <a:ln w="12700">
            <a:solidFill>
              <a:srgbClr val="9C7C2E"/>
            </a:solidFill>
            <a:prstDash val="solid"/>
          </a:ln>
        </p:spPr>
      </p:sp>
      <p:sp>
        <p:nvSpPr>
          <p:cNvPr id="29" name="Shape 27"/>
          <p:cNvSpPr/>
          <p:nvPr/>
        </p:nvSpPr>
        <p:spPr>
          <a:xfrm>
            <a:off x="7562088" y="4023360"/>
            <a:ext cx="64008" cy="0"/>
          </a:xfrm>
          <a:prstGeom prst="line">
            <a:avLst/>
          </a:prstGeom>
          <a:noFill/>
          <a:ln w="9525">
            <a:solidFill>
              <a:srgbClr val="9C7C2E"/>
            </a:solidFill>
            <a:prstDash val="solid"/>
          </a:ln>
        </p:spPr>
      </p:sp>
      <p:sp>
        <p:nvSpPr>
          <p:cNvPr id="30" name="Shape 28"/>
          <p:cNvSpPr/>
          <p:nvPr/>
        </p:nvSpPr>
        <p:spPr>
          <a:xfrm>
            <a:off x="7562088" y="4059936"/>
            <a:ext cx="64008" cy="0"/>
          </a:xfrm>
          <a:prstGeom prst="line">
            <a:avLst/>
          </a:prstGeom>
          <a:noFill/>
          <a:ln w="9525">
            <a:solidFill>
              <a:srgbClr val="9C7C2E"/>
            </a:solidFill>
            <a:prstDash val="solid"/>
          </a:ln>
        </p:spPr>
      </p:sp>
      <p:sp>
        <p:nvSpPr>
          <p:cNvPr id="31" name="Text 29"/>
          <p:cNvSpPr txBox="1"/>
          <p:nvPr/>
        </p:nvSpPr>
        <p:spPr>
          <a:xfrm>
            <a:off x="7717536" y="3904488"/>
            <a:ext cx="1463040" cy="292608"/>
          </a:xfrm>
          <a:prstGeom prst="rect">
            <a:avLst/>
          </a:prstGeom>
          <a:noFill/>
          <a:ln/>
        </p:spPr>
        <p:txBody>
          <a:bodyPr wrap="square" lIns="0" tIns="0" rIns="0" bIns="0" rtlCol="0" anchor="ctr"/>
          <a:lstStyle/>
          <a:p>
            <a:pPr indent="0" marL="0">
              <a:buNone/>
            </a:pPr>
            <a:r>
              <a:rPr lang="en-US" sz="750" b="1" dirty="0">
                <a:solidFill>
                  <a:srgbClr val="9C7C2E"/>
                </a:solidFill>
                <a:latin typeface="Calibri" pitchFamily="34" charset="0"/>
                <a:ea typeface="Calibri" pitchFamily="34" charset="-122"/>
                <a:cs typeface="Calibri" pitchFamily="34" charset="-120"/>
              </a:rPr>
              <a:t>Employee Handbook</a:t>
            </a:r>
            <a:endParaRPr lang="en-US" sz="750" dirty="0"/>
          </a:p>
        </p:txBody>
      </p:sp>
      <p:sp>
        <p:nvSpPr>
          <p:cNvPr id="32" name="Shape 30"/>
          <p:cNvSpPr/>
          <p:nvPr/>
        </p:nvSpPr>
        <p:spPr>
          <a:xfrm>
            <a:off x="7296912" y="4590288"/>
            <a:ext cx="3968496" cy="365760"/>
          </a:xfrm>
          <a:prstGeom prst="roundRect">
            <a:avLst>
              <a:gd name="adj" fmla="val 50000"/>
            </a:avLst>
          </a:prstGeom>
          <a:solidFill>
            <a:srgbClr val="FFFFFF"/>
          </a:solidFill>
          <a:ln w="12700">
            <a:solidFill>
              <a:srgbClr val="E4DCC9"/>
            </a:solidFill>
            <a:prstDash val="solid"/>
          </a:ln>
        </p:spPr>
      </p:sp>
      <p:sp>
        <p:nvSpPr>
          <p:cNvPr id="33" name="Text 31"/>
          <p:cNvSpPr txBox="1"/>
          <p:nvPr/>
        </p:nvSpPr>
        <p:spPr>
          <a:xfrm>
            <a:off x="7443216" y="4590288"/>
            <a:ext cx="305409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Ask DeepRoots…</a:t>
            </a:r>
            <a:endParaRPr lang="en-US" sz="850" dirty="0"/>
          </a:p>
        </p:txBody>
      </p:sp>
      <p:sp>
        <p:nvSpPr>
          <p:cNvPr id="34" name="Shape 32"/>
          <p:cNvSpPr/>
          <p:nvPr/>
        </p:nvSpPr>
        <p:spPr>
          <a:xfrm>
            <a:off x="10927080" y="4636008"/>
            <a:ext cx="274320" cy="274320"/>
          </a:xfrm>
          <a:prstGeom prst="ellipse">
            <a:avLst/>
          </a:prstGeom>
          <a:solidFill>
            <a:srgbClr val="9C7C2E"/>
          </a:solidFill>
          <a:ln/>
        </p:spPr>
      </p:sp>
      <p:sp>
        <p:nvSpPr>
          <p:cNvPr id="35" name="Text 33"/>
          <p:cNvSpPr txBox="1"/>
          <p:nvPr/>
        </p:nvSpPr>
        <p:spPr>
          <a:xfrm>
            <a:off x="10927080" y="4617720"/>
            <a:ext cx="2743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ROAD AHEAD</a:t>
            </a:r>
            <a:endParaRPr lang="en-US" sz="1100" dirty="0"/>
          </a:p>
        </p:txBody>
      </p:sp>
      <p:sp>
        <p:nvSpPr>
          <p:cNvPr id="3" name="Shape 1"/>
          <p:cNvSpPr/>
          <p:nvPr/>
        </p:nvSpPr>
        <p:spPr>
          <a:xfrm>
            <a:off x="10314432" y="731520"/>
            <a:ext cx="1051560" cy="310896"/>
          </a:xfrm>
          <a:prstGeom prst="roundRect">
            <a:avLst>
              <a:gd name="adj" fmla="val 50000"/>
            </a:avLst>
          </a:prstGeom>
          <a:solidFill>
            <a:srgbClr val="F3E7C8"/>
          </a:solidFill>
          <a:ln w="9525">
            <a:solidFill>
              <a:srgbClr val="9C7C2E"/>
            </a:solidFill>
            <a:prstDash val="solid"/>
          </a:ln>
        </p:spPr>
      </p:sp>
      <p:sp>
        <p:nvSpPr>
          <p:cNvPr id="4" name="Text 2"/>
          <p:cNvSpPr txBox="1"/>
          <p:nvPr/>
        </p:nvSpPr>
        <p:spPr>
          <a:xfrm>
            <a:off x="10314432" y="722376"/>
            <a:ext cx="1051560" cy="320040"/>
          </a:xfrm>
          <a:prstGeom prst="rect">
            <a:avLst/>
          </a:prstGeom>
          <a:noFill/>
          <a:ln/>
        </p:spPr>
        <p:txBody>
          <a:bodyPr wrap="square" lIns="0" tIns="0" rIns="0" bIns="0" rtlCol="0" anchor="ctr"/>
          <a:lstStyle/>
          <a:p>
            <a:pPr algn="ctr" indent="0" marL="0">
              <a:buNone/>
            </a:pPr>
            <a:r>
              <a:rPr lang="en-US" sz="850" b="1" spc="100" kern="0" dirty="0">
                <a:solidFill>
                  <a:srgbClr val="7A5A12"/>
                </a:solidFill>
                <a:latin typeface="Calibri" pitchFamily="34" charset="0"/>
                <a:ea typeface="Calibri" pitchFamily="34" charset="-122"/>
                <a:cs typeface="Calibri" pitchFamily="34" charset="-120"/>
              </a:rPr>
              <a:t>PHASE 3</a:t>
            </a:r>
            <a:endParaRPr lang="en-US" sz="850" dirty="0"/>
          </a:p>
        </p:txBody>
      </p:sp>
      <p:sp>
        <p:nvSpPr>
          <p:cNvPr id="5" name="Text 3"/>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More advanced features, as we go</a:t>
            </a:r>
            <a:endParaRPr lang="en-US" sz="3200" dirty="0"/>
          </a:p>
        </p:txBody>
      </p:sp>
      <p:sp>
        <p:nvSpPr>
          <p:cNvPr id="6" name="Text 4"/>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This is the foundation. As development continues we’ll layer on deeper capabilities, prioritized with the team.</a:t>
            </a:r>
            <a:endParaRPr lang="en-US" sz="1500" dirty="0"/>
          </a:p>
        </p:txBody>
      </p:sp>
      <p:sp>
        <p:nvSpPr>
          <p:cNvPr id="7" name="Shape 5"/>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Prioritized with the team</a:t>
            </a:r>
            <a:endParaRPr lang="en-US" sz="1050" dirty="0"/>
          </a:p>
        </p:txBody>
      </p:sp>
      <p:sp>
        <p:nvSpPr>
          <p:cNvPr id="9" name="Shape 7"/>
          <p:cNvSpPr/>
          <p:nvPr/>
        </p:nvSpPr>
        <p:spPr>
          <a:xfrm>
            <a:off x="3246120" y="3657600"/>
            <a:ext cx="1097280" cy="384048"/>
          </a:xfrm>
          <a:prstGeom prst="roundRect">
            <a:avLst>
              <a:gd name="adj" fmla="val 50000"/>
            </a:avLst>
          </a:prstGeom>
          <a:solidFill>
            <a:srgbClr val="FFFFFF"/>
          </a:solidFill>
          <a:ln w="12700">
            <a:solidFill>
              <a:srgbClr val="E4DCC9"/>
            </a:solidFill>
            <a:prstDash val="solid"/>
          </a:ln>
        </p:spPr>
      </p:sp>
      <p:sp>
        <p:nvSpPr>
          <p:cNvPr id="10" name="Shape 8"/>
          <p:cNvSpPr/>
          <p:nvPr/>
        </p:nvSpPr>
        <p:spPr>
          <a:xfrm>
            <a:off x="3392424" y="3799332"/>
            <a:ext cx="100584" cy="100584"/>
          </a:xfrm>
          <a:prstGeom prst="ellipse">
            <a:avLst/>
          </a:prstGeom>
          <a:solidFill>
            <a:srgbClr val="B0842F"/>
          </a:solidFill>
          <a:ln/>
        </p:spPr>
      </p:sp>
      <p:sp>
        <p:nvSpPr>
          <p:cNvPr id="11" name="Text 9"/>
          <p:cNvSpPr txBox="1"/>
          <p:nvPr/>
        </p:nvSpPr>
        <p:spPr>
          <a:xfrm>
            <a:off x="3557016"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2" name="Shape 10"/>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3" name="Shape 11"/>
          <p:cNvSpPr/>
          <p:nvPr/>
        </p:nvSpPr>
        <p:spPr>
          <a:xfrm>
            <a:off x="7040880" y="1645920"/>
            <a:ext cx="4480560" cy="384048"/>
          </a:xfrm>
          <a:prstGeom prst="roundRect">
            <a:avLst>
              <a:gd name="adj" fmla="val 28571"/>
            </a:avLst>
          </a:prstGeom>
          <a:solidFill>
            <a:srgbClr val="FBFAF6"/>
          </a:solidFill>
          <a:ln/>
        </p:spPr>
      </p:sp>
      <p:sp>
        <p:nvSpPr>
          <p:cNvPr id="14" name="Shape 12"/>
          <p:cNvSpPr/>
          <p:nvPr/>
        </p:nvSpPr>
        <p:spPr>
          <a:xfrm>
            <a:off x="7040880" y="1901952"/>
            <a:ext cx="4480560" cy="128016"/>
          </a:xfrm>
          <a:prstGeom prst="rect">
            <a:avLst/>
          </a:prstGeom>
          <a:solidFill>
            <a:srgbClr val="FBFAF6"/>
          </a:solidFill>
          <a:ln/>
        </p:spPr>
      </p:sp>
      <p:sp>
        <p:nvSpPr>
          <p:cNvPr id="15" name="Shape 13"/>
          <p:cNvSpPr/>
          <p:nvPr/>
        </p:nvSpPr>
        <p:spPr>
          <a:xfrm>
            <a:off x="7205472" y="1783080"/>
            <a:ext cx="100584" cy="100584"/>
          </a:xfrm>
          <a:prstGeom prst="ellipse">
            <a:avLst/>
          </a:prstGeom>
          <a:solidFill>
            <a:srgbClr val="C9BFA9"/>
          </a:solidFill>
          <a:ln/>
        </p:spPr>
      </p:sp>
      <p:sp>
        <p:nvSpPr>
          <p:cNvPr id="16" name="Shape 14"/>
          <p:cNvSpPr/>
          <p:nvPr/>
        </p:nvSpPr>
        <p:spPr>
          <a:xfrm>
            <a:off x="7388352" y="1783080"/>
            <a:ext cx="100584" cy="100584"/>
          </a:xfrm>
          <a:prstGeom prst="ellipse">
            <a:avLst/>
          </a:prstGeom>
          <a:solidFill>
            <a:srgbClr val="C9BFA9"/>
          </a:solidFill>
          <a:ln/>
        </p:spPr>
      </p:sp>
      <p:sp>
        <p:nvSpPr>
          <p:cNvPr id="17" name="Shape 15"/>
          <p:cNvSpPr/>
          <p:nvPr/>
        </p:nvSpPr>
        <p:spPr>
          <a:xfrm>
            <a:off x="7571232" y="1783080"/>
            <a:ext cx="100584" cy="100584"/>
          </a:xfrm>
          <a:prstGeom prst="ellipse">
            <a:avLst/>
          </a:prstGeom>
          <a:solidFill>
            <a:srgbClr val="C9BFA9"/>
          </a:solidFill>
          <a:ln/>
        </p:spPr>
      </p:sp>
      <p:sp>
        <p:nvSpPr>
          <p:cNvPr id="18" name="Text 16"/>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9" name="Shape 17"/>
          <p:cNvSpPr/>
          <p:nvPr/>
        </p:nvSpPr>
        <p:spPr>
          <a:xfrm>
            <a:off x="7040880" y="2029968"/>
            <a:ext cx="4480560" cy="0"/>
          </a:xfrm>
          <a:prstGeom prst="line">
            <a:avLst/>
          </a:prstGeom>
          <a:noFill/>
          <a:ln w="12700">
            <a:solidFill>
              <a:srgbClr val="E4DCC9"/>
            </a:solidFill>
            <a:prstDash val="solid"/>
          </a:ln>
        </p:spPr>
      </p:sp>
      <p:sp>
        <p:nvSpPr>
          <p:cNvPr id="20" name="Shape 18"/>
          <p:cNvSpPr/>
          <p:nvPr/>
        </p:nvSpPr>
        <p:spPr>
          <a:xfrm>
            <a:off x="7296912" y="2212848"/>
            <a:ext cx="1911096" cy="368808"/>
          </a:xfrm>
          <a:prstGeom prst="roundRect">
            <a:avLst>
              <a:gd name="adj" fmla="val 14876"/>
            </a:avLst>
          </a:prstGeom>
          <a:solidFill>
            <a:srgbClr val="FBFAF6"/>
          </a:solidFill>
          <a:ln w="12700">
            <a:solidFill>
              <a:srgbClr val="E4DCC9"/>
            </a:solidFill>
            <a:prstDash val="solid"/>
          </a:ln>
        </p:spPr>
      </p:sp>
      <p:sp>
        <p:nvSpPr>
          <p:cNvPr id="21" name="Shape 19"/>
          <p:cNvSpPr/>
          <p:nvPr/>
        </p:nvSpPr>
        <p:spPr>
          <a:xfrm>
            <a:off x="7424928" y="2356104"/>
            <a:ext cx="82296" cy="82296"/>
          </a:xfrm>
          <a:prstGeom prst="ellipse">
            <a:avLst/>
          </a:prstGeom>
          <a:solidFill>
            <a:srgbClr val="9C7C2E"/>
          </a:solidFill>
          <a:ln/>
        </p:spPr>
      </p:sp>
      <p:sp>
        <p:nvSpPr>
          <p:cNvPr id="22" name="Text 20"/>
          <p:cNvSpPr txBox="1"/>
          <p:nvPr/>
        </p:nvSpPr>
        <p:spPr>
          <a:xfrm>
            <a:off x="75895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renewal outreach</a:t>
            </a:r>
            <a:endParaRPr lang="en-US" sz="800" dirty="0"/>
          </a:p>
        </p:txBody>
      </p:sp>
      <p:sp>
        <p:nvSpPr>
          <p:cNvPr id="23" name="Shape 21"/>
          <p:cNvSpPr/>
          <p:nvPr/>
        </p:nvSpPr>
        <p:spPr>
          <a:xfrm>
            <a:off x="9354312" y="2212848"/>
            <a:ext cx="1911096" cy="368808"/>
          </a:xfrm>
          <a:prstGeom prst="roundRect">
            <a:avLst>
              <a:gd name="adj" fmla="val 14876"/>
            </a:avLst>
          </a:prstGeom>
          <a:solidFill>
            <a:srgbClr val="FBFAF6"/>
          </a:solidFill>
          <a:ln w="12700">
            <a:solidFill>
              <a:srgbClr val="E4DCC9"/>
            </a:solidFill>
            <a:prstDash val="solid"/>
          </a:ln>
        </p:spPr>
      </p:sp>
      <p:sp>
        <p:nvSpPr>
          <p:cNvPr id="24" name="Shape 22"/>
          <p:cNvSpPr/>
          <p:nvPr/>
        </p:nvSpPr>
        <p:spPr>
          <a:xfrm>
            <a:off x="9482328" y="2356104"/>
            <a:ext cx="82296" cy="82296"/>
          </a:xfrm>
          <a:prstGeom prst="ellipse">
            <a:avLst/>
          </a:prstGeom>
          <a:solidFill>
            <a:srgbClr val="9C7C2E"/>
          </a:solidFill>
          <a:ln/>
        </p:spPr>
      </p:sp>
      <p:sp>
        <p:nvSpPr>
          <p:cNvPr id="25" name="Text 23"/>
          <p:cNvSpPr txBox="1"/>
          <p:nvPr/>
        </p:nvSpPr>
        <p:spPr>
          <a:xfrm>
            <a:off x="96469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Real-time data across every hub</a:t>
            </a:r>
            <a:endParaRPr lang="en-US" sz="800" dirty="0"/>
          </a:p>
        </p:txBody>
      </p:sp>
      <p:sp>
        <p:nvSpPr>
          <p:cNvPr id="26" name="Shape 24"/>
          <p:cNvSpPr/>
          <p:nvPr/>
        </p:nvSpPr>
        <p:spPr>
          <a:xfrm>
            <a:off x="7296912" y="2691384"/>
            <a:ext cx="1911096" cy="368808"/>
          </a:xfrm>
          <a:prstGeom prst="roundRect">
            <a:avLst>
              <a:gd name="adj" fmla="val 14876"/>
            </a:avLst>
          </a:prstGeom>
          <a:solidFill>
            <a:srgbClr val="FBFAF6"/>
          </a:solidFill>
          <a:ln w="12700">
            <a:solidFill>
              <a:srgbClr val="E4DCC9"/>
            </a:solidFill>
            <a:prstDash val="solid"/>
          </a:ln>
        </p:spPr>
      </p:sp>
      <p:sp>
        <p:nvSpPr>
          <p:cNvPr id="27" name="Shape 25"/>
          <p:cNvSpPr/>
          <p:nvPr/>
        </p:nvSpPr>
        <p:spPr>
          <a:xfrm>
            <a:off x="7424928" y="2834640"/>
            <a:ext cx="82296" cy="82296"/>
          </a:xfrm>
          <a:prstGeom prst="ellipse">
            <a:avLst/>
          </a:prstGeom>
          <a:solidFill>
            <a:srgbClr val="9C7C2E"/>
          </a:solidFill>
          <a:ln/>
        </p:spPr>
      </p:sp>
      <p:sp>
        <p:nvSpPr>
          <p:cNvPr id="28" name="Text 26"/>
          <p:cNvSpPr txBox="1"/>
          <p:nvPr/>
        </p:nvSpPr>
        <p:spPr>
          <a:xfrm>
            <a:off x="75895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engagement portal</a:t>
            </a:r>
            <a:endParaRPr lang="en-US" sz="800" dirty="0"/>
          </a:p>
        </p:txBody>
      </p:sp>
      <p:sp>
        <p:nvSpPr>
          <p:cNvPr id="29" name="Shape 27"/>
          <p:cNvSpPr/>
          <p:nvPr/>
        </p:nvSpPr>
        <p:spPr>
          <a:xfrm>
            <a:off x="9354312" y="2691384"/>
            <a:ext cx="1911096" cy="368808"/>
          </a:xfrm>
          <a:prstGeom prst="roundRect">
            <a:avLst>
              <a:gd name="adj" fmla="val 14876"/>
            </a:avLst>
          </a:prstGeom>
          <a:solidFill>
            <a:srgbClr val="FBFAF6"/>
          </a:solidFill>
          <a:ln w="12700">
            <a:solidFill>
              <a:srgbClr val="E4DCC9"/>
            </a:solidFill>
            <a:prstDash val="solid"/>
          </a:ln>
        </p:spPr>
      </p:sp>
      <p:sp>
        <p:nvSpPr>
          <p:cNvPr id="30" name="Shape 28"/>
          <p:cNvSpPr/>
          <p:nvPr/>
        </p:nvSpPr>
        <p:spPr>
          <a:xfrm>
            <a:off x="9482328" y="2834640"/>
            <a:ext cx="82296" cy="82296"/>
          </a:xfrm>
          <a:prstGeom prst="ellipse">
            <a:avLst/>
          </a:prstGeom>
          <a:solidFill>
            <a:srgbClr val="9C7C2E"/>
          </a:solidFill>
          <a:ln/>
        </p:spPr>
      </p:sp>
      <p:sp>
        <p:nvSpPr>
          <p:cNvPr id="31" name="Text 29"/>
          <p:cNvSpPr txBox="1"/>
          <p:nvPr/>
        </p:nvSpPr>
        <p:spPr>
          <a:xfrm>
            <a:off x="96469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Analytics &amp; forecasting</a:t>
            </a:r>
            <a:endParaRPr lang="en-US" sz="800" dirty="0"/>
          </a:p>
        </p:txBody>
      </p:sp>
      <p:sp>
        <p:nvSpPr>
          <p:cNvPr id="32" name="Shape 30"/>
          <p:cNvSpPr/>
          <p:nvPr/>
        </p:nvSpPr>
        <p:spPr>
          <a:xfrm>
            <a:off x="7296912" y="3169920"/>
            <a:ext cx="1911096" cy="368808"/>
          </a:xfrm>
          <a:prstGeom prst="roundRect">
            <a:avLst>
              <a:gd name="adj" fmla="val 14876"/>
            </a:avLst>
          </a:prstGeom>
          <a:solidFill>
            <a:srgbClr val="FBFAF6"/>
          </a:solidFill>
          <a:ln w="12700">
            <a:solidFill>
              <a:srgbClr val="E4DCC9"/>
            </a:solidFill>
            <a:prstDash val="solid"/>
          </a:ln>
        </p:spPr>
      </p:sp>
      <p:sp>
        <p:nvSpPr>
          <p:cNvPr id="33" name="Shape 31"/>
          <p:cNvSpPr/>
          <p:nvPr/>
        </p:nvSpPr>
        <p:spPr>
          <a:xfrm>
            <a:off x="7424928" y="3313176"/>
            <a:ext cx="82296" cy="82296"/>
          </a:xfrm>
          <a:prstGeom prst="ellipse">
            <a:avLst/>
          </a:prstGeom>
          <a:solidFill>
            <a:srgbClr val="9C7C2E"/>
          </a:solidFill>
          <a:ln/>
        </p:spPr>
      </p:sp>
      <p:sp>
        <p:nvSpPr>
          <p:cNvPr id="34" name="Text 32"/>
          <p:cNvSpPr txBox="1"/>
          <p:nvPr/>
        </p:nvSpPr>
        <p:spPr>
          <a:xfrm>
            <a:off x="75895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Handbook &amp; document library</a:t>
            </a:r>
            <a:endParaRPr lang="en-US" sz="800" dirty="0"/>
          </a:p>
        </p:txBody>
      </p:sp>
      <p:sp>
        <p:nvSpPr>
          <p:cNvPr id="35" name="Shape 33"/>
          <p:cNvSpPr/>
          <p:nvPr/>
        </p:nvSpPr>
        <p:spPr>
          <a:xfrm>
            <a:off x="9354312" y="3169920"/>
            <a:ext cx="1911096" cy="368808"/>
          </a:xfrm>
          <a:prstGeom prst="roundRect">
            <a:avLst>
              <a:gd name="adj" fmla="val 14876"/>
            </a:avLst>
          </a:prstGeom>
          <a:solidFill>
            <a:srgbClr val="FBFAF6"/>
          </a:solidFill>
          <a:ln w="12700">
            <a:solidFill>
              <a:srgbClr val="E4DCC9"/>
            </a:solidFill>
            <a:prstDash val="solid"/>
          </a:ln>
        </p:spPr>
      </p:sp>
      <p:sp>
        <p:nvSpPr>
          <p:cNvPr id="36" name="Shape 34"/>
          <p:cNvSpPr/>
          <p:nvPr/>
        </p:nvSpPr>
        <p:spPr>
          <a:xfrm>
            <a:off x="9482328" y="3313176"/>
            <a:ext cx="82296" cy="82296"/>
          </a:xfrm>
          <a:prstGeom prst="ellipse">
            <a:avLst/>
          </a:prstGeom>
          <a:solidFill>
            <a:srgbClr val="9C7C2E"/>
          </a:solidFill>
          <a:ln/>
        </p:spPr>
      </p:sp>
      <p:sp>
        <p:nvSpPr>
          <p:cNvPr id="37" name="Text 35"/>
          <p:cNvSpPr txBox="1"/>
          <p:nvPr/>
        </p:nvSpPr>
        <p:spPr>
          <a:xfrm>
            <a:off x="96469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Mobile app for teachers &amp; parents</a:t>
            </a:r>
            <a:endParaRPr lang="en-US" sz="800" dirty="0"/>
          </a:p>
        </p:txBody>
      </p:sp>
      <p:sp>
        <p:nvSpPr>
          <p:cNvPr id="38" name="Shape 36"/>
          <p:cNvSpPr/>
          <p:nvPr/>
        </p:nvSpPr>
        <p:spPr>
          <a:xfrm>
            <a:off x="7296912" y="3648456"/>
            <a:ext cx="1911096" cy="368808"/>
          </a:xfrm>
          <a:prstGeom prst="roundRect">
            <a:avLst>
              <a:gd name="adj" fmla="val 14876"/>
            </a:avLst>
          </a:prstGeom>
          <a:solidFill>
            <a:srgbClr val="FBFAF6"/>
          </a:solidFill>
          <a:ln w="12700">
            <a:solidFill>
              <a:srgbClr val="E4DCC9"/>
            </a:solidFill>
            <a:prstDash val="solid"/>
          </a:ln>
        </p:spPr>
      </p:sp>
      <p:sp>
        <p:nvSpPr>
          <p:cNvPr id="39" name="Shape 37"/>
          <p:cNvSpPr/>
          <p:nvPr/>
        </p:nvSpPr>
        <p:spPr>
          <a:xfrm>
            <a:off x="7424928" y="3791712"/>
            <a:ext cx="82296" cy="82296"/>
          </a:xfrm>
          <a:prstGeom prst="ellipse">
            <a:avLst/>
          </a:prstGeom>
          <a:solidFill>
            <a:srgbClr val="9C7C2E"/>
          </a:solidFill>
          <a:ln/>
        </p:spPr>
      </p:sp>
      <p:sp>
        <p:nvSpPr>
          <p:cNvPr id="40" name="Text 38"/>
          <p:cNvSpPr txBox="1"/>
          <p:nvPr/>
        </p:nvSpPr>
        <p:spPr>
          <a:xfrm>
            <a:off x="75895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Single sign-on across tools</a:t>
            </a:r>
            <a:endParaRPr lang="en-US" sz="800" dirty="0"/>
          </a:p>
        </p:txBody>
      </p:sp>
      <p:sp>
        <p:nvSpPr>
          <p:cNvPr id="41" name="Shape 39"/>
          <p:cNvSpPr/>
          <p:nvPr/>
        </p:nvSpPr>
        <p:spPr>
          <a:xfrm>
            <a:off x="9354312" y="3648456"/>
            <a:ext cx="1911096" cy="368808"/>
          </a:xfrm>
          <a:prstGeom prst="roundRect">
            <a:avLst>
              <a:gd name="adj" fmla="val 14876"/>
            </a:avLst>
          </a:prstGeom>
          <a:solidFill>
            <a:srgbClr val="FBFAF6"/>
          </a:solidFill>
          <a:ln w="12700">
            <a:solidFill>
              <a:srgbClr val="E4DCC9"/>
            </a:solidFill>
            <a:prstDash val="solid"/>
          </a:ln>
        </p:spPr>
      </p:sp>
      <p:sp>
        <p:nvSpPr>
          <p:cNvPr id="42" name="Shape 40"/>
          <p:cNvSpPr/>
          <p:nvPr/>
        </p:nvSpPr>
        <p:spPr>
          <a:xfrm>
            <a:off x="9482328" y="3791712"/>
            <a:ext cx="82296" cy="82296"/>
          </a:xfrm>
          <a:prstGeom prst="ellipse">
            <a:avLst/>
          </a:prstGeom>
          <a:solidFill>
            <a:srgbClr val="9C7C2E"/>
          </a:solidFill>
          <a:ln/>
        </p:spPr>
      </p:sp>
      <p:sp>
        <p:nvSpPr>
          <p:cNvPr id="43" name="Text 41"/>
          <p:cNvSpPr txBox="1"/>
          <p:nvPr/>
        </p:nvSpPr>
        <p:spPr>
          <a:xfrm>
            <a:off x="96469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emails &amp; reminders</a:t>
            </a:r>
            <a:endParaRPr lang="en-US" sz="800" dirty="0"/>
          </a:p>
        </p:txBody>
      </p:sp>
      <p:sp>
        <p:nvSpPr>
          <p:cNvPr id="44" name="Shape 42"/>
          <p:cNvSpPr/>
          <p:nvPr/>
        </p:nvSpPr>
        <p:spPr>
          <a:xfrm>
            <a:off x="7296912" y="4126992"/>
            <a:ext cx="1911096" cy="368808"/>
          </a:xfrm>
          <a:prstGeom prst="roundRect">
            <a:avLst>
              <a:gd name="adj" fmla="val 14876"/>
            </a:avLst>
          </a:prstGeom>
          <a:solidFill>
            <a:srgbClr val="FBFAF6"/>
          </a:solidFill>
          <a:ln w="12700">
            <a:solidFill>
              <a:srgbClr val="E4DCC9"/>
            </a:solidFill>
            <a:prstDash val="solid"/>
          </a:ln>
        </p:spPr>
      </p:sp>
      <p:sp>
        <p:nvSpPr>
          <p:cNvPr id="45" name="Shape 43"/>
          <p:cNvSpPr/>
          <p:nvPr/>
        </p:nvSpPr>
        <p:spPr>
          <a:xfrm>
            <a:off x="7424928" y="4270248"/>
            <a:ext cx="82296" cy="82296"/>
          </a:xfrm>
          <a:prstGeom prst="ellipse">
            <a:avLst/>
          </a:prstGeom>
          <a:solidFill>
            <a:srgbClr val="9C7C2E"/>
          </a:solidFill>
          <a:ln/>
        </p:spPr>
      </p:sp>
      <p:sp>
        <p:nvSpPr>
          <p:cNvPr id="46" name="Text 44"/>
          <p:cNvSpPr txBox="1"/>
          <p:nvPr/>
        </p:nvSpPr>
        <p:spPr>
          <a:xfrm>
            <a:off x="75895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Donor &amp; fundraising tracking</a:t>
            </a:r>
            <a:endParaRPr lang="en-US" sz="800" dirty="0"/>
          </a:p>
        </p:txBody>
      </p:sp>
      <p:sp>
        <p:nvSpPr>
          <p:cNvPr id="47" name="Shape 45"/>
          <p:cNvSpPr/>
          <p:nvPr/>
        </p:nvSpPr>
        <p:spPr>
          <a:xfrm>
            <a:off x="9354312" y="4126992"/>
            <a:ext cx="1911096" cy="368808"/>
          </a:xfrm>
          <a:prstGeom prst="roundRect">
            <a:avLst>
              <a:gd name="adj" fmla="val 14876"/>
            </a:avLst>
          </a:prstGeom>
          <a:solidFill>
            <a:srgbClr val="FBFAF6"/>
          </a:solidFill>
          <a:ln w="12700">
            <a:solidFill>
              <a:srgbClr val="E4DCC9"/>
            </a:solidFill>
            <a:prstDash val="solid"/>
          </a:ln>
        </p:spPr>
      </p:sp>
      <p:sp>
        <p:nvSpPr>
          <p:cNvPr id="48" name="Shape 46"/>
          <p:cNvSpPr/>
          <p:nvPr/>
        </p:nvSpPr>
        <p:spPr>
          <a:xfrm>
            <a:off x="9482328" y="4270248"/>
            <a:ext cx="82296" cy="82296"/>
          </a:xfrm>
          <a:prstGeom prst="ellipse">
            <a:avLst/>
          </a:prstGeom>
          <a:solidFill>
            <a:srgbClr val="9C7C2E"/>
          </a:solidFill>
          <a:ln/>
        </p:spPr>
      </p:sp>
      <p:sp>
        <p:nvSpPr>
          <p:cNvPr id="49" name="Text 47"/>
          <p:cNvSpPr txBox="1"/>
          <p:nvPr/>
        </p:nvSpPr>
        <p:spPr>
          <a:xfrm>
            <a:off x="96469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Student progress insights</a:t>
            </a:r>
            <a:endParaRPr lang="en-US" sz="800" dirty="0"/>
          </a:p>
        </p:txBody>
      </p:sp>
      <p:sp>
        <p:nvSpPr>
          <p:cNvPr id="50" name="Shape 48"/>
          <p:cNvSpPr/>
          <p:nvPr/>
        </p:nvSpPr>
        <p:spPr>
          <a:xfrm>
            <a:off x="7296912" y="4605528"/>
            <a:ext cx="1911096" cy="368808"/>
          </a:xfrm>
          <a:prstGeom prst="roundRect">
            <a:avLst>
              <a:gd name="adj" fmla="val 14876"/>
            </a:avLst>
          </a:prstGeom>
          <a:solidFill>
            <a:srgbClr val="FBFAF6"/>
          </a:solidFill>
          <a:ln w="12700">
            <a:solidFill>
              <a:srgbClr val="E4DCC9"/>
            </a:solidFill>
            <a:prstDash val="solid"/>
          </a:ln>
        </p:spPr>
      </p:sp>
      <p:sp>
        <p:nvSpPr>
          <p:cNvPr id="51" name="Shape 49"/>
          <p:cNvSpPr/>
          <p:nvPr/>
        </p:nvSpPr>
        <p:spPr>
          <a:xfrm>
            <a:off x="7424928" y="4748784"/>
            <a:ext cx="82296" cy="82296"/>
          </a:xfrm>
          <a:prstGeom prst="ellipse">
            <a:avLst/>
          </a:prstGeom>
          <a:solidFill>
            <a:srgbClr val="9C7C2E"/>
          </a:solidFill>
          <a:ln/>
        </p:spPr>
      </p:sp>
      <p:sp>
        <p:nvSpPr>
          <p:cNvPr id="52" name="Text 50"/>
          <p:cNvSpPr txBox="1"/>
          <p:nvPr/>
        </p:nvSpPr>
        <p:spPr>
          <a:xfrm>
            <a:off x="7589520" y="460552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Spanish support</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STATUS &amp; ROADMAP</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Where it stands and what’s next</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You can click through every screen, but this is early: what’s live today is mostly mockups, not real data yet. The build ahead is what makes each area real.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Today: mockups and workflow processes documented.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Next: connect the real data sources, aiming for an end-of-March go-live.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Roadmap: Pre-K → finish 8th grade → churches → self-taught path.</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roadmap</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516368" y="2615184"/>
            <a:ext cx="3529584" cy="0"/>
          </a:xfrm>
          <a:prstGeom prst="line">
            <a:avLst/>
          </a:prstGeom>
          <a:noFill/>
          <a:ln w="25400">
            <a:solidFill>
              <a:srgbClr val="E4DCC9"/>
            </a:solidFill>
            <a:prstDash val="solid"/>
          </a:ln>
        </p:spPr>
      </p:sp>
      <p:sp>
        <p:nvSpPr>
          <p:cNvPr id="15" name="Shape 13"/>
          <p:cNvSpPr/>
          <p:nvPr/>
        </p:nvSpPr>
        <p:spPr>
          <a:xfrm>
            <a:off x="7296912" y="2395728"/>
            <a:ext cx="438912" cy="438912"/>
          </a:xfrm>
          <a:prstGeom prst="ellipse">
            <a:avLst/>
          </a:prstGeom>
          <a:solidFill>
            <a:srgbClr val="FFFFFF"/>
          </a:solidFill>
          <a:ln w="25400">
            <a:solidFill>
              <a:srgbClr val="9C7C2E"/>
            </a:solidFill>
            <a:prstDash val="solid"/>
          </a:ln>
        </p:spPr>
      </p:sp>
      <p:sp>
        <p:nvSpPr>
          <p:cNvPr id="16" name="Text 14"/>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9061704" y="2395728"/>
            <a:ext cx="438912" cy="438912"/>
          </a:xfrm>
          <a:prstGeom prst="ellipse">
            <a:avLst/>
          </a:prstGeom>
          <a:solidFill>
            <a:srgbClr val="FFFFFF"/>
          </a:solidFill>
          <a:ln w="25400">
            <a:solidFill>
              <a:srgbClr val="9C7C2E"/>
            </a:solidFill>
            <a:prstDash val="solid"/>
          </a:ln>
        </p:spPr>
      </p:sp>
      <p:sp>
        <p:nvSpPr>
          <p:cNvPr id="18" name="Text 16"/>
          <p:cNvSpPr txBox="1"/>
          <p:nvPr/>
        </p:nvSpPr>
        <p:spPr>
          <a:xfrm>
            <a:off x="9061704"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2</a:t>
            </a:r>
            <a:endParaRPr lang="en-US" sz="1100" dirty="0"/>
          </a:p>
        </p:txBody>
      </p:sp>
      <p:sp>
        <p:nvSpPr>
          <p:cNvPr id="19" name="Shape 17"/>
          <p:cNvSpPr/>
          <p:nvPr/>
        </p:nvSpPr>
        <p:spPr>
          <a:xfrm>
            <a:off x="10826496" y="2395728"/>
            <a:ext cx="438912" cy="438912"/>
          </a:xfrm>
          <a:prstGeom prst="ellipse">
            <a:avLst/>
          </a:prstGeom>
          <a:solidFill>
            <a:srgbClr val="FFFFFF"/>
          </a:solidFill>
          <a:ln w="25400">
            <a:solidFill>
              <a:srgbClr val="9C7C2E"/>
            </a:solidFill>
            <a:prstDash val="solid"/>
          </a:ln>
        </p:spPr>
      </p:sp>
      <p:sp>
        <p:nvSpPr>
          <p:cNvPr id="20" name="Text 18"/>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1" name="Shape 19"/>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2" name="Shape 20"/>
          <p:cNvSpPr/>
          <p:nvPr/>
        </p:nvSpPr>
        <p:spPr>
          <a:xfrm>
            <a:off x="7443216" y="3387852"/>
            <a:ext cx="100584" cy="100584"/>
          </a:xfrm>
          <a:prstGeom prst="ellipse">
            <a:avLst/>
          </a:prstGeom>
          <a:solidFill>
            <a:srgbClr val="B0842F"/>
          </a:solidFill>
          <a:ln/>
        </p:spPr>
      </p:sp>
      <p:sp>
        <p:nvSpPr>
          <p:cNvPr id="23" name="Shape 21"/>
          <p:cNvSpPr/>
          <p:nvPr/>
        </p:nvSpPr>
        <p:spPr>
          <a:xfrm>
            <a:off x="7680960" y="3396996"/>
            <a:ext cx="1825508" cy="82296"/>
          </a:xfrm>
          <a:prstGeom prst="roundRect">
            <a:avLst>
              <a:gd name="adj" fmla="val 50000"/>
            </a:avLst>
          </a:prstGeom>
          <a:solidFill>
            <a:srgbClr val="E4DCC9"/>
          </a:solidFill>
          <a:ln/>
        </p:spPr>
      </p:sp>
      <p:sp>
        <p:nvSpPr>
          <p:cNvPr id="24" name="Shape 22"/>
          <p:cNvSpPr/>
          <p:nvPr/>
        </p:nvSpPr>
        <p:spPr>
          <a:xfrm>
            <a:off x="7680960" y="3396996"/>
            <a:ext cx="1314366" cy="82296"/>
          </a:xfrm>
          <a:prstGeom prst="roundRect">
            <a:avLst>
              <a:gd name="adj" fmla="val 50000"/>
            </a:avLst>
          </a:prstGeom>
          <a:solidFill>
            <a:srgbClr val="9C7C2E"/>
          </a:solidFill>
          <a:ln/>
        </p:spPr>
      </p:sp>
      <p:sp>
        <p:nvSpPr>
          <p:cNvPr id="25" name="Shape 23"/>
          <p:cNvSpPr/>
          <p:nvPr/>
        </p:nvSpPr>
        <p:spPr>
          <a:xfrm>
            <a:off x="10062972" y="3291840"/>
            <a:ext cx="1074420" cy="292608"/>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10062972" y="3282696"/>
            <a:ext cx="10744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in progress</a:t>
            </a:r>
            <a:endParaRPr lang="en-US" sz="850" dirty="0"/>
          </a:p>
        </p:txBody>
      </p:sp>
      <p:sp>
        <p:nvSpPr>
          <p:cNvPr id="27" name="Shape 25"/>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4082796"/>
            <a:ext cx="100584" cy="100584"/>
          </a:xfrm>
          <a:prstGeom prst="ellipse">
            <a:avLst/>
          </a:prstGeom>
          <a:solidFill>
            <a:srgbClr val="A4442F"/>
          </a:solidFill>
          <a:ln/>
        </p:spPr>
      </p:sp>
      <p:sp>
        <p:nvSpPr>
          <p:cNvPr id="29" name="Shape 27"/>
          <p:cNvSpPr/>
          <p:nvPr/>
        </p:nvSpPr>
        <p:spPr>
          <a:xfrm>
            <a:off x="7680960" y="4091940"/>
            <a:ext cx="1825508" cy="82296"/>
          </a:xfrm>
          <a:prstGeom prst="roundRect">
            <a:avLst>
              <a:gd name="adj" fmla="val 50000"/>
            </a:avLst>
          </a:prstGeom>
          <a:solidFill>
            <a:srgbClr val="E4DCC9"/>
          </a:solidFill>
          <a:ln/>
        </p:spPr>
      </p:sp>
      <p:sp>
        <p:nvSpPr>
          <p:cNvPr id="30" name="Shape 28"/>
          <p:cNvSpPr/>
          <p:nvPr/>
        </p:nvSpPr>
        <p:spPr>
          <a:xfrm>
            <a:off x="7680960" y="4091940"/>
            <a:ext cx="839734" cy="82296"/>
          </a:xfrm>
          <a:prstGeom prst="roundRect">
            <a:avLst>
              <a:gd name="adj" fmla="val 50000"/>
            </a:avLst>
          </a:prstGeom>
          <a:solidFill>
            <a:srgbClr val="9C7C2E"/>
          </a:solidFill>
          <a:ln/>
        </p:spPr>
      </p:sp>
      <p:sp>
        <p:nvSpPr>
          <p:cNvPr id="31" name="Shape 29"/>
          <p:cNvSpPr/>
          <p:nvPr/>
        </p:nvSpPr>
        <p:spPr>
          <a:xfrm>
            <a:off x="9994392" y="3986784"/>
            <a:ext cx="114300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994392" y="3977640"/>
            <a:ext cx="11430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mockups only</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What we’d build</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One operating picture: public site, staff portal, and School Portal over a modern data backbone. The system we’d build for DeepRoots, honest by design.</a:t>
            </a:r>
            <a:endParaRPr lang="en-US" sz="1500" dirty="0"/>
          </a:p>
        </p:txBody>
      </p:sp>
      <p:sp>
        <p:nvSpPr>
          <p:cNvPr id="7" name="Shape 5"/>
          <p:cNvSpPr/>
          <p:nvPr/>
        </p:nvSpPr>
        <p:spPr>
          <a:xfrm>
            <a:off x="822960" y="5120640"/>
            <a:ext cx="3291840" cy="512064"/>
          </a:xfrm>
          <a:prstGeom prst="roundRect">
            <a:avLst>
              <a:gd name="adj" fmla="val 50000"/>
            </a:avLst>
          </a:prstGeom>
          <a:solidFill>
            <a:srgbClr val="9C7C2E"/>
          </a:solidFill>
          <a:ln/>
        </p:spPr>
      </p:sp>
      <p:sp>
        <p:nvSpPr>
          <p:cNvPr id="8" name="Text 6"/>
          <p:cNvSpPr txBox="1"/>
          <p:nvPr/>
        </p:nvSpPr>
        <p:spPr>
          <a:xfrm>
            <a:off x="822960" y="5111496"/>
            <a:ext cx="3291840" cy="5303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Approve Phase 1 to begin</a:t>
            </a:r>
            <a:endParaRPr lang="en-US" sz="1200" dirty="0"/>
          </a:p>
        </p:txBody>
      </p:sp>
      <p:sp>
        <p:nvSpPr>
          <p:cNvPr id="9" name="Text 7"/>
          <p:cNvSpPr txBox="1"/>
          <p:nvPr/>
        </p:nvSpPr>
        <p:spPr>
          <a:xfrm>
            <a:off x="822960" y="5806440"/>
            <a:ext cx="8686800" cy="365760"/>
          </a:xfrm>
          <a:prstGeom prst="rect">
            <a:avLst/>
          </a:prstGeom>
          <a:noFill/>
          <a:ln/>
        </p:spPr>
        <p:txBody>
          <a:bodyPr wrap="square" lIns="0" tIns="0" rIns="0" bIns="0" rtlCol="0" anchor="ctr"/>
          <a:lstStyle/>
          <a:p>
            <a:pPr indent="0" marL="0">
              <a:buNone/>
            </a:pPr>
            <a:r>
              <a:rPr lang="en-US" sz="1100" dirty="0">
                <a:solidFill>
                  <a:srgbClr val="B7AE9E"/>
                </a:solidFill>
                <a:latin typeface="Calibri" pitchFamily="34" charset="0"/>
                <a:ea typeface="Calibri" pitchFamily="34" charset="-122"/>
                <a:cs typeface="Calibri" pitchFamily="34" charset="-120"/>
              </a:rPr>
              <a:t>Targeting an end-of-March go-live   ·   tdwinkler@deeprootsbible.com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2026-09-17T18:36:23Z</dcterms:created>
  <dcterms:modified xsi:type="dcterms:W3CDTF">2026-09-17T18:36:23Z</dcterms:modified>
</cp:coreProperties>
</file>